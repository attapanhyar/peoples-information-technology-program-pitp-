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26"/>
  </p:notesMasterIdLst>
  <p:sldIdLst>
    <p:sldId id="276" r:id="rId5"/>
    <p:sldId id="256" r:id="rId6"/>
    <p:sldId id="277" r:id="rId7"/>
    <p:sldId id="278" r:id="rId8"/>
    <p:sldId id="279" r:id="rId9"/>
    <p:sldId id="280" r:id="rId10"/>
    <p:sldId id="283" r:id="rId11"/>
    <p:sldId id="281" r:id="rId12"/>
    <p:sldId id="282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29/10/2024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C102AE-2C87-45D1-8671-2DB35F5D4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4F2B13-634E-4981-8787-53C36848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A2770F-EC37-4C6D-AF2E-4C627D59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F23D8E-4428-4843-9AED-EB6F2118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EF4188-48A8-4B39-ABE7-0BB04E010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0A877F-1F7D-4FF1-A9FC-E241322BD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098F9C-4191-478C-BA3F-F91330FA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B8C79F-AE9B-4C98-80BA-22D6CB799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BB4B37A-4DA6-4751-8A4F-BDD49DE82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BDE79CE-1525-4410-9E5E-943FFF3FB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66FA12-7AC6-45DB-851F-C05B980B4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F6784E-F83E-4CE8-A535-394503ABE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6C37B5-5333-46F6-A306-A5DA69EA4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D81EBC-F02B-4676-BD19-32CE34494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12D4645-1213-45DD-9C45-EF3DB6320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BE23053-C167-49AA-8930-08DD2C0BA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A32F82-F4F6-4868-9657-99747918F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ED0F55-FDB0-4995-8333-D9231BDC7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BEC92D-46AB-4AA4-A94B-88496BE48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2E4197-8221-4F7C-92CE-CD83D0A9D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DB4C14-DE46-4F94-B655-80B6ACCF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515E4D-1037-431C-BCD9-3E724CBFF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CBF35AE-07C8-48AF-9CD0-62C0F8908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B698526-9971-4674-81FD-285F4E558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200789B-A8DE-41E5-B0F0-8FE0EE357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3EDEFF-CCCD-45BA-AC62-3D5E6720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D9B8D6D-E48B-49A5-A953-D4E530AB6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FFBE7D-6816-492B-A638-798A78CDD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45F3BEE-01E6-4031-A09D-B2408B62B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376FC9D-3995-440A-9BAA-4EBA06719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7593D24-05C3-486E-B1EE-7E8DE3A7E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541A72-3242-4354-B1FF-3FB97487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1552"/>
            <a:ext cx="11973596" cy="6856448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FB4F-D193-F2D2-C316-683F1D0B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8" y="6215870"/>
            <a:ext cx="3503528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10/29/2024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35C8-5A81-0035-FC42-AD669000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8024" y="6215870"/>
            <a:ext cx="4114800" cy="417126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Atta Muhammad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3789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000" dirty="0"/>
              <a:t>Advanced Functions and Recursion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Week 07 - Day 01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Quaid-e-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C2D55-72EA-EE60-7711-E33D8888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of Functions in Python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754EB-2A9B-029F-0900-36836BF69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Overview</a:t>
            </a:r>
            <a:r>
              <a:rPr lang="en-GB" sz="2400" dirty="0"/>
              <a:t>: Quick review of function definition, parameters, return values, and scope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31392-7D91-30BC-8C24-C908C7B5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B34D5-C424-4BD9-A1AF-34B5C4D5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2DE78-B614-10F0-7982-7BAA857E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0721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A7DA-98D5-13CE-6598-2132CEA3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Anonymous Functions (</a:t>
            </a:r>
            <a:r>
              <a:rPr lang="it-IT" b="1" dirty="0"/>
              <a:t>lambda</a:t>
            </a:r>
            <a:r>
              <a:rPr lang="it-IT" dirty="0"/>
              <a:t> Functions)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D5ED5-6517-F10B-E73B-018595D57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Introduction to Lambda</a:t>
            </a:r>
            <a:r>
              <a:rPr lang="en-GB" sz="2400" dirty="0"/>
              <a:t>: Brief overview of lambda functions as anonymous, one-liner functions.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b="1" dirty="0"/>
              <a:t>Syntax</a:t>
            </a:r>
            <a:r>
              <a:rPr lang="en-GB" sz="2400" dirty="0"/>
              <a:t>: lambda arguments: expression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99913-3B1A-2C0F-E99D-CB9E3841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DE856-7896-2E99-3593-765D2402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073A6-3D45-7F5E-1E87-EEA3ED1B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274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1FF0F0-994D-51DC-2667-B02E422B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/>
              <a:t>Using Lambda Functions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E3D79-CE36-72A3-E1C0-4614DA3C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657" y="1970523"/>
            <a:ext cx="7893025" cy="614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/>
              <a:t>Practical Uses</a:t>
            </a:r>
            <a:r>
              <a:rPr lang="en-US" sz="1900"/>
              <a:t>: Common scenarios, like sorting, mapping, and filtering.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27C52D-CAB4-1307-10F4-D7CCDDD73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74" y="3555741"/>
            <a:ext cx="9820189" cy="19149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59A26-BB19-F76F-3696-413E3FB3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E21B6-E8B3-3EF9-D35B-350422FC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A3BEE-5BF1-ED5E-E58F-5B400EAE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9319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EC728-FEDF-EB73-87CF-B3F9895E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Exercise: Sorting with Lambda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3D9C5-0471-9961-6CBB-D6FF4515B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lambda function to sort a list of dictionaries by age.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89BEF-C1CE-7737-F24D-A25D0677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E7828-D87C-6756-6FAD-2D561552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BB2DC-906C-446E-2272-23CCCBC0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1F767D-44DB-5D6A-1C3C-8E894979A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04" y="3429000"/>
            <a:ext cx="8592749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1771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4A38-C4B3-52DA-5AC9-AD846240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Lambda Examples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F6AA8-681B-B30A-4ADA-DDEFB77DE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CCC11-48FB-CA94-0816-3E62FB5B7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168EA-1149-89D0-6D0A-20F191F2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FA20A-296E-6933-2F7E-788178B6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A1348-A4A3-0A3D-7504-6FEC9B060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530" y="2645987"/>
            <a:ext cx="5172097" cy="309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1551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B7FE3-E983-96B4-8A1E-0E6CA494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Functional Programming Overview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E4851-5773-01A4-0661-2B68379BD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Functional programming decomposes a problem into a set of functions. </a:t>
            </a:r>
          </a:p>
          <a:p>
            <a:pPr>
              <a:lnSpc>
                <a:spcPct val="150000"/>
              </a:lnSpc>
            </a:pPr>
            <a:r>
              <a:rPr lang="en-GB" dirty="0"/>
              <a:t>Ideally, functions only take inputs and produce outputs, and don’t have any internal state that affects the output produced for a given input.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Concepts</a:t>
            </a:r>
            <a:r>
              <a:rPr lang="en-GB" dirty="0"/>
              <a:t>: Introduction to map(), filter(), and reduce() functions in Python.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Why Functional Programming?</a:t>
            </a:r>
            <a:r>
              <a:rPr lang="en-GB" dirty="0"/>
              <a:t>: Benefits like clean, readable, and concise code.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A5A08-E4D9-39F0-699E-A7D018FDC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F454-D5DA-2EC4-82A8-C9B6666B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74505-55A9-4C94-4AD7-55157C98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991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DF507A-93F2-457B-96CF-EF53EB4BA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72E1ACB-AF25-4108-82C6-F693B8BB8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C2A7820-61FD-4B72-80CB-A85A80A9C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CE785A-BCA8-44B2-B593-20A42DBC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EF54E81-AFA9-44A2-B415-6E0BA18E5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8DCA485-4DE7-4A87-922D-35155873F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A66F-823F-4660-9760-986BEA97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C0BFD1C-FE76-4166-9F4E-37D9CBDC6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BEC15D-7341-4CB2-9B92-F58B603EB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C4F1560-2EA6-420C-8310-7951F1895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B80988-AE2E-469F-BDDF-0D6E9A51B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C3FDBC1-098B-429A-83C5-239E5C56E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457BD0B-4B37-4F0F-8ED7-D264F8932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C40AFA6-4AFD-4E8B-A6C0-557D54B4F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2E874F7-207D-4F22-B6A7-A3F547919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CAC127B-3C30-4112-921C-F770D713E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C1082CD-6597-4566-A12C-BD959992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9D52A11-E12F-4BB0-ADF6-BA4CE6687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27F78F8-BDE9-473B-9CFA-CA51A73A89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B7DE3DB-4973-484B-A477-412AB11C9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575D33A-D947-4F71-A726-818445A7A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7F4009-7D2A-4673-85F8-7CCCD7777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AA316E8-7445-4474-B0E7-191E5F441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C1D4CA5-2350-4E55-ADC8-C1CA00112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8B78627-04C4-4D50-9FA6-68EB7D4E6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70A4F1E-A458-4E1A-A6D6-5007DE0CD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95D12D0-52CE-44FA-A5F8-466509DE6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88B4310-F944-4E13-820E-BDD05D1AC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9ED4AF0-9A52-49FA-B834-C1893AEE5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262216C-FC7D-464F-A99E-FC135AF8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1AA7EEB-A40D-4405-B4D9-123554E05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B5FC0E1-2EBE-439C-AB26-731570DD0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1597F3C8-11A3-4F02-8391-14A8E4B94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0636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E1BF-BB91-0A60-9E9E-30A394CD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80" y="725951"/>
            <a:ext cx="5327744" cy="2167421"/>
          </a:xfrm>
        </p:spPr>
        <p:txBody>
          <a:bodyPr anchor="ctr">
            <a:normAutofit/>
          </a:bodyPr>
          <a:lstStyle/>
          <a:p>
            <a:r>
              <a:rPr lang="it-IT" b="1" dirty="0"/>
              <a:t>map() </a:t>
            </a:r>
            <a:r>
              <a:rPr lang="it-IT" dirty="0"/>
              <a:t>Function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377C1-9298-E033-E45B-F923A5E7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61" y="725952"/>
            <a:ext cx="5321790" cy="2152912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GB" b="1" dirty="0"/>
              <a:t>Purpose</a:t>
            </a:r>
            <a:r>
              <a:rPr lang="en-GB" dirty="0"/>
              <a:t>: Apply a function to each item in an iterable.</a:t>
            </a:r>
            <a:endParaRPr lang="en-GB"/>
          </a:p>
          <a:p>
            <a:pPr>
              <a:lnSpc>
                <a:spcPct val="100000"/>
              </a:lnSpc>
            </a:pPr>
            <a:r>
              <a:rPr lang="en-GB" dirty="0"/>
              <a:t>The </a:t>
            </a:r>
            <a:r>
              <a:rPr lang="en-GB" b="1" dirty="0"/>
              <a:t>map() </a:t>
            </a:r>
            <a:r>
              <a:rPr lang="en-GB" dirty="0"/>
              <a:t>function is used to apply a given function to every item of an iterable, such as a list or tuple, and returns a map object (which is an iterator).</a:t>
            </a:r>
            <a:endParaRPr lang="en-GB"/>
          </a:p>
          <a:p>
            <a:pPr>
              <a:lnSpc>
                <a:spcPct val="100000"/>
              </a:lnSpc>
            </a:pPr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077608-5FB0-7311-4D50-9474CBA0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84" y="3897275"/>
            <a:ext cx="5333960" cy="1785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D77573-A6F1-BB2C-6280-6B2A93033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961" y="4055342"/>
            <a:ext cx="5333960" cy="146897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EFCC7-8E2D-AA0D-B2EA-333A2CC1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8A306-9E21-97F1-2F7F-380DC699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Atta Muhammad Panhyar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081CC-7178-F659-7611-C3605E34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3308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5FF2-1F5A-A5FE-B6B8-0247DF84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with map()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0EB0F1-D411-D101-71E2-0E43DC8DF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266" y="3336022"/>
            <a:ext cx="6039693" cy="157184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213E0-E912-1EED-CDD1-D3D01480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6634-B2C8-D0C7-CA8A-5926C331F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2FE2-FB7F-357E-17FB-28C2841C8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F10133-9038-75F4-D592-A8500B228D79}"/>
              </a:ext>
            </a:extLst>
          </p:cNvPr>
          <p:cNvSpPr txBox="1"/>
          <p:nvPr/>
        </p:nvSpPr>
        <p:spPr>
          <a:xfrm>
            <a:off x="881042" y="2373338"/>
            <a:ext cx="6112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We can use a </a:t>
            </a:r>
            <a:r>
              <a:rPr lang="en-GB" b="1" i="0" dirty="0">
                <a:effectLst/>
                <a:latin typeface="Nunito" pitchFamily="2" charset="0"/>
              </a:rPr>
              <a:t>lambda function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instead of a custom function with 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map()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 to make the code shorter and easier.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9008249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3707398-9855-4B67-B02F-A07EE321C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868A842-769E-4804-B79A-B101FE870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DCEF53A-F0A9-4318-AAF5-B42022B1A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C07835B-3140-4591-BB80-932082F1F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DBA7CF2-D646-452D-9C72-D75AC9BFD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BA89A9F-6151-4644-BBEA-B0FF09633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BBC8F94-61BA-4223-B4DD-014EDD471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3BFAD44-B9D1-47E0-AC83-50BE30CD6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253F074-8A3F-486F-A9E0-47AEF8AF3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EC3CD2A-A7D2-432B-A98A-7A747672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A358A3F-668C-49A6-B6F6-7F8C43256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1A18941-EEC7-4457-9ED8-B04B4117C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ED3A468-ECC9-4D1B-A03B-3D707182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C7FABD6-26A0-4B08-8AD5-18E980965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44C5959-64A1-4E1D-B8CD-8D983858F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D714A9-4910-4F9A-B60E-31DDEEC63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27864BD-D6CB-4D48-9116-DCEC3CB98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5E176FE-ABB3-4CEF-AF75-FDF0144AF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6DEE6F3-ED33-4D69-A285-54515D1D2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7FDDB16-1923-4F52-B517-BF94DC7A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1EC301-C54D-487A-ACA5-B677574DE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C9BC338-1750-4A7D-8CDB-C1CD03521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26D07B2-8001-4151-A9B5-E02EA0E28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B469045-A0A1-465D-B1CB-C502968B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114C4AF-C5F3-4F11-8D51-C4B81DE4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25C7FC0-ABE4-46F8-B2F2-1D73645CB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5E1C093-ABA9-48B0-9C4C-8F0CD3CC2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CE45A52-EE1F-4305-8AFD-168FDAD36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0408F76-ED43-4CB1-B0A0-81C31F62C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50E1814-9700-4338-992F-B3C9BE5476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EC0547B-1F9F-4F43-BA14-0A40D9945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B6878C1-122B-4C74-BCCD-E240BA391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543B647B-173D-45B0-B125-E9B26CF56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2" y="4773498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D68AE-7EAF-0DC3-CD2E-81067586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37" y="3968780"/>
            <a:ext cx="10790959" cy="21722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/>
              <a:t>Advance Use of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B3431-BF5D-AB41-2BFB-2527B93A3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838" y="689908"/>
            <a:ext cx="4642642" cy="27359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0" i="0">
                <a:effectLst/>
              </a:rPr>
              <a:t>we use </a:t>
            </a:r>
            <a:r>
              <a:rPr lang="en-US" sz="2400" b="1" i="0">
                <a:effectLst/>
              </a:rPr>
              <a:t>map()</a:t>
            </a:r>
            <a:r>
              <a:rPr lang="en-US" sz="2400" b="0" i="0">
                <a:effectLst/>
              </a:rPr>
              <a:t> to convert a list of temperatures from Celsius to Fahrenheit.</a:t>
            </a:r>
            <a:endParaRPr lang="en-US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DDC5E3-9212-B00C-3A67-8E32BCCF3B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6000" y="1700184"/>
            <a:ext cx="5411775" cy="74411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F4DA4-4E1C-D13C-01AF-E71CA6B8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2BBE6-6057-0BB7-C715-AA84EF5A7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B9445-A0D9-6A9D-89A8-4541BF69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8312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13B1-A8A9-5770-973C-3582B30C0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filter()</a:t>
            </a:r>
            <a:r>
              <a:rPr lang="it-IT" dirty="0"/>
              <a:t> Function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65D58-3774-A088-5598-264D833D7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filter() </a:t>
            </a:r>
            <a:r>
              <a:rPr lang="en-GB" dirty="0"/>
              <a:t>method filters the given sequence with the help of a function that tests each element in the sequence to be true or not.</a:t>
            </a:r>
          </a:p>
          <a:p>
            <a:r>
              <a:rPr lang="en-GB" b="1" dirty="0"/>
              <a:t>Purpose</a:t>
            </a:r>
            <a:r>
              <a:rPr lang="en-GB" dirty="0"/>
              <a:t>: Filter items in an iterable based on a condition.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CEB56-E6B2-E040-7573-3C8B53565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33127-E895-0817-5E46-38CA25EC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40A23-B737-2CFA-B7C8-E5C14C82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43261C-288E-516B-59F4-A9C5D1CB7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21" y="4424682"/>
            <a:ext cx="743053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9361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FBA70-7EF8-420F-C7ED-B55E41FBA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r>
              <a:rPr lang="en-US" dirty="0"/>
              <a:t>Filtering Letters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1C19A-B286-4EA2-5939-CDF24DFD3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7"/>
            <a:ext cx="4038652" cy="3276824"/>
          </a:xfrm>
        </p:spPr>
        <p:txBody>
          <a:bodyPr>
            <a:normAutofit/>
          </a:bodyPr>
          <a:lstStyle/>
          <a:p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5A2BC6-E8BF-2753-CC7F-3DFB216E9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33" y="1523943"/>
            <a:ext cx="6401443" cy="38248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F4467-EB8B-75AD-BBE0-D7E1D263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3D3F-53B3-8EE9-2853-9FA7CF10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Atta Muhammad Panhyar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85CAC-BE48-3B6C-C317-FC4317BD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1415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89" y="15123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960EC-6BAB-4A70-32D2-710BCA9D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3" y="721946"/>
            <a:ext cx="10611627" cy="1990906"/>
          </a:xfrm>
        </p:spPr>
        <p:txBody>
          <a:bodyPr anchor="ctr">
            <a:normAutofit/>
          </a:bodyPr>
          <a:lstStyle/>
          <a:p>
            <a:r>
              <a:rPr lang="en-GB" b="1" i="0">
                <a:effectLst/>
                <a:latin typeface="Nunito" pitchFamily="2" charset="0"/>
              </a:rPr>
              <a:t>Filter Function in Python with Lambda</a:t>
            </a:r>
            <a:endParaRPr lang="en-PK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4EB7197-A31F-9D33-D033-7B3E730E5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738" y="2893475"/>
            <a:ext cx="4425911" cy="3242577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3387C71-D677-82A2-E1E2-ADB02FC111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617" y="3045496"/>
            <a:ext cx="5606956" cy="292963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744B4-65E0-A152-A1B2-D0E82D89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46F03-8233-D618-B11A-3AAACC67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Atta Muhammad Panhyar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3343-6BED-0F0D-1368-D5120362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7533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Right Triangle 124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Right Triangle 161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A848B-E018-7A06-5CC4-F86B8026C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Filtering Objects</a:t>
            </a:r>
          </a:p>
        </p:txBody>
      </p:sp>
      <p:pic>
        <p:nvPicPr>
          <p:cNvPr id="8" name="Content Placeholder 7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3051D77-5692-5F64-E176-7F0AB5D16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2675" y="2884564"/>
            <a:ext cx="6580387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C7741-22AF-D788-C4CD-90003B038C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C90B1-F158-AEA2-1822-0F69E7F6E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71219-F008-34F8-3246-E1467FF7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7193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5CBB-C3B1-0F2A-0C38-16D9E52D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 to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89E8D-C3A7-AA9B-DB72-F47BBA7A1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Definition</a:t>
            </a:r>
            <a:r>
              <a:rPr lang="en-GB" dirty="0"/>
              <a:t>: A function that calls itself to solve a problem in smaller steps.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Basic Structure</a:t>
            </a:r>
            <a:r>
              <a:rPr lang="en-GB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Base case (stopping condition)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Recursive case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44783-E7E1-7AC0-16EE-49E45391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48946-28E1-1E17-B397-6C4779114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6D365-D4ED-6C5F-E9AA-76B76649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9325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357A4-1058-C0D1-B11C-DE525EE3F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/>
              <a:t>Example of a Recursive Function: Factorial Calculation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37045C-C807-E4B6-C921-1B93E56E6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4478" y="2884564"/>
            <a:ext cx="7856780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35753-7483-68F6-109F-254BBC123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5502-C97B-A1BF-90EF-C878B7AE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D8C66-B574-FE8A-330F-46A6765E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4359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4E22-DD8E-4316-5441-57B9A577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Understanding the Recursive Process: Fibonacci Sequence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862D7-2270-DE94-9465-110E9480B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4860E-F74C-9FF2-24F6-1BB352D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A70B8-023A-1CAA-8EFD-21FDE492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05E75-EF1E-B4F4-5690-8BB9FA98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0BCA41-7F78-96FF-DCD3-D631AAC46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822" y="2458935"/>
            <a:ext cx="4124901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6373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9020-7E69-7D27-7495-AA2E548B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Recursion vs. Iteration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14A9C-6CCF-0876-5EFD-A798226F9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Comparison</a:t>
            </a:r>
            <a:r>
              <a:rPr lang="en-GB" dirty="0"/>
              <a:t>: Pros and cons of recursion vs. iterative solutions.</a:t>
            </a:r>
          </a:p>
          <a:p>
            <a:endParaRPr lang="en-GB" dirty="0"/>
          </a:p>
          <a:p>
            <a:r>
              <a:rPr lang="en-GB" b="1" dirty="0"/>
              <a:t>Memory and Performance</a:t>
            </a:r>
            <a:r>
              <a:rPr lang="en-GB" dirty="0"/>
              <a:t>: Recursion may lead to high memory usage and stack overflow.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D340C-D8D0-3C47-08C3-5C42F2C1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32E02-8BB0-C400-41A7-DDAD92CF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059F4-6497-EC37-22DE-FB4EB559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9887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4DC98-E8A0-FF78-5BEB-9D60533D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Tips for Using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BFCD2-565E-7693-903C-8A07DAFA0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to Use Recursion: Scenarios like tree traversal, directory navigation, and solving divide-and-conquer problems.</a:t>
            </a:r>
          </a:p>
          <a:p>
            <a:r>
              <a:rPr lang="en-GB" dirty="0"/>
              <a:t>Alternatives: Iteration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BAAC1-E342-A86C-51EC-88BCC301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D583A-B0FC-C607-BE15-31D372AB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B04C-84AD-742A-2319-5A435FD7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9373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65794D4-DDCF-469D-A6C7-0AE18F6BB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 descr="3D black question marks with one yellow question mark">
            <a:extLst>
              <a:ext uri="{FF2B5EF4-FFF2-40B4-BE49-F238E27FC236}">
                <a16:creationId xmlns:a16="http://schemas.microsoft.com/office/drawing/2014/main" id="{94EB7ADB-230B-9184-4638-36F34093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0" r="6122" b="1"/>
          <a:stretch/>
        </p:blipFill>
        <p:spPr>
          <a:xfrm>
            <a:off x="-22827" y="-669251"/>
            <a:ext cx="12192000" cy="6857999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88D25AED-03FE-496D-84B1-6BD007300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36474AD-D65C-406B-83FB-C99C06007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99322EB-87AA-45C9-A03C-52A874D8C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0BCB4F5-395E-4192-9EBB-E9F0255AE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4B1466F-6782-407B-9C00-8DF501BC0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28CCAE2-B347-4439-A6F8-1F1C3548F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FDDE5DC-1CFD-4141-BB8A-4E88DC95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28B0EB6-7696-43A6-802C-7F71D1BA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4C27EFB-1419-4DCF-B0FB-19DFF5558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B469F2C-8E3D-4F5A-B109-74EB0C1C6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AF21893-899E-456E-B2C0-18C3B8661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249F69B-8991-410D-B2BE-29792DFF0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3B3B6AE-A176-4E37-9DC3-693D4D4A1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251166D-5D02-4F59-9CDD-176C32DCB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19ECF99-A74F-4670-B781-193D17D55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78FECED-862A-4A60-A948-0B3FC1F6A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6596925-5663-4DBB-BA20-5D8E5168A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D04049C-063B-4F59-801F-1DE9B4220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5DFD5EC-AD64-4EA0-99D4-659BE87BF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9EDC0CD-7E2B-45B9-BEDA-07058067A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2973EC6-F21A-40EB-9773-F830E2053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0727704-3B6D-4FBC-80D0-3452A7883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06C285D-96FA-4E4C-99DD-A4537CC8B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1A87ECD-5CEA-4CF1-B4D6-231036363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D3432C-F58F-418C-B2A2-B675E0149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7AA6FC6-50E8-4802-946A-A1408D034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7879239-2C29-4598-89C4-DA6DE6099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5387EF3-939F-4251-95A2-B1FD10DB7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D540311-BAC8-433E-9146-1804B5FD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33AD0E-0DD9-49E5-B606-1269FBFEE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CD0FDA4-88B0-47B3-AD08-B58785CF0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7273F8E-C71F-44CE-9C4C-4D0231215D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406D8C29-9DDA-48D0-AF70-905FDB2CE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1775"/>
            <a:ext cx="12191999" cy="5479852"/>
          </a:xfrm>
          <a:prstGeom prst="rect">
            <a:avLst/>
          </a:prstGeom>
          <a:gradFill flip="none" rotWithShape="1">
            <a:gsLst>
              <a:gs pos="50000">
                <a:srgbClr val="000000">
                  <a:alpha val="30000"/>
                </a:srgbClr>
              </a:gs>
              <a:gs pos="80000">
                <a:srgbClr val="000000">
                  <a:alpha val="15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05691F3-F85D-1451-6461-8F80560D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1800353"/>
            <a:ext cx="10325636" cy="1628647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2EE69-22C4-8BEC-500B-C1D360BB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6058-9D0A-97E5-673A-716DF7C2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10/29/2024</a:t>
            </a:fld>
            <a:endParaRPr lang="en-US">
              <a:solidFill>
                <a:srgbClr val="898989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91DE9-479D-FEEE-9C5E-0A7A3453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21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38481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028091-2C71-4358-873E-63FAA6926BD7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5e1f2001-7a2a-475f-99ed-f287c302d85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3038</TotalTime>
  <Words>536</Words>
  <Application>Microsoft Office PowerPoint</Application>
  <PresentationFormat>Widescreen</PresentationFormat>
  <Paragraphs>110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Grandview</vt:lpstr>
      <vt:lpstr>Nunito</vt:lpstr>
      <vt:lpstr>Wingdings</vt:lpstr>
      <vt:lpstr>CosineVTI</vt:lpstr>
      <vt:lpstr>PowerPoint Presentation</vt:lpstr>
      <vt:lpstr>Advanced Functions and Recursion</vt:lpstr>
      <vt:lpstr>Review of Functions in Python</vt:lpstr>
      <vt:lpstr>Anonymous Functions (lambda Functions)</vt:lpstr>
      <vt:lpstr>Using Lambda Functions in Python</vt:lpstr>
      <vt:lpstr>Hands-On Exercise: Sorting with Lambda</vt:lpstr>
      <vt:lpstr>Advanced Lambda Examples</vt:lpstr>
      <vt:lpstr>Functional Programming Overview</vt:lpstr>
      <vt:lpstr>map() Function</vt:lpstr>
      <vt:lpstr>Lambda with map()</vt:lpstr>
      <vt:lpstr>Advance Use of Map</vt:lpstr>
      <vt:lpstr>filter() Function</vt:lpstr>
      <vt:lpstr>Filtering Letters</vt:lpstr>
      <vt:lpstr>Filter Function in Python with Lambda</vt:lpstr>
      <vt:lpstr>Filtering Objects</vt:lpstr>
      <vt:lpstr>Introduction to Recursion</vt:lpstr>
      <vt:lpstr>Example of a Recursive Function: Factorial Calculation</vt:lpstr>
      <vt:lpstr>Understanding the Recursive Process: Fibonacci Sequence</vt:lpstr>
      <vt:lpstr>Recursion vs. Iteration</vt:lpstr>
      <vt:lpstr>Practical Tips for Using Recursion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656</cp:revision>
  <dcterms:created xsi:type="dcterms:W3CDTF">2024-09-22T16:39:41Z</dcterms:created>
  <dcterms:modified xsi:type="dcterms:W3CDTF">2024-10-29T08:31:18Z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