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webextensions/webextension3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71" r:id="rId2"/>
  </p:sldMasterIdLst>
  <p:notesMasterIdLst>
    <p:notesMasterId r:id="rId10"/>
  </p:notesMasterIdLst>
  <p:sldIdLst>
    <p:sldId id="312" r:id="rId3"/>
    <p:sldId id="313" r:id="rId4"/>
    <p:sldId id="256" r:id="rId5"/>
    <p:sldId id="314" r:id="rId6"/>
    <p:sldId id="315" r:id="rId7"/>
    <p:sldId id="316" r:id="rId8"/>
    <p:sldId id="317" r:id="rId9"/>
  </p:sldIdLst>
  <p:sldSz cx="12192000" cy="6858000"/>
  <p:notesSz cx="6858000" cy="9144000"/>
  <p:defaultTextStyle>
    <a:defPPr>
      <a:defRPr lang="en-P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4" d="100"/>
          <a:sy n="64" d="100"/>
        </p:scale>
        <p:origin x="97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presProps" Target="presProps.xml"/><Relationship Id="rId5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50535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E05C-4779-A4DA-BB36972D43F6}"/>
              </c:ext>
            </c:extLst>
          </c:dPt>
          <c:dPt>
            <c:idx val="1"/>
            <c:bubble3D val="0"/>
            <c:spPr>
              <a:solidFill>
                <a:srgbClr val="F0F0F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E05C-4779-A4DA-BB36972D43F6}"/>
              </c:ext>
            </c:extLst>
          </c:dPt>
          <c:cat>
            <c:strRef>
              <c:f>Sheet1!$A$2:$A$3</c:f>
              <c:strCache>
                <c:ptCount val="2"/>
                <c:pt idx="0">
                  <c:v>Increased Automation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0.45</c:v>
                </c:pt>
                <c:pt idx="1">
                  <c:v>0.55000000000000004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E05C-4779-A4DA-BB36972D43F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90"/>
      </c:doughnutChart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50535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D25A-4AC0-AF31-4C3CA4FD070F}"/>
              </c:ext>
            </c:extLst>
          </c:dPt>
          <c:dPt>
            <c:idx val="1"/>
            <c:bubble3D val="0"/>
            <c:spPr>
              <a:solidFill>
                <a:srgbClr val="F0F0F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D25A-4AC0-AF31-4C3CA4FD070F}"/>
              </c:ext>
            </c:extLst>
          </c:dPt>
          <c:cat>
            <c:strRef>
              <c:f>Sheet1!$A$2:$A$3</c:f>
              <c:strCache>
                <c:ptCount val="2"/>
                <c:pt idx="0">
                  <c:v>AI Integration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0.3</c:v>
                </c:pt>
                <c:pt idx="1">
                  <c:v>0.7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D25A-4AC0-AF31-4C3CA4FD070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90"/>
      </c:doughnutChart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50535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DE6D-4B15-87CE-DAB4A83A2F97}"/>
              </c:ext>
            </c:extLst>
          </c:dPt>
          <c:dPt>
            <c:idx val="1"/>
            <c:bubble3D val="0"/>
            <c:spPr>
              <a:solidFill>
                <a:srgbClr val="F0F0F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DE6D-4B15-87CE-DAB4A83A2F97}"/>
              </c:ext>
            </c:extLst>
          </c:dPt>
          <c:cat>
            <c:strRef>
              <c:f>Sheet1!$A$2:$A$3</c:f>
              <c:strCache>
                <c:ptCount val="2"/>
                <c:pt idx="0">
                  <c:v>Data Privacy Challenges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0.25</c:v>
                </c:pt>
                <c:pt idx="1">
                  <c:v>0.75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DE6D-4B15-87CE-DAB4A83A2F9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90"/>
      </c:doughnutChart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P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22C7616-AAD2-4EC8-AC5A-5D852C3B1B63}" type="datetimeFigureOut">
              <a:rPr lang="en-PK" smtClean="0"/>
              <a:t>05/11/2024</a:t>
            </a:fld>
            <a:endParaRPr lang="en-P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P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P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EE0EDC-0066-4141-B7A0-BBAFB40E0A94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7779194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E8C89B-BE42-CA81-D708-4B479AECDA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PK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8E0EC76-DA5A-4C2B-0A8F-B74835163A6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28BC8C-DAF6-0575-B0B3-1C0B61CB05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44F6C0-1100-463A-B9B0-C60278097B85}" type="datetimeFigureOut">
              <a:rPr lang="en-PK" smtClean="0"/>
              <a:t>05/11/2024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97DF0D-76B4-5779-6BBE-04304B6CE9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00A52B-975C-15B5-5866-6329A2BA2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F055A-3D0C-4CA4-A982-C1EE4FCDF6A1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7498151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9174E9-D714-5626-1A81-DBC97CEDF6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AC3347-F70F-16A4-DF62-D742783C48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49EBA3-9F3C-83A5-FB55-6B37A71C59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44F6C0-1100-463A-B9B0-C60278097B85}" type="datetimeFigureOut">
              <a:rPr lang="en-PK" smtClean="0"/>
              <a:t>05/11/2024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FE96D5-DB5D-5CE8-B79F-417A80864E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075180-782C-C8D5-87E3-6BB1D17755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F055A-3D0C-4CA4-A982-C1EE4FCDF6A1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665737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1C2929-FE52-CF3A-AE8E-8CD4401BC6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47BB7F-0A89-E20C-E33B-818A8728CB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EC8E8E-12D9-6566-59AD-3F0258DF5F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44F6C0-1100-463A-B9B0-C60278097B85}" type="datetimeFigureOut">
              <a:rPr lang="en-PK" smtClean="0"/>
              <a:t>05/11/2024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AB4337-C6CE-4F12-14D2-F250A2689B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03C2DE-DD78-4042-017D-286A621C75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F055A-3D0C-4CA4-A982-C1EE4FCDF6A1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2737513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4210BB-5883-A543-23E4-58CEB631BC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8602EA-ADC5-424C-99FC-8ED7778F41C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K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9B2A2A5-A2BC-9097-50BC-501C153F22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K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2373FE-FDF1-E46C-2178-1DC81653B3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44F6C0-1100-463A-B9B0-C60278097B85}" type="datetimeFigureOut">
              <a:rPr lang="en-PK" smtClean="0"/>
              <a:t>05/11/2024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136EF6-7128-371B-7088-B4AE930DA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E9CEF0-FFA5-75FF-2EAA-27D3760FA3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F055A-3D0C-4CA4-A982-C1EE4FCDF6A1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2654887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4601B0-64DC-E610-E8B6-BEC8A1912B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D1F701-9F5A-5F91-C2A0-563755A58D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ED7866E-307C-BF20-3395-7395A9B137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K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53CBBB5-7817-0BAB-C013-4F7D81E2266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B61D483-84BB-CE3E-9DFC-5EF5659F3B0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K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8CF3A99-0139-6BA1-3DBE-E25909407A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44F6C0-1100-463A-B9B0-C60278097B85}" type="datetimeFigureOut">
              <a:rPr lang="en-PK" smtClean="0"/>
              <a:t>05/11/2024</a:t>
            </a:fld>
            <a:endParaRPr lang="en-PK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E20B161-1069-54BA-0129-296FA6F5BA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C501D28-4FFB-8195-032F-8D5E59F319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F055A-3D0C-4CA4-A982-C1EE4FCDF6A1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541134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B67CBA-22B8-A0EF-944A-AEB1336B54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PK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6F14051-C240-0BAB-1682-56F03B1F25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44F6C0-1100-463A-B9B0-C60278097B85}" type="datetimeFigureOut">
              <a:rPr lang="en-PK" smtClean="0"/>
              <a:t>05/11/2024</a:t>
            </a:fld>
            <a:endParaRPr lang="en-P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783409B-872D-82A1-1629-8A41706F33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549EAA2-6734-46B6-61FA-E125BE38E5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F055A-3D0C-4CA4-A982-C1EE4FCDF6A1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8232220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7EF746E-8B8E-B45F-79FF-C749E83403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44F6C0-1100-463A-B9B0-C60278097B85}" type="datetimeFigureOut">
              <a:rPr lang="en-PK" smtClean="0"/>
              <a:t>05/11/2024</a:t>
            </a:fld>
            <a:endParaRPr lang="en-PK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6F0C426-2D9C-20B9-053C-B5FB80DAB3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868FC8-874C-8910-3FF8-02F59265E4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F055A-3D0C-4CA4-A982-C1EE4FCDF6A1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4456353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C570C5-BDF6-6723-AFE6-C403DA9A53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5E2AFE-C24B-4026-3F71-0AE496FE7D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3DD2C7-0B92-D07B-F854-FE6914DE59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E93483-9EE9-4B1F-64DA-7D841585DC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44F6C0-1100-463A-B9B0-C60278097B85}" type="datetimeFigureOut">
              <a:rPr lang="en-PK" smtClean="0"/>
              <a:t>05/11/2024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BCA34F-9CB4-853B-DAF5-D31A0C927C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6726E1-D1BE-1931-DD8E-275D26C59B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F055A-3D0C-4CA4-A982-C1EE4FCDF6A1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8764763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906E5D-71F3-9813-618C-34CF04D546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PK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AEA4A2D-FA10-9796-F484-42C8640041E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1917B9A-0EC0-8E95-3729-E47A6F9673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D1EC43-1DF9-4939-2A63-14A7651030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44F6C0-1100-463A-B9B0-C60278097B85}" type="datetimeFigureOut">
              <a:rPr lang="en-PK" smtClean="0"/>
              <a:t>05/11/2024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AEF8B7-2B8A-D7DC-422E-2E57EDBDD0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03224E-7BA2-20D7-CF74-9E591B8F3F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F055A-3D0C-4CA4-A982-C1EE4FCDF6A1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4178657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D7255-5511-A57A-AD8E-98F2A191C9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P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256BBC-B79B-4C4B-5569-F08611FA5D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20E96B-E4B1-AABE-E09B-13B91CEBC8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44F6C0-1100-463A-B9B0-C60278097B85}" type="datetimeFigureOut">
              <a:rPr lang="en-PK" smtClean="0"/>
              <a:t>05/11/2024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122D0-4D8F-FE12-6C0F-B53EE6DB10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4286C3-2055-ADA6-BBE4-71CE705A3B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F055A-3D0C-4CA4-A982-C1EE4FCDF6A1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7115270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8FAB9FE-6D1E-7DB9-860F-4B71E6D2033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P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01BEF4D-FC32-5D18-5B7F-24D222A4BE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48C154-EAEF-CC39-A4BC-4ACD02D9FD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44F6C0-1100-463A-B9B0-C60278097B85}" type="datetimeFigureOut">
              <a:rPr lang="en-PK" smtClean="0"/>
              <a:t>05/11/2024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A6601D-8F66-24ED-9ED1-FBD2BF5FF5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FB22F1-E70B-2B7B-CB80-48356E013E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F055A-3D0C-4CA4-A982-C1EE4FCDF6A1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65616696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ABE5FA-A73B-B042-4DB2-FDFE66B5A9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7000" y="688288"/>
            <a:ext cx="4433455" cy="3966824"/>
          </a:xfrm>
        </p:spPr>
        <p:txBody>
          <a:bodyPr anchor="t">
            <a:noAutofit/>
          </a:bodyPr>
          <a:lstStyle>
            <a:lvl1pPr>
              <a:defRPr sz="7200" b="0">
                <a:latin typeface="+mn-lt"/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A4AF4F-C46E-4A7B-AF85-1B8E60C405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73946-9152-2148-B286-BEF1B04A8193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1F42E324-B3F9-BA8B-E636-0DB5DCF6B8A3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0" y="0"/>
            <a:ext cx="6096000" cy="6857996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ext Placeholder 10">
            <a:extLst>
              <a:ext uri="{FF2B5EF4-FFF2-40B4-BE49-F238E27FC236}">
                <a16:creationId xmlns:a16="http://schemas.microsoft.com/office/drawing/2014/main" id="{34E5E201-FB99-8711-C52C-CBA123864F6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511636" y="5936851"/>
            <a:ext cx="3283527" cy="602673"/>
          </a:xfrm>
        </p:spPr>
        <p:txBody>
          <a:bodyPr anchor="b">
            <a:normAutofit/>
          </a:bodyPr>
          <a:lstStyle>
            <a:lvl1pPr marL="0" indent="0">
              <a:buNone/>
              <a:defRPr sz="165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4722411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88">
          <p15:clr>
            <a:srgbClr val="FBAE40"/>
          </p15:clr>
        </p15:guide>
        <p15:guide id="2" pos="9848">
          <p15:clr>
            <a:srgbClr val="FBAE40"/>
          </p15:clr>
        </p15:guide>
        <p15:guide id="3" pos="5120">
          <p15:clr>
            <a:srgbClr val="FBAE40"/>
          </p15:clr>
        </p15:guide>
        <p15:guide id="4" orient="horz" pos="5424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ABE5FA-A73B-B042-4DB2-FDFE66B5A9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5" y="685801"/>
            <a:ext cx="7661275" cy="2057400"/>
          </a:xfrm>
        </p:spPr>
        <p:txBody>
          <a:bodyPr wrap="square" anchor="t">
            <a:noAutofit/>
          </a:bodyPr>
          <a:lstStyle>
            <a:lvl1pPr>
              <a:defRPr sz="6000" b="0">
                <a:latin typeface="+mn-lt"/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A4AF4F-C46E-4A7B-AF85-1B8E60C405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73946-9152-2148-B286-BEF1B04A8193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8AE235B5-1CFD-192F-6EB8-F70885CA890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2282" y="3429000"/>
            <a:ext cx="3283527" cy="2380243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Text Placeholder 10">
            <a:extLst>
              <a:ext uri="{FF2B5EF4-FFF2-40B4-BE49-F238E27FC236}">
                <a16:creationId xmlns:a16="http://schemas.microsoft.com/office/drawing/2014/main" id="{5E227211-DEE4-1F0C-C1BA-C744EE226C0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92282" y="2826327"/>
            <a:ext cx="3283527" cy="602673"/>
          </a:xfrm>
        </p:spPr>
        <p:txBody>
          <a:bodyPr anchor="b">
            <a:normAutofit/>
          </a:bodyPr>
          <a:lstStyle>
            <a:lvl1pPr marL="0" indent="0">
              <a:buNone/>
              <a:defRPr sz="165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AB1C8803-0542-76BB-6DF0-FCC5FE74BCA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454237" y="2819905"/>
            <a:ext cx="3283527" cy="602673"/>
          </a:xfrm>
        </p:spPr>
        <p:txBody>
          <a:bodyPr anchor="b">
            <a:normAutofit/>
          </a:bodyPr>
          <a:lstStyle>
            <a:lvl1pPr marL="0" indent="0">
              <a:buNone/>
              <a:defRPr sz="165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Text Placeholder 10">
            <a:extLst>
              <a:ext uri="{FF2B5EF4-FFF2-40B4-BE49-F238E27FC236}">
                <a16:creationId xmlns:a16="http://schemas.microsoft.com/office/drawing/2014/main" id="{34E5E201-FB99-8711-C52C-CBA123864F6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316191" y="2826327"/>
            <a:ext cx="3283527" cy="602673"/>
          </a:xfrm>
        </p:spPr>
        <p:txBody>
          <a:bodyPr anchor="b">
            <a:normAutofit/>
          </a:bodyPr>
          <a:lstStyle>
            <a:lvl1pPr marL="0" indent="0">
              <a:buNone/>
              <a:defRPr sz="165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Text Placeholder 10">
            <a:extLst>
              <a:ext uri="{FF2B5EF4-FFF2-40B4-BE49-F238E27FC236}">
                <a16:creationId xmlns:a16="http://schemas.microsoft.com/office/drawing/2014/main" id="{94F64B39-6AAB-933F-C46A-07FA43BE056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454237" y="3429000"/>
            <a:ext cx="3283527" cy="2380239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135C6E61-8847-4830-9FF4-365A758995C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316191" y="3429001"/>
            <a:ext cx="3283527" cy="2380235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Line">
            <a:extLst>
              <a:ext uri="{FF2B5EF4-FFF2-40B4-BE49-F238E27FC236}">
                <a16:creationId xmlns:a16="http://schemas.microsoft.com/office/drawing/2014/main" id="{9CC6E57F-E43B-2EE4-AB08-63909F883D55}"/>
              </a:ext>
            </a:extLst>
          </p:cNvPr>
          <p:cNvSpPr/>
          <p:nvPr userDrawn="1"/>
        </p:nvSpPr>
        <p:spPr>
          <a:xfrm>
            <a:off x="400709" y="5885947"/>
            <a:ext cx="11328458" cy="1"/>
          </a:xfrm>
          <a:prstGeom prst="line">
            <a:avLst/>
          </a:prstGeom>
          <a:ln w="12700">
            <a:solidFill>
              <a:srgbClr val="000000"/>
            </a:solidFill>
            <a:miter/>
          </a:ln>
        </p:spPr>
        <p:txBody>
          <a:bodyPr lIns="34289" rIns="34289"/>
          <a:lstStyle/>
          <a:p>
            <a:endParaRPr sz="1350"/>
          </a:p>
        </p:txBody>
      </p:sp>
    </p:spTree>
    <p:extLst>
      <p:ext uri="{BB962C8B-B14F-4D97-AF65-F5344CB8AC3E}">
        <p14:creationId xmlns:p14="http://schemas.microsoft.com/office/powerpoint/2010/main" val="42440634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88">
          <p15:clr>
            <a:srgbClr val="FBAE40"/>
          </p15:clr>
        </p15:guide>
        <p15:guide id="2" pos="9848">
          <p15:clr>
            <a:srgbClr val="FBAE40"/>
          </p15:clr>
        </p15:guide>
        <p15:guide id="3" pos="512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ABE5FA-A73B-B042-4DB2-FDFE66B5A9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6" y="685804"/>
            <a:ext cx="7661274" cy="2069086"/>
          </a:xfrm>
        </p:spPr>
        <p:txBody>
          <a:bodyPr anchor="t">
            <a:noAutofit/>
          </a:bodyPr>
          <a:lstStyle>
            <a:lvl1pPr>
              <a:defRPr sz="6000" b="0">
                <a:latin typeface="+mn-lt"/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A4AF4F-C46E-4A7B-AF85-1B8E60C405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73946-9152-2148-B286-BEF1B04A8193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8AE235B5-1CFD-192F-6EB8-F70885CA890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2282" y="3429000"/>
            <a:ext cx="3283527" cy="2380243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Text Placeholder 10">
            <a:extLst>
              <a:ext uri="{FF2B5EF4-FFF2-40B4-BE49-F238E27FC236}">
                <a16:creationId xmlns:a16="http://schemas.microsoft.com/office/drawing/2014/main" id="{5E227211-DEE4-1F0C-C1BA-C744EE226C0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92282" y="2826327"/>
            <a:ext cx="3283527" cy="602673"/>
          </a:xfrm>
        </p:spPr>
        <p:txBody>
          <a:bodyPr anchor="b">
            <a:normAutofit/>
          </a:bodyPr>
          <a:lstStyle>
            <a:lvl1pPr marL="0" indent="0">
              <a:buNone/>
              <a:defRPr sz="165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Text Placeholder 10">
            <a:extLst>
              <a:ext uri="{FF2B5EF4-FFF2-40B4-BE49-F238E27FC236}">
                <a16:creationId xmlns:a16="http://schemas.microsoft.com/office/drawing/2014/main" id="{34E5E201-FB99-8711-C52C-CBA123864F6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454237" y="2826327"/>
            <a:ext cx="3283527" cy="602673"/>
          </a:xfrm>
        </p:spPr>
        <p:txBody>
          <a:bodyPr anchor="b">
            <a:normAutofit/>
          </a:bodyPr>
          <a:lstStyle>
            <a:lvl1pPr marL="0" indent="0">
              <a:buNone/>
              <a:defRPr sz="165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Text Placeholder 10">
            <a:extLst>
              <a:ext uri="{FF2B5EF4-FFF2-40B4-BE49-F238E27FC236}">
                <a16:creationId xmlns:a16="http://schemas.microsoft.com/office/drawing/2014/main" id="{94F64B39-6AAB-933F-C46A-07FA43BE056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454237" y="3429000"/>
            <a:ext cx="3283527" cy="2380239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Line">
            <a:extLst>
              <a:ext uri="{FF2B5EF4-FFF2-40B4-BE49-F238E27FC236}">
                <a16:creationId xmlns:a16="http://schemas.microsoft.com/office/drawing/2014/main" id="{9CC6E57F-E43B-2EE4-AB08-63909F883D55}"/>
              </a:ext>
            </a:extLst>
          </p:cNvPr>
          <p:cNvSpPr/>
          <p:nvPr userDrawn="1"/>
        </p:nvSpPr>
        <p:spPr>
          <a:xfrm>
            <a:off x="400709" y="5885947"/>
            <a:ext cx="11328458" cy="1"/>
          </a:xfrm>
          <a:prstGeom prst="line">
            <a:avLst/>
          </a:prstGeom>
          <a:ln w="12700">
            <a:solidFill>
              <a:srgbClr val="000000"/>
            </a:solidFill>
            <a:miter/>
          </a:ln>
        </p:spPr>
        <p:txBody>
          <a:bodyPr lIns="34289" rIns="34289"/>
          <a:lstStyle/>
          <a:p>
            <a:endParaRPr sz="135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1F42E324-B3F9-BA8B-E636-0DB5DCF6B8A3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8853487" y="1153397"/>
            <a:ext cx="2871788" cy="4499259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15750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88">
          <p15:clr>
            <a:srgbClr val="FBAE40"/>
          </p15:clr>
        </p15:guide>
        <p15:guide id="2" pos="9848">
          <p15:clr>
            <a:srgbClr val="FBAE40"/>
          </p15:clr>
        </p15:guide>
        <p15:guide id="3" pos="5120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lumns(2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ABE5FA-A73B-B042-4DB2-FDFE66B5A9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5" y="688289"/>
            <a:ext cx="5629275" cy="2689838"/>
          </a:xfrm>
        </p:spPr>
        <p:txBody>
          <a:bodyPr anchor="t">
            <a:noAutofit/>
          </a:bodyPr>
          <a:lstStyle>
            <a:lvl1pPr>
              <a:defRPr sz="6000" b="0">
                <a:latin typeface="+mn-lt"/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A4AF4F-C46E-4A7B-AF85-1B8E60C405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73946-9152-2148-B286-BEF1B04A8193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ext Placeholder 10">
            <a:extLst>
              <a:ext uri="{FF2B5EF4-FFF2-40B4-BE49-F238E27FC236}">
                <a16:creationId xmlns:a16="http://schemas.microsoft.com/office/drawing/2014/main" id="{34E5E201-FB99-8711-C52C-CBA123864F6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961909" y="1030325"/>
            <a:ext cx="4763366" cy="602673"/>
          </a:xfrm>
        </p:spPr>
        <p:txBody>
          <a:bodyPr anchor="b">
            <a:normAutofit/>
          </a:bodyPr>
          <a:lstStyle>
            <a:lvl1pPr marL="0" indent="0">
              <a:buNone/>
              <a:defRPr sz="165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Text Placeholder 10">
            <a:extLst>
              <a:ext uri="{FF2B5EF4-FFF2-40B4-BE49-F238E27FC236}">
                <a16:creationId xmlns:a16="http://schemas.microsoft.com/office/drawing/2014/main" id="{94F64B39-6AAB-933F-C46A-07FA43BE056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961909" y="1632997"/>
            <a:ext cx="4763366" cy="119333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Line">
            <a:extLst>
              <a:ext uri="{FF2B5EF4-FFF2-40B4-BE49-F238E27FC236}">
                <a16:creationId xmlns:a16="http://schemas.microsoft.com/office/drawing/2014/main" id="{9CC6E57F-E43B-2EE4-AB08-63909F883D55}"/>
              </a:ext>
            </a:extLst>
          </p:cNvPr>
          <p:cNvSpPr/>
          <p:nvPr userDrawn="1"/>
        </p:nvSpPr>
        <p:spPr>
          <a:xfrm>
            <a:off x="400709" y="5885947"/>
            <a:ext cx="11328458" cy="1"/>
          </a:xfrm>
          <a:prstGeom prst="line">
            <a:avLst/>
          </a:prstGeom>
          <a:ln w="12700">
            <a:solidFill>
              <a:srgbClr val="000000"/>
            </a:solidFill>
            <a:miter/>
          </a:ln>
        </p:spPr>
        <p:txBody>
          <a:bodyPr lIns="34289" rIns="34289"/>
          <a:lstStyle/>
          <a:p>
            <a:endParaRPr sz="1350"/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8F14F2A9-59FA-754E-5B1E-11A58CA07A3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61909" y="2836716"/>
            <a:ext cx="4763366" cy="602673"/>
          </a:xfrm>
        </p:spPr>
        <p:txBody>
          <a:bodyPr anchor="b">
            <a:normAutofit/>
          </a:bodyPr>
          <a:lstStyle>
            <a:lvl1pPr marL="0" indent="0">
              <a:buNone/>
              <a:defRPr sz="165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0B23DCBD-0AA5-7D57-EC78-48DF1E6328C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961909" y="3439389"/>
            <a:ext cx="4763366" cy="1411538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130206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88">
          <p15:clr>
            <a:srgbClr val="FBAE40"/>
          </p15:clr>
        </p15:guide>
        <p15:guide id="2" pos="9848">
          <p15:clr>
            <a:srgbClr val="FBAE40"/>
          </p15:clr>
        </p15:guide>
        <p15:guide id="3" pos="5120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ABE5FA-A73B-B042-4DB2-FDFE66B5A9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5" y="688289"/>
            <a:ext cx="5629275" cy="2138039"/>
          </a:xfrm>
        </p:spPr>
        <p:txBody>
          <a:bodyPr anchor="t">
            <a:noAutofit/>
          </a:bodyPr>
          <a:lstStyle>
            <a:lvl1pPr>
              <a:defRPr sz="6000" b="0">
                <a:latin typeface="+mn-lt"/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A4AF4F-C46E-4A7B-AF85-1B8E60C405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73946-9152-2148-B286-BEF1B04A8193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8AE235B5-1CFD-192F-6EB8-F70885CA890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2281" y="3429000"/>
            <a:ext cx="5143501" cy="2380243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Text Placeholder 10">
            <a:extLst>
              <a:ext uri="{FF2B5EF4-FFF2-40B4-BE49-F238E27FC236}">
                <a16:creationId xmlns:a16="http://schemas.microsoft.com/office/drawing/2014/main" id="{5E227211-DEE4-1F0C-C1BA-C744EE226C0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92282" y="2826327"/>
            <a:ext cx="5143500" cy="602673"/>
          </a:xfrm>
        </p:spPr>
        <p:txBody>
          <a:bodyPr anchor="b">
            <a:normAutofit/>
          </a:bodyPr>
          <a:lstStyle>
            <a:lvl1pPr marL="0" indent="0">
              <a:buNone/>
              <a:defRPr sz="165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Line">
            <a:extLst>
              <a:ext uri="{FF2B5EF4-FFF2-40B4-BE49-F238E27FC236}">
                <a16:creationId xmlns:a16="http://schemas.microsoft.com/office/drawing/2014/main" id="{9CC6E57F-E43B-2EE4-AB08-63909F883D55}"/>
              </a:ext>
            </a:extLst>
          </p:cNvPr>
          <p:cNvSpPr/>
          <p:nvPr userDrawn="1"/>
        </p:nvSpPr>
        <p:spPr>
          <a:xfrm>
            <a:off x="400709" y="5885947"/>
            <a:ext cx="11328458" cy="1"/>
          </a:xfrm>
          <a:prstGeom prst="line">
            <a:avLst/>
          </a:prstGeom>
          <a:ln w="12700">
            <a:solidFill>
              <a:srgbClr val="000000"/>
            </a:solidFill>
            <a:miter/>
          </a:ln>
        </p:spPr>
        <p:txBody>
          <a:bodyPr lIns="34289" rIns="34289"/>
          <a:lstStyle/>
          <a:p>
            <a:endParaRPr sz="135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1F42E324-B3F9-BA8B-E636-0DB5DCF6B8A3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096000" y="1153397"/>
            <a:ext cx="5629275" cy="4499259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24508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88">
          <p15:clr>
            <a:srgbClr val="FBAE40"/>
          </p15:clr>
        </p15:guide>
        <p15:guide id="2" pos="9848">
          <p15:clr>
            <a:srgbClr val="FBAE40"/>
          </p15:clr>
        </p15:guide>
        <p15:guide id="3" pos="5120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lumns(3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ABE5FA-A73B-B042-4DB2-FDFE66B5A9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5" y="688289"/>
            <a:ext cx="5629275" cy="2689838"/>
          </a:xfrm>
        </p:spPr>
        <p:txBody>
          <a:bodyPr anchor="t">
            <a:noAutofit/>
          </a:bodyPr>
          <a:lstStyle>
            <a:lvl1pPr>
              <a:defRPr sz="6000" b="0">
                <a:latin typeface="+mn-lt"/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A4AF4F-C46E-4A7B-AF85-1B8E60C405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73946-9152-2148-B286-BEF1B04A8193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ext Placeholder 10">
            <a:extLst>
              <a:ext uri="{FF2B5EF4-FFF2-40B4-BE49-F238E27FC236}">
                <a16:creationId xmlns:a16="http://schemas.microsoft.com/office/drawing/2014/main" id="{34E5E201-FB99-8711-C52C-CBA123864F6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961909" y="1030325"/>
            <a:ext cx="4763366" cy="602673"/>
          </a:xfrm>
        </p:spPr>
        <p:txBody>
          <a:bodyPr anchor="b">
            <a:normAutofit/>
          </a:bodyPr>
          <a:lstStyle>
            <a:lvl1pPr marL="0" indent="0">
              <a:buNone/>
              <a:defRPr sz="165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Text Placeholder 10">
            <a:extLst>
              <a:ext uri="{FF2B5EF4-FFF2-40B4-BE49-F238E27FC236}">
                <a16:creationId xmlns:a16="http://schemas.microsoft.com/office/drawing/2014/main" id="{94F64B39-6AAB-933F-C46A-07FA43BE056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961909" y="1632997"/>
            <a:ext cx="4763366" cy="119333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Line">
            <a:extLst>
              <a:ext uri="{FF2B5EF4-FFF2-40B4-BE49-F238E27FC236}">
                <a16:creationId xmlns:a16="http://schemas.microsoft.com/office/drawing/2014/main" id="{9CC6E57F-E43B-2EE4-AB08-63909F883D55}"/>
              </a:ext>
            </a:extLst>
          </p:cNvPr>
          <p:cNvSpPr/>
          <p:nvPr userDrawn="1"/>
        </p:nvSpPr>
        <p:spPr>
          <a:xfrm>
            <a:off x="400709" y="5885947"/>
            <a:ext cx="11328458" cy="1"/>
          </a:xfrm>
          <a:prstGeom prst="line">
            <a:avLst/>
          </a:prstGeom>
          <a:ln w="12700">
            <a:solidFill>
              <a:srgbClr val="000000"/>
            </a:solidFill>
            <a:miter/>
          </a:ln>
        </p:spPr>
        <p:txBody>
          <a:bodyPr lIns="34289" rIns="34289"/>
          <a:lstStyle/>
          <a:p>
            <a:endParaRPr sz="1350"/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8F14F2A9-59FA-754E-5B1E-11A58CA07A3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61909" y="2836716"/>
            <a:ext cx="4763366" cy="602673"/>
          </a:xfrm>
        </p:spPr>
        <p:txBody>
          <a:bodyPr anchor="b">
            <a:normAutofit/>
          </a:bodyPr>
          <a:lstStyle>
            <a:lvl1pPr marL="0" indent="0">
              <a:buNone/>
              <a:defRPr sz="165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0B23DCBD-0AA5-7D57-EC78-48DF1E6328C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961909" y="3439389"/>
            <a:ext cx="4763366" cy="1411538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Picture Placeholder 11">
            <a:extLst>
              <a:ext uri="{FF2B5EF4-FFF2-40B4-BE49-F238E27FC236}">
                <a16:creationId xmlns:a16="http://schemas.microsoft.com/office/drawing/2014/main" id="{D96AF8D7-D3E5-B5C6-030A-DFBC5AEC7D00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592282" y="3616037"/>
            <a:ext cx="5503718" cy="2071901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74687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88">
          <p15:clr>
            <a:srgbClr val="FBAE40"/>
          </p15:clr>
        </p15:guide>
        <p15:guide id="2" pos="9848">
          <p15:clr>
            <a:srgbClr val="FBAE40"/>
          </p15:clr>
        </p15:guide>
        <p15:guide id="3" pos="512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2CD049-71FF-411B-BCE5-A051E826B1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FC7692D-ABCF-997B-650B-266DF91A7F5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748"/>
            <a:ext cx="2743200" cy="364331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FCE306B-148D-CE50-D43B-2DEE137858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748"/>
            <a:ext cx="4114800" cy="364331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E5411AD-3E1B-501F-B9F8-D0AAF3F5F5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73946-9152-2148-B286-BEF1B04A81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744928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BE72686-CE9D-3B74-9DE2-86FB708C153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748"/>
            <a:ext cx="2743200" cy="364331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1D822D6-F437-1E07-DBC9-57FD732126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748"/>
            <a:ext cx="4114800" cy="364331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2AF305-6821-F7EE-9D30-6FE81EC2BC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73946-9152-2148-B286-BEF1B04A81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217991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ABE5FA-A73B-B042-4DB2-FDFE66B5A9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7000" y="688288"/>
            <a:ext cx="4433455" cy="3966824"/>
          </a:xfrm>
        </p:spPr>
        <p:txBody>
          <a:bodyPr anchor="t">
            <a:noAutofit/>
          </a:bodyPr>
          <a:lstStyle>
            <a:lvl1pPr>
              <a:defRPr sz="7500" b="0">
                <a:latin typeface="+mn-lt"/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A4AF4F-C46E-4A7B-AF85-1B8E60C405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73946-9152-2148-B286-BEF1B04A8193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1F42E324-B3F9-BA8B-E636-0DB5DCF6B8A3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0" y="0"/>
            <a:ext cx="6096000" cy="6857996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ext Placeholder 10">
            <a:extLst>
              <a:ext uri="{FF2B5EF4-FFF2-40B4-BE49-F238E27FC236}">
                <a16:creationId xmlns:a16="http://schemas.microsoft.com/office/drawing/2014/main" id="{34E5E201-FB99-8711-C52C-CBA123864F6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511636" y="5936851"/>
            <a:ext cx="3283527" cy="602673"/>
          </a:xfrm>
        </p:spPr>
        <p:txBody>
          <a:bodyPr anchor="b">
            <a:normAutofit/>
          </a:bodyPr>
          <a:lstStyle>
            <a:lvl1pPr marL="0" indent="0">
              <a:buNone/>
              <a:defRPr sz="165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135510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88">
          <p15:clr>
            <a:srgbClr val="FBAE40"/>
          </p15:clr>
        </p15:guide>
        <p15:guide id="2" pos="9848">
          <p15:clr>
            <a:srgbClr val="FBAE40"/>
          </p15:clr>
        </p15:guide>
        <p15:guide id="3" pos="5120">
          <p15:clr>
            <a:srgbClr val="FBAE40"/>
          </p15:clr>
        </p15:guide>
        <p15:guide id="4" orient="horz" pos="5424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0" y="0"/>
            <a:ext cx="1066667" cy="4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/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69711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theme" Target="../theme/theme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AEE2743-4765-1FFC-53A7-59008F269F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7461EF-00C9-A719-6036-098DC80D57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4EBD4B-5294-512A-D5C0-BE73E00D456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144F6C0-1100-463A-B9B0-C60278097B85}" type="datetimeFigureOut">
              <a:rPr lang="en-PK" smtClean="0"/>
              <a:t>05/11/2024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F9D66F-826B-0065-2296-42634866707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3C8804-31F6-1B97-35FE-91110F4BC5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07F055A-3D0C-4CA4-A982-C1EE4FCDF6A1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3546869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P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EBD9625-ED1C-9C68-D8B9-B6502FCCB4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523"/>
            <a:ext cx="10515600" cy="13251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8293A9-2FAF-A155-DC7A-FE995344AE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229"/>
            <a:ext cx="10515600" cy="435173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F1B5DE-B15D-9D1C-21D2-953FFCB007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323958"/>
            <a:ext cx="373155" cy="3643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2E72D20E-321F-EE4C-A76D-7EFD4B1BDA03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7" name="Group">
            <a:extLst>
              <a:ext uri="{FF2B5EF4-FFF2-40B4-BE49-F238E27FC236}">
                <a16:creationId xmlns:a16="http://schemas.microsoft.com/office/drawing/2014/main" id="{2CC72135-826E-3084-1ACC-9293218F24EE}"/>
              </a:ext>
            </a:extLst>
          </p:cNvPr>
          <p:cNvGrpSpPr/>
          <p:nvPr userDrawn="1"/>
        </p:nvGrpSpPr>
        <p:grpSpPr>
          <a:xfrm>
            <a:off x="11350549" y="6275881"/>
            <a:ext cx="378619" cy="267073"/>
            <a:chOff x="0" y="0"/>
            <a:chExt cx="504824" cy="356095"/>
          </a:xfrm>
        </p:grpSpPr>
        <p:sp>
          <p:nvSpPr>
            <p:cNvPr id="8" name="Line">
              <a:extLst>
                <a:ext uri="{FF2B5EF4-FFF2-40B4-BE49-F238E27FC236}">
                  <a16:creationId xmlns:a16="http://schemas.microsoft.com/office/drawing/2014/main" id="{024BCD63-D1A0-9E6D-3EA4-16D1E0509D18}"/>
                </a:ext>
              </a:extLst>
            </p:cNvPr>
            <p:cNvSpPr/>
            <p:nvPr/>
          </p:nvSpPr>
          <p:spPr>
            <a:xfrm>
              <a:off x="0" y="180134"/>
              <a:ext cx="504825" cy="1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 sz="1350"/>
            </a:p>
          </p:txBody>
        </p:sp>
        <p:sp>
          <p:nvSpPr>
            <p:cNvPr id="9" name="Line">
              <a:extLst>
                <a:ext uri="{FF2B5EF4-FFF2-40B4-BE49-F238E27FC236}">
                  <a16:creationId xmlns:a16="http://schemas.microsoft.com/office/drawing/2014/main" id="{3E483999-BF7F-A26B-845E-8C65CD948361}"/>
                </a:ext>
              </a:extLst>
            </p:cNvPr>
            <p:cNvSpPr/>
            <p:nvPr/>
          </p:nvSpPr>
          <p:spPr>
            <a:xfrm>
              <a:off x="324689" y="0"/>
              <a:ext cx="177185" cy="177184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 sz="1350"/>
            </a:p>
          </p:txBody>
        </p:sp>
        <p:sp>
          <p:nvSpPr>
            <p:cNvPr id="10" name="Line">
              <a:extLst>
                <a:ext uri="{FF2B5EF4-FFF2-40B4-BE49-F238E27FC236}">
                  <a16:creationId xmlns:a16="http://schemas.microsoft.com/office/drawing/2014/main" id="{B9696663-8271-B1D6-1A2F-9E2DDAA3DD5E}"/>
                </a:ext>
              </a:extLst>
            </p:cNvPr>
            <p:cNvSpPr/>
            <p:nvPr/>
          </p:nvSpPr>
          <p:spPr>
            <a:xfrm flipV="1">
              <a:off x="324689" y="178911"/>
              <a:ext cx="177185" cy="177185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 sz="1350"/>
            </a:p>
          </p:txBody>
        </p:sp>
      </p:grpSp>
      <p:sp>
        <p:nvSpPr>
          <p:cNvPr id="11" name="textruta 3">
            <a:extLst>
              <a:ext uri="{FF2B5EF4-FFF2-40B4-BE49-F238E27FC236}">
                <a16:creationId xmlns:a16="http://schemas.microsoft.com/office/drawing/2014/main" id="{2DC00BBB-96D5-E144-A351-6386B4BABF32}"/>
              </a:ext>
            </a:extLst>
          </p:cNvPr>
          <p:cNvSpPr txBox="1"/>
          <p:nvPr userDrawn="1"/>
        </p:nvSpPr>
        <p:spPr>
          <a:xfrm>
            <a:off x="10707476" y="6260827"/>
            <a:ext cx="759780" cy="3000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4289" rIns="34289">
            <a:spAutoFit/>
          </a:bodyPr>
          <a:lstStyle>
            <a:lvl1pPr>
              <a:lnSpc>
                <a:spcPct val="90000"/>
              </a:lnSpc>
              <a:spcBef>
                <a:spcPts val="600"/>
              </a:spcBef>
              <a:defRPr sz="2000">
                <a:solidFill>
                  <a:srgbClr val="000000"/>
                </a:solidFill>
              </a:defRPr>
            </a:lvl1pPr>
          </a:lstStyle>
          <a:p>
            <a:r>
              <a:rPr sz="1500" dirty="0"/>
              <a:t>NEXT</a:t>
            </a:r>
          </a:p>
        </p:txBody>
      </p:sp>
    </p:spTree>
    <p:extLst>
      <p:ext uri="{BB962C8B-B14F-4D97-AF65-F5344CB8AC3E}">
        <p14:creationId xmlns:p14="http://schemas.microsoft.com/office/powerpoint/2010/main" val="22766439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74" r:id="rId3"/>
    <p:sldLayoutId id="2147483675" r:id="rId4"/>
    <p:sldLayoutId id="2147483676" r:id="rId5"/>
    <p:sldLayoutId id="2147483677" r:id="rId6"/>
    <p:sldLayoutId id="2147483679" r:id="rId7"/>
    <p:sldLayoutId id="2147483680" r:id="rId8"/>
    <p:sldLayoutId id="2147483681" r:id="rId9"/>
    <p:sldLayoutId id="2147483682" r:id="rId10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880">
          <p15:clr>
            <a:srgbClr val="F26B43"/>
          </p15:clr>
        </p15:guide>
        <p15:guide id="2" pos="392">
          <p15:clr>
            <a:srgbClr val="F26B43"/>
          </p15:clr>
        </p15:guide>
        <p15:guide id="3" orient="horz" pos="57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1.xml"/><Relationship Id="rId5" Type="http://schemas.openxmlformats.org/officeDocument/2006/relationships/chart" Target="../charts/chart3.xml"/><Relationship Id="rId4" Type="http://schemas.openxmlformats.org/officeDocument/2006/relationships/chart" Target="../charts/char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1C660B10-D622-7696-9B8F-A29742AFB9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Web Scraping in Python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734E2EC-7405-2A62-940B-47EB7719F6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73946-9152-2148-B286-BEF1B04A8193}" type="slidenum">
              <a:rPr lang="en-US" smtClean="0"/>
              <a:t>1</a:t>
            </a:fld>
            <a:endParaRPr lang="en-US"/>
          </a:p>
        </p:txBody>
      </p:sp>
      <p:pic>
        <p:nvPicPr>
          <p:cNvPr id="2" name="Picture Placeholder 1">
            <a:extLst>
              <a:ext uri="{FF2B5EF4-FFF2-40B4-BE49-F238E27FC236}">
                <a16:creationId xmlns:a16="http://schemas.microsoft.com/office/drawing/2014/main" id="{79FEAF5A-05E5-1CBC-6E10-8BBA76E9CCB1}"/>
              </a:ext>
            </a:extLst>
          </p:cNvPr>
          <p:cNvPicPr>
            <a:picLocks noGrp="1" noChangeAspect="1"/>
          </p:cNvPicPr>
          <p:nvPr>
            <p:ph type="pic" sz="quarter" idx="18"/>
          </p:nvPr>
        </p:nvPicPr>
        <p:blipFill>
          <a:blip r:embed="rId2"/>
          <a:srcRect l="17819" r="17819"/>
          <a:stretch>
            <a:fillRect/>
          </a:stretch>
        </p:blipFill>
        <p:spPr/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D0739B64-C005-FA51-D057-C4B59A15B6C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dirty="0"/>
              <a:t>Atta Muhammad</a:t>
            </a:r>
          </a:p>
        </p:txBody>
      </p:sp>
    </p:spTree>
    <p:extLst>
      <p:ext uri="{BB962C8B-B14F-4D97-AF65-F5344CB8AC3E}">
        <p14:creationId xmlns:p14="http://schemas.microsoft.com/office/powerpoint/2010/main" val="8394027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C31F1D-D80A-D961-A78C-B5F80C091F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Introduction to Scraping</a:t>
            </a:r>
            <a:endParaRPr lang="en-PK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0CC2539-DECB-674C-6B2F-F991626084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73946-9152-2148-B286-BEF1B04A8193}" type="slidenum">
              <a:rPr lang="en-US" smtClean="0"/>
              <a:t>2</a:t>
            </a:fld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E6F435E-6269-8A6E-250D-A16C97171EE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GB"/>
              <a:t>Web scraping is the automated process of extracting information from websites. It is crucial for data analysis, market research, and competitive intelligence.</a:t>
            </a:r>
            <a:endParaRPr lang="en-PK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4752AF4-0244-143C-4D25-961544CB168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it-IT"/>
              <a:t>Understanding Web Scraping</a:t>
            </a:r>
            <a:endParaRPr lang="en-PK"/>
          </a:p>
        </p:txBody>
      </p:sp>
      <p:pic>
        <p:nvPicPr>
          <p:cNvPr id="7" name="Picture Placeholder 6">
            <a:extLst>
              <a:ext uri="{FF2B5EF4-FFF2-40B4-BE49-F238E27FC236}">
                <a16:creationId xmlns:a16="http://schemas.microsoft.com/office/drawing/2014/main" id="{595869CE-4513-0ABB-5B77-7195A52C9705}"/>
              </a:ext>
            </a:extLst>
          </p:cNvPr>
          <p:cNvPicPr>
            <a:picLocks noGrp="1" noChangeAspect="1"/>
          </p:cNvPicPr>
          <p:nvPr>
            <p:ph type="pic" sz="quarter" idx="18"/>
          </p:nvPr>
        </p:nvPicPr>
        <p:blipFill>
          <a:blip r:embed="rId2"/>
          <a:srcRect l="5454" r="5454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33722991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0"/>
          <p:cNvGraphicFramePr>
            <a:graphicFrameLocks noGrp="1"/>
          </p:cNvGraphicFramePr>
          <p:nvPr/>
        </p:nvGraphicFramePr>
        <p:xfrm>
          <a:off x="755904" y="3048000"/>
          <a:ext cx="10363200" cy="3145536"/>
        </p:xfrm>
        <a:graphic>
          <a:graphicData uri="http://schemas.openxmlformats.org/drawingml/2006/table">
            <a:tbl>
              <a:tblPr/>
              <a:tblGrid>
                <a:gridCol w="345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5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5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242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Calibri SemiBold" pitchFamily="34" charset="0"/>
                          <a:ea typeface="Calibri SemiBold" pitchFamily="34" charset="-122"/>
                          <a:cs typeface="Calibri SemiBold" pitchFamily="34" charset="-120"/>
                        </a:rPr>
                        <a:t>Library</a:t>
                      </a:r>
                      <a:endParaRPr lang="en-US" sz="1400" dirty="0">
                        <a:latin typeface="Calibri SemiBold" charset="0"/>
                        <a:ea typeface="Calibri SemiBold" charset="0"/>
                        <a:cs typeface="Calibri SemiBold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solidFill>
                        <a:srgbClr val="666666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BFBFB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Calibri SemiBold" pitchFamily="34" charset="0"/>
                          <a:ea typeface="Calibri SemiBold" pitchFamily="34" charset="-122"/>
                          <a:cs typeface="Calibri SemiBold" pitchFamily="34" charset="-120"/>
                        </a:rPr>
                        <a:t>Description</a:t>
                      </a:r>
                      <a:endParaRPr lang="en-US" sz="1400" dirty="0">
                        <a:latin typeface="Calibri SemiBold" charset="0"/>
                        <a:ea typeface="Calibri SemiBold" charset="0"/>
                        <a:cs typeface="Calibri SemiBold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A6A6A6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BFBFB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Calibri SemiBold" pitchFamily="34" charset="0"/>
                          <a:ea typeface="Calibri SemiBold" pitchFamily="34" charset="-122"/>
                          <a:cs typeface="Calibri SemiBold" pitchFamily="34" charset="-120"/>
                        </a:rPr>
                        <a:t>Usage</a:t>
                      </a:r>
                      <a:endParaRPr lang="en-US" sz="1400" dirty="0">
                        <a:latin typeface="Calibri SemiBold" charset="0"/>
                        <a:ea typeface="Calibri SemiBold" charset="0"/>
                        <a:cs typeface="Calibri SemiBold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A6A6A6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BFBFB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42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Beautiful Soup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solidFill>
                        <a:srgbClr val="666666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BFBFB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HTML parsing and extraction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A6A6A6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BFBFB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 navigating HTML/XML documents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A6A6A6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BFBFB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42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Scrapy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solidFill>
                        <a:srgbClr val="666666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BFBFB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Full-fledged web scraping framework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A6A6A6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BFBFB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 large-scale scraping projects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A6A6A6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BFBFB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42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Requests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solidFill>
                        <a:srgbClr val="666666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BFBFB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Simplifies HTTP requests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A6A6A6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BFBFB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 sending and managing requests easily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A6A6A6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BFBFB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42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Selenium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solidFill>
                        <a:srgbClr val="666666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BFBFB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Browser automation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A6A6A6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BFBFB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 scraping JavaScript-heavy websites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A6A6A6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BFBFB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42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Pandas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solidFill>
                        <a:srgbClr val="666666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666666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BFBFB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manipulation and analysis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A6A6A6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666666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BFBFB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 handling and analyzing scraped data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A6A6A6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666666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BFBFB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" name="Text 0"/>
          <p:cNvSpPr/>
          <p:nvPr/>
        </p:nvSpPr>
        <p:spPr>
          <a:xfrm>
            <a:off x="660400" y="495300"/>
            <a:ext cx="10439400" cy="1320800"/>
          </a:xfrm>
          <a:prstGeom prst="rect">
            <a:avLst/>
          </a:prstGeom>
          <a:noFill/>
          <a:ln/>
        </p:spPr>
        <p:txBody>
          <a:bodyPr wrap="square" rtlCol="0" anchor="t" anchorCtr="0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6000">
                <a:latin typeface="Calibri"/>
                <a:ea typeface="Calibri"/>
                <a:cs typeface="Calibri"/>
              </a:rPr>
              <a:t>Key Libraries Overview</a:t>
            </a:r>
            <a:endParaRPr lang="en-US" sz="6000" dirty="0">
              <a:latin typeface="Calibri"/>
              <a:ea typeface="Calibri"/>
              <a:cs typeface="Calibri"/>
            </a:endParaRPr>
          </a:p>
        </p:txBody>
      </p:sp>
      <p:sp>
        <p:nvSpPr>
          <p:cNvPr id="4" name="Shape 1"/>
          <p:cNvSpPr/>
          <p:nvPr/>
        </p:nvSpPr>
        <p:spPr>
          <a:xfrm>
            <a:off x="393700" y="5880100"/>
            <a:ext cx="11328400" cy="12700"/>
          </a:xfrm>
          <a:prstGeom prst="line">
            <a:avLst/>
          </a:prstGeom>
          <a:noFill/>
          <a:ln>
            <a:solidFill>
              <a:srgbClr val="000000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5" name="Text 2"/>
          <p:cNvSpPr/>
          <p:nvPr/>
        </p:nvSpPr>
        <p:spPr>
          <a:xfrm>
            <a:off x="736600" y="1612900"/>
            <a:ext cx="6032500" cy="78740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1600">
                <a:latin typeface="Calibri"/>
                <a:ea typeface="Calibri"/>
                <a:cs typeface="Calibri"/>
              </a:rPr>
              <a:t>This table provides an overview of popular Python libraries used for web scraping, detailing their specific purposes and typical applications.</a:t>
            </a:r>
            <a:endParaRPr lang="en-US" sz="1600" dirty="0">
              <a:latin typeface="Calibri"/>
              <a:ea typeface="Calibri"/>
              <a:cs typeface="Calibri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53800" y="317500"/>
            <a:ext cx="368300" cy="355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anchor="ctr" anchorCtr="0"/>
          <a:lstStyle>
            <a:lvl1pPr marL="0" algn="l" defTabSz="1625519" rtl="0" eaLnBrk="1" latinLnBrk="0" hangingPunct="1"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12760" algn="l" defTabSz="1625519" rtl="0" eaLnBrk="1" latinLnBrk="0" hangingPunct="1"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25519" algn="l" defTabSz="1625519" rtl="0" eaLnBrk="1" latinLnBrk="0" hangingPunct="1"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438278" algn="l" defTabSz="1625519" rtl="0" eaLnBrk="1" latinLnBrk="0" hangingPunct="1"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251037" algn="l" defTabSz="1625519" rtl="0" eaLnBrk="1" latinLnBrk="0" hangingPunct="1"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063797" algn="l" defTabSz="1625519" rtl="0" eaLnBrk="1" latinLnBrk="0" hangingPunct="1"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876557" algn="l" defTabSz="1625519" rtl="0" eaLnBrk="1" latinLnBrk="0" hangingPunct="1"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689315" algn="l" defTabSz="1625519" rtl="0" eaLnBrk="1" latinLnBrk="0" hangingPunct="1"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6502075" algn="l" defTabSz="1625519" rtl="0" eaLnBrk="1" latinLnBrk="0" hangingPunct="1"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F7021451-1387-4CA6-816F-3879F97B5CBC}" type="slidenum">
              <a:rPr lang="en-US" sz="1050" b="0">
                <a:latin typeface="Calibri"/>
                <a:ea typeface="Calibri"/>
                <a:cs typeface="Calibri"/>
              </a:rPr>
              <a:pPr algn="ctr"/>
              <a:t>3</a:t>
            </a:fld>
            <a:endParaRPr lang="en-US" sz="1050"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751B66-0F1E-B3C9-6A05-85C5D36A8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Basic Scraping Techniques</a:t>
            </a:r>
            <a:endParaRPr lang="en-PK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761B676-E33B-19FD-AA1F-62E8AC9960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73946-9152-2148-B286-BEF1B04A8193}" type="slidenum">
              <a:rPr lang="en-US" smtClean="0"/>
              <a:t>4</a:t>
            </a:fld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AE0ABE-2EF8-8723-9538-60D5D1699FE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GB"/>
              <a:t>Utilize libraries like Beautiful Soup for parsing HTML. This enables the selection and extraction of data using CSS selectors or XPath.</a:t>
            </a:r>
            <a:endParaRPr lang="en-PK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DD968C5-AB7B-0762-3BF3-6DE99017F9D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it-IT"/>
              <a:t>HTML Parsing Methods</a:t>
            </a:r>
            <a:endParaRPr lang="en-PK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6050523-B647-99AC-7B1C-3BBF98420B1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it-IT"/>
              <a:t>Web Automation Techniques</a:t>
            </a:r>
            <a:endParaRPr lang="en-PK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E6E747C-F9C7-192E-AE5D-8E5B932FEE8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GB"/>
              <a:t>Employ Selenium for dynamic content. This simulates user interactions, enabling the scraping of websites reliant on JavaScript.</a:t>
            </a:r>
            <a:endParaRPr lang="en-PK"/>
          </a:p>
        </p:txBody>
      </p:sp>
      <p:pic>
        <p:nvPicPr>
          <p:cNvPr id="9" name="Picture Placeholder 8">
            <a:extLst>
              <a:ext uri="{FF2B5EF4-FFF2-40B4-BE49-F238E27FC236}">
                <a16:creationId xmlns:a16="http://schemas.microsoft.com/office/drawing/2014/main" id="{1D753FD4-3D62-1EBF-F4EB-1C6CCA1D7364}"/>
              </a:ext>
            </a:extLst>
          </p:cNvPr>
          <p:cNvPicPr>
            <a:picLocks noGrp="1" noChangeAspect="1"/>
          </p:cNvPicPr>
          <p:nvPr>
            <p:ph type="pic" sz="quarter" idx="18"/>
          </p:nvPr>
        </p:nvPicPr>
        <p:blipFill>
          <a:blip r:embed="rId2"/>
          <a:srcRect l="26890" r="26890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19965211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3DD169-E1E6-08F6-0C5B-009803BDA8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Handling Data</a:t>
            </a:r>
            <a:endParaRPr lang="en-PK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C771F6D-FB6C-A9A6-FA55-2B3E582925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73946-9152-2148-B286-BEF1B04A8193}" type="slidenum">
              <a:rPr lang="en-US" smtClean="0"/>
              <a:t>5</a:t>
            </a:fld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E9D9180-4236-2A78-87C2-75D4A2DD22C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it-IT"/>
              <a:t>Data from web scraping needs effective storage and manipulation. Use formats like CSV or databases like SQLite for structured storage. Pandas enables easy data manipulation for analysis.</a:t>
            </a:r>
            <a:endParaRPr lang="en-PK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6EADD49-5A8C-D7D9-9303-E17142EEF3C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it-IT"/>
              <a:t>Storing and Manipulating Data</a:t>
            </a:r>
            <a:endParaRPr lang="en-PK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48A4CDB7-5056-FC38-0D72-4323F845717A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/>
        <p:txBody>
          <a:bodyPr/>
          <a:lstStyle/>
          <a:p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4425331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9A6FB5-D2CB-B9AC-BA15-AA44991F56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Ethics and Compliance</a:t>
            </a:r>
            <a:endParaRPr lang="en-PK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62C6E28-E487-3418-7118-83DC8EB4D0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73946-9152-2148-B286-BEF1B04A8193}" type="slidenum">
              <a:rPr lang="en-US" smtClean="0"/>
              <a:t>6</a:t>
            </a:fld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0244463-DB0D-E428-2505-370A83BDEBA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it-IT"/>
              <a:t>Understanding Ethical Considerations</a:t>
            </a:r>
            <a:endParaRPr lang="en-PK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0BDE6F1-9062-96EA-834E-B26F14F861C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GB"/>
              <a:t>Ensure scraping is compliant with a website's Terms of Service. Respect for user privacy and avoiding excessive requests are vital.</a:t>
            </a:r>
            <a:endParaRPr lang="en-PK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7BA1C1C-3121-D376-E8D9-69BD023FE4F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it-IT"/>
              <a:t>Legal Compliance</a:t>
            </a:r>
            <a:endParaRPr lang="en-PK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93FC308-66BB-DAD8-9FF5-69DE7167FBA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GB"/>
              <a:t>Familiarize yourself with legal frameworks governing data scraping. Abide by laws like the Computer Fraud and Abuse Act and local data protection regulations.</a:t>
            </a:r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6333563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0"/>
          <p:cNvGraphicFramePr/>
          <p:nvPr>
            <p:extLst>
              <p:ext uri="{D42A27DB-BD31-4B8C-83A1-F6EECF244321}">
                <p14:modId xmlns:p14="http://schemas.microsoft.com/office/powerpoint/2010/main" val="1418426318"/>
              </p:ext>
            </p:extLst>
          </p:nvPr>
        </p:nvGraphicFramePr>
        <p:xfrm>
          <a:off x="1524000" y="1917700"/>
          <a:ext cx="1816100" cy="18161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3" name="Chart 1"/>
          <p:cNvGraphicFramePr/>
          <p:nvPr>
            <p:extLst>
              <p:ext uri="{D42A27DB-BD31-4B8C-83A1-F6EECF244321}">
                <p14:modId xmlns:p14="http://schemas.microsoft.com/office/powerpoint/2010/main" val="3434049989"/>
              </p:ext>
            </p:extLst>
          </p:nvPr>
        </p:nvGraphicFramePr>
        <p:xfrm>
          <a:off x="5219700" y="1917700"/>
          <a:ext cx="1816100" cy="18161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4" name="Chart 2"/>
          <p:cNvGraphicFramePr/>
          <p:nvPr>
            <p:extLst>
              <p:ext uri="{D42A27DB-BD31-4B8C-83A1-F6EECF244321}">
                <p14:modId xmlns:p14="http://schemas.microsoft.com/office/powerpoint/2010/main" val="1303286438"/>
              </p:ext>
            </p:extLst>
          </p:nvPr>
        </p:nvGraphicFramePr>
        <p:xfrm>
          <a:off x="8826500" y="1917700"/>
          <a:ext cx="1816100" cy="18161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53800" y="317500"/>
            <a:ext cx="368300" cy="355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anchor="ctr" anchorCtr="0"/>
          <a:lstStyle>
            <a:lvl1pPr marL="0" algn="l" defTabSz="1625519" rtl="0" eaLnBrk="1" latinLnBrk="0" hangingPunct="1"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12760" algn="l" defTabSz="1625519" rtl="0" eaLnBrk="1" latinLnBrk="0" hangingPunct="1"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25519" algn="l" defTabSz="1625519" rtl="0" eaLnBrk="1" latinLnBrk="0" hangingPunct="1"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438278" algn="l" defTabSz="1625519" rtl="0" eaLnBrk="1" latinLnBrk="0" hangingPunct="1"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251037" algn="l" defTabSz="1625519" rtl="0" eaLnBrk="1" latinLnBrk="0" hangingPunct="1"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063797" algn="l" defTabSz="1625519" rtl="0" eaLnBrk="1" latinLnBrk="0" hangingPunct="1"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876557" algn="l" defTabSz="1625519" rtl="0" eaLnBrk="1" latinLnBrk="0" hangingPunct="1"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689315" algn="l" defTabSz="1625519" rtl="0" eaLnBrk="1" latinLnBrk="0" hangingPunct="1"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6502075" algn="l" defTabSz="1625519" rtl="0" eaLnBrk="1" latinLnBrk="0" hangingPunct="1"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F7021451-1387-4CA6-816F-3879F97B5CBC}" type="slidenum">
              <a:rPr lang="en-US" sz="1050" b="0">
                <a:latin typeface="Calibri"/>
                <a:ea typeface="Calibri"/>
                <a:cs typeface="Calibri"/>
              </a:rPr>
              <a:pPr algn="ctr"/>
              <a:t>7</a:t>
            </a:fld>
            <a:endParaRPr lang="en-US" sz="1050">
              <a:latin typeface="Calibri"/>
              <a:ea typeface="Calibri"/>
              <a:cs typeface="Calibri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3EC9571-0648-4DBC-9F4F-B55F317BC3DE}"/>
              </a:ext>
            </a:extLst>
          </p:cNvPr>
          <p:cNvSpPr txBox="1"/>
          <p:nvPr/>
        </p:nvSpPr>
        <p:spPr>
          <a:xfrm>
            <a:off x="660400" y="495300"/>
            <a:ext cx="10439400" cy="13208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spAutoFit/>
          </a:bodyPr>
          <a:lstStyle/>
          <a:p>
            <a:r>
              <a:rPr lang="it-IT" sz="6000">
                <a:latin typeface="Calibri"/>
                <a:ea typeface="Calibri"/>
                <a:cs typeface="Calibri"/>
              </a:rPr>
              <a:t>Future Trends</a:t>
            </a:r>
            <a:endParaRPr lang="en-PK" sz="6000">
              <a:latin typeface="Calibri"/>
              <a:ea typeface="Calibri"/>
              <a:cs typeface="Calibri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E25088D-739E-48B7-8162-D8A250330018}"/>
              </a:ext>
            </a:extLst>
          </p:cNvPr>
          <p:cNvSpPr txBox="1"/>
          <p:nvPr/>
        </p:nvSpPr>
        <p:spPr>
          <a:xfrm>
            <a:off x="1968500" y="2603500"/>
            <a:ext cx="914400" cy="457200"/>
          </a:xfrm>
          <a:prstGeom prst="rect">
            <a:avLst/>
          </a:prstGeom>
          <a:noFill/>
        </p:spPr>
        <p:txBody>
          <a:bodyPr vertOverflow="overflow" vert="horz" wrap="square" rtlCol="0" anchor="ctr" anchorCtr="1">
            <a:spAutoFit/>
          </a:bodyPr>
          <a:lstStyle/>
          <a:p>
            <a:pPr algn="ctr"/>
            <a:r>
              <a:rPr lang="en-PK" sz="2400">
                <a:latin typeface="Calibri"/>
                <a:ea typeface="Calibri"/>
                <a:cs typeface="Calibri"/>
              </a:rPr>
              <a:t>45%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A94B9DA-D7D5-458B-8223-40B7B4D94288}"/>
              </a:ext>
            </a:extLst>
          </p:cNvPr>
          <p:cNvSpPr txBox="1"/>
          <p:nvPr/>
        </p:nvSpPr>
        <p:spPr>
          <a:xfrm>
            <a:off x="5664200" y="2590800"/>
            <a:ext cx="914400" cy="457200"/>
          </a:xfrm>
          <a:prstGeom prst="rect">
            <a:avLst/>
          </a:prstGeom>
          <a:noFill/>
        </p:spPr>
        <p:txBody>
          <a:bodyPr vertOverflow="overflow" vert="horz" wrap="square" rtlCol="0" anchor="ctr" anchorCtr="1">
            <a:spAutoFit/>
          </a:bodyPr>
          <a:lstStyle/>
          <a:p>
            <a:pPr algn="ctr"/>
            <a:r>
              <a:rPr lang="en-PK" sz="2400">
                <a:latin typeface="Calibri"/>
                <a:ea typeface="Calibri"/>
                <a:cs typeface="Calibri"/>
              </a:rPr>
              <a:t>30%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6F38959-7CEF-48FC-83C3-578FF029E39E}"/>
              </a:ext>
            </a:extLst>
          </p:cNvPr>
          <p:cNvSpPr txBox="1"/>
          <p:nvPr/>
        </p:nvSpPr>
        <p:spPr>
          <a:xfrm>
            <a:off x="9271000" y="2603500"/>
            <a:ext cx="914400" cy="457200"/>
          </a:xfrm>
          <a:prstGeom prst="rect">
            <a:avLst/>
          </a:prstGeom>
          <a:noFill/>
        </p:spPr>
        <p:txBody>
          <a:bodyPr vertOverflow="overflow" vert="horz" wrap="square" rtlCol="0" anchor="ctr" anchorCtr="1">
            <a:spAutoFit/>
          </a:bodyPr>
          <a:lstStyle/>
          <a:p>
            <a:pPr algn="ctr"/>
            <a:r>
              <a:rPr lang="en-PK" sz="2400">
                <a:latin typeface="Calibri"/>
                <a:ea typeface="Calibri"/>
                <a:cs typeface="Calibri"/>
              </a:rPr>
              <a:t>25%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D969774-DE58-4274-B077-194ED2401DE0}"/>
              </a:ext>
            </a:extLst>
          </p:cNvPr>
          <p:cNvSpPr txBox="1"/>
          <p:nvPr/>
        </p:nvSpPr>
        <p:spPr>
          <a:xfrm>
            <a:off x="914400" y="3810000"/>
            <a:ext cx="3060700" cy="736600"/>
          </a:xfrm>
          <a:prstGeom prst="rect">
            <a:avLst/>
          </a:prstGeom>
          <a:noFill/>
        </p:spPr>
        <p:txBody>
          <a:bodyPr vertOverflow="overflow" vert="horz" wrap="square" rtlCol="0" anchor="b" anchorCtr="1">
            <a:spAutoFit/>
          </a:bodyPr>
          <a:lstStyle/>
          <a:p>
            <a:pPr algn="ctr"/>
            <a:r>
              <a:rPr lang="it-IT" sz="1650">
                <a:solidFill>
                  <a:srgbClr val="7F7F7F"/>
                </a:solidFill>
              </a:rPr>
              <a:t>Higher Automation</a:t>
            </a:r>
            <a:endParaRPr lang="en-PK" sz="1650">
              <a:solidFill>
                <a:srgbClr val="7F7F7F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54E0679-D435-4343-AC27-E2F2EA3BF3F9}"/>
              </a:ext>
            </a:extLst>
          </p:cNvPr>
          <p:cNvSpPr txBox="1"/>
          <p:nvPr/>
        </p:nvSpPr>
        <p:spPr>
          <a:xfrm>
            <a:off x="914400" y="4622800"/>
            <a:ext cx="3060700" cy="1320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ctr"/>
            <a:r>
              <a:rPr lang="en-GB" sz="1600">
                <a:latin typeface="Calibri"/>
                <a:ea typeface="Calibri"/>
                <a:cs typeface="Calibri"/>
              </a:rPr>
              <a:t>More organizations will adopt automated scraping tools to enhance efficiency.</a:t>
            </a:r>
            <a:endParaRPr lang="en-PK" sz="1600">
              <a:latin typeface="Calibri"/>
              <a:ea typeface="Calibri"/>
              <a:cs typeface="Calibri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160B7A3-1FC5-4BD2-B4B3-FF0A47115B99}"/>
              </a:ext>
            </a:extLst>
          </p:cNvPr>
          <p:cNvSpPr txBox="1"/>
          <p:nvPr/>
        </p:nvSpPr>
        <p:spPr>
          <a:xfrm>
            <a:off x="4559300" y="3822700"/>
            <a:ext cx="3060700" cy="736600"/>
          </a:xfrm>
          <a:prstGeom prst="rect">
            <a:avLst/>
          </a:prstGeom>
          <a:noFill/>
        </p:spPr>
        <p:txBody>
          <a:bodyPr vertOverflow="overflow" vert="horz" wrap="square" rtlCol="0" anchor="b" anchorCtr="1">
            <a:spAutoFit/>
          </a:bodyPr>
          <a:lstStyle/>
          <a:p>
            <a:pPr algn="ctr"/>
            <a:r>
              <a:rPr lang="it-IT" sz="1650">
                <a:solidFill>
                  <a:srgbClr val="7F7F7F"/>
                </a:solidFill>
              </a:rPr>
              <a:t>Artificial Intelligence</a:t>
            </a:r>
            <a:endParaRPr lang="en-PK" sz="1650">
              <a:solidFill>
                <a:srgbClr val="7F7F7F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FC2D958-0453-4D8F-9B01-0687477D4053}"/>
              </a:ext>
            </a:extLst>
          </p:cNvPr>
          <p:cNvSpPr txBox="1"/>
          <p:nvPr/>
        </p:nvSpPr>
        <p:spPr>
          <a:xfrm>
            <a:off x="4559300" y="4610100"/>
            <a:ext cx="3060700" cy="1320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ctr"/>
            <a:r>
              <a:rPr lang="en-GB" sz="1600">
                <a:latin typeface="Calibri"/>
                <a:ea typeface="Calibri"/>
                <a:cs typeface="Calibri"/>
              </a:rPr>
              <a:t>Integration of AI for smarter data extraction and processing.</a:t>
            </a:r>
            <a:endParaRPr lang="en-PK" sz="1600">
              <a:latin typeface="Calibri"/>
              <a:ea typeface="Calibri"/>
              <a:cs typeface="Calibri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4EBC3DA-6B14-4426-9437-D8B170BC30EB}"/>
              </a:ext>
            </a:extLst>
          </p:cNvPr>
          <p:cNvSpPr txBox="1"/>
          <p:nvPr/>
        </p:nvSpPr>
        <p:spPr>
          <a:xfrm>
            <a:off x="8204200" y="3810000"/>
            <a:ext cx="3060700" cy="736600"/>
          </a:xfrm>
          <a:prstGeom prst="rect">
            <a:avLst/>
          </a:prstGeom>
          <a:noFill/>
        </p:spPr>
        <p:txBody>
          <a:bodyPr vertOverflow="overflow" vert="horz" wrap="square" rtlCol="0" anchor="b" anchorCtr="1">
            <a:spAutoFit/>
          </a:bodyPr>
          <a:lstStyle/>
          <a:p>
            <a:pPr algn="ctr"/>
            <a:r>
              <a:rPr lang="it-IT" sz="1650">
                <a:solidFill>
                  <a:srgbClr val="7F7F7F"/>
                </a:solidFill>
              </a:rPr>
              <a:t>Privacy Regulations</a:t>
            </a:r>
            <a:endParaRPr lang="en-PK" sz="1650">
              <a:solidFill>
                <a:srgbClr val="7F7F7F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C8DC466-BAB2-45C8-BAF7-4FAB577E80B4}"/>
              </a:ext>
            </a:extLst>
          </p:cNvPr>
          <p:cNvSpPr txBox="1"/>
          <p:nvPr/>
        </p:nvSpPr>
        <p:spPr>
          <a:xfrm>
            <a:off x="8204200" y="4610100"/>
            <a:ext cx="3060700" cy="1320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ctr"/>
            <a:r>
              <a:rPr lang="en-GB" sz="1600">
                <a:latin typeface="Calibri"/>
                <a:ea typeface="Calibri"/>
                <a:cs typeface="Calibri"/>
              </a:rPr>
              <a:t>Growing regulations will influence scraping practices.</a:t>
            </a:r>
            <a:endParaRPr lang="en-PK" sz="1600"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5635354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Midnight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3" Type="http://schemas.microsoft.com/office/2011/relationships/webextension" Target="webextension3.xml"/><Relationship Id="rId2" Type="http://schemas.microsoft.com/office/2011/relationships/webextension" Target="webextension2.xml"/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1">
    <wetp:webextensionref xmlns:r="http://schemas.openxmlformats.org/officeDocument/2006/relationships" r:id="rId1"/>
  </wetp:taskpane>
  <wetp:taskpane dockstate="right" visibility="0" width="350" row="2">
    <wetp:webextensionref xmlns:r="http://schemas.openxmlformats.org/officeDocument/2006/relationships" r:id="rId2"/>
  </wetp:taskpane>
  <wetp:taskpane dockstate="right" visibility="0" width="699" row="3">
    <wetp:webextensionref xmlns:r="http://schemas.openxmlformats.org/officeDocument/2006/relationships" r:id="rId3"/>
  </wetp:taskpane>
</wetp:taskpanes>
</file>

<file path=ppt/webextensions/webextension1.xml><?xml version="1.0" encoding="utf-8"?>
<we:webextension xmlns:we="http://schemas.microsoft.com/office/webextensions/webextension/2010/11" id="{F1BD3948-4A1C-4159-AF0A-0FBAA8C8703D}">
  <we:reference id="wa200005566" version="3.0.0.2" store="en-GB" storeType="OMEX"/>
  <we:alternateReferences>
    <we:reference id="wa200005566" version="3.0.0.2" store="wa200005566" storeType="OMEX"/>
  </we:alternateReferences>
  <we:properties/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2C4EB73F-9B4E-495B-8E81-C5ED8A69EB2A}">
  <we:reference id="wa200005669" version="2.0.0.0" store="en-GB" storeType="OMEX"/>
  <we:alternateReferences>
    <we:reference id="wa200005669" version="2.0.0.0" store="wa200005669" storeType="OMEX"/>
  </we:alternateReferences>
  <we:properties/>
  <we:bindings/>
  <we:snapshot xmlns:r="http://schemas.openxmlformats.org/officeDocument/2006/relationships"/>
</we:webextension>
</file>

<file path=ppt/webextensions/webextension3.xml><?xml version="1.0" encoding="utf-8"?>
<we:webextension xmlns:we="http://schemas.microsoft.com/office/webextensions/webextension/2010/11" id="{7EB9226F-410B-43C5-896B-3C8DA91C7970}">
  <we:reference id="wa104382059" version="2.0.0.0" store="en-GB" storeType="OMEX"/>
  <we:alternateReferences>
    <we:reference id="WA104382059" version="2.0.0.0" store="WA104382059" storeType="OMEX"/>
  </we:alternateReferences>
  <we:properties>
    <we:property name="dotuml.main" value="{&quot;pictures&quot;:[{&quot;name&quot;:&quot;MyUML&quot;,&quot;code&quot;:&quot;UseCaseDiagram [frame=true framecolor=steelblue label=\&quot;Usecase Diagram\&quot;] {\n  actor a as \&quot;Administrator\&quot;\n  usecase u as \&quot;Access logs\&quot;\n  a -- u\n}&quot;}]}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309</Words>
  <Application>Microsoft Office PowerPoint</Application>
  <PresentationFormat>Widescreen</PresentationFormat>
  <Paragraphs>57</Paragraphs>
  <Slides>7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Aptos</vt:lpstr>
      <vt:lpstr>Aptos Display</vt:lpstr>
      <vt:lpstr>Arial</vt:lpstr>
      <vt:lpstr>Calibri</vt:lpstr>
      <vt:lpstr>Calibri Light</vt:lpstr>
      <vt:lpstr>Calibri SemiBold</vt:lpstr>
      <vt:lpstr>Office Theme</vt:lpstr>
      <vt:lpstr>Midnight</vt:lpstr>
      <vt:lpstr>Web Scraping in Python</vt:lpstr>
      <vt:lpstr>Introduction to Scraping</vt:lpstr>
      <vt:lpstr>PowerPoint Presentation</vt:lpstr>
      <vt:lpstr>Basic Scraping Techniques</vt:lpstr>
      <vt:lpstr>Handling Data</vt:lpstr>
      <vt:lpstr>Ethics and Compliance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Atta Muhammad</dc:creator>
  <cp:lastModifiedBy>Atta Muhammad</cp:lastModifiedBy>
  <cp:revision>4</cp:revision>
  <dcterms:created xsi:type="dcterms:W3CDTF">2024-11-05T18:52:07Z</dcterms:created>
  <dcterms:modified xsi:type="dcterms:W3CDTF">2024-11-05T19:10:38Z</dcterms:modified>
</cp:coreProperties>
</file>