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6"/>
  </p:notesMasterIdLst>
  <p:sldIdLst>
    <p:sldId id="27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14/10/2024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10/14/2024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10/14/2024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4, Day 01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Introduction to File Handling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1F86-5126-37A5-99F7-02C6CC97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D1DA-3935-BC12-C29E-42B3CCDB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the basics of </a:t>
            </a:r>
            <a:r>
              <a:rPr lang="en-GB" dirty="0">
                <a:solidFill>
                  <a:srgbClr val="00B0F0"/>
                </a:solidFill>
              </a:rPr>
              <a:t>file handling </a:t>
            </a:r>
            <a:r>
              <a:rPr lang="en-GB" dirty="0"/>
              <a:t>in Python.</a:t>
            </a:r>
          </a:p>
          <a:p>
            <a:endParaRPr lang="en-GB" dirty="0"/>
          </a:p>
          <a:p>
            <a:r>
              <a:rPr lang="en-GB" dirty="0"/>
              <a:t>Learn how to </a:t>
            </a:r>
            <a:r>
              <a:rPr lang="en-GB" dirty="0">
                <a:solidFill>
                  <a:srgbClr val="00B0F0"/>
                </a:solidFill>
              </a:rPr>
              <a:t>open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read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write</a:t>
            </a:r>
            <a:r>
              <a:rPr lang="en-GB" dirty="0"/>
              <a:t>, and </a:t>
            </a:r>
            <a:r>
              <a:rPr lang="en-GB" dirty="0">
                <a:solidFill>
                  <a:srgbClr val="00B0F0"/>
                </a:solidFill>
              </a:rPr>
              <a:t>close</a:t>
            </a:r>
            <a:r>
              <a:rPr lang="en-GB" dirty="0"/>
              <a:t> files.</a:t>
            </a:r>
          </a:p>
          <a:p>
            <a:endParaRPr lang="en-GB" dirty="0"/>
          </a:p>
          <a:p>
            <a:r>
              <a:rPr lang="en-GB" dirty="0"/>
              <a:t>Understand different modes of file handling (</a:t>
            </a:r>
            <a:r>
              <a:rPr lang="en-GB" dirty="0">
                <a:solidFill>
                  <a:srgbClr val="00B050"/>
                </a:solidFill>
              </a:rPr>
              <a:t>read, write, append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Handle </a:t>
            </a:r>
            <a:r>
              <a:rPr lang="en-GB" dirty="0">
                <a:solidFill>
                  <a:srgbClr val="00B0F0"/>
                </a:solidFill>
              </a:rPr>
              <a:t>exceptions</a:t>
            </a:r>
            <a:r>
              <a:rPr lang="en-GB" dirty="0"/>
              <a:t> while working with files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F252-D9CF-9B32-8411-796092F5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9C62-4A39-AAD5-F251-DCC34C65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B5BEC-DA4D-7230-7F0A-F83E2587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60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CB52-07BB-162C-02E5-9902BB51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Why Learn File Handling?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9DE86-DAC1-9EC3-86FD-7642BB9BD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File handling is essential for data storage, processing, and analysis.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Applications</a:t>
            </a:r>
            <a:r>
              <a:rPr lang="en-GB" dirty="0"/>
              <a:t>: Saving user data, logs, reading configurations, and exporting results.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0C53A-9723-DD2D-73CF-09E1D69E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8218E-487A-DE8C-6A4D-5FB5C173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8E773-8F2B-B2B1-3C95-97A3377B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373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5649-32AC-4B1C-7CBF-62498245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and Closing Files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E7F21-25EE-7754-0E8F-3692F58E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Opening a File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Closing a file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9DA55-3713-76EC-AEF7-B5A07E06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82A7-D224-7D76-7689-6195C46F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761F6-FCC6-FED0-CB03-13208F2F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0788DA-E8E4-6EA3-BBBD-94C4E0BB8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681" y="3181315"/>
            <a:ext cx="3486637" cy="49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E0559-23D4-68F6-1540-3C2B4D77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762" y="5017488"/>
            <a:ext cx="1495634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8787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4B06-BAB5-C33F-06F7-084E45B8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File Modes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8F2F-45A1-C1F9-D1A4-7D7C9067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b="1" dirty="0"/>
              <a:t>Read Mode ('r'): </a:t>
            </a:r>
            <a:r>
              <a:rPr lang="en-PK" dirty="0"/>
              <a:t>Opens a file for reading.</a:t>
            </a:r>
            <a:endParaRPr lang="en-US" dirty="0"/>
          </a:p>
          <a:p>
            <a:endParaRPr lang="en-US" dirty="0"/>
          </a:p>
          <a:p>
            <a:r>
              <a:rPr lang="en-PK" b="1" dirty="0"/>
              <a:t>Write Mode ('w'): </a:t>
            </a:r>
            <a:r>
              <a:rPr lang="en-PK" dirty="0"/>
              <a:t>Opens a file for writing (overwrites content).</a:t>
            </a:r>
            <a:endParaRPr lang="en-US" dirty="0"/>
          </a:p>
          <a:p>
            <a:endParaRPr lang="en-US" dirty="0"/>
          </a:p>
          <a:p>
            <a:r>
              <a:rPr lang="en-PK" b="1" dirty="0"/>
              <a:t>Append Mode ('a'): </a:t>
            </a:r>
            <a:r>
              <a:rPr lang="en-PK" dirty="0"/>
              <a:t>Opens a file for appending new content.</a:t>
            </a:r>
            <a:endParaRPr lang="en-US" dirty="0"/>
          </a:p>
          <a:p>
            <a:endParaRPr lang="en-US" dirty="0"/>
          </a:p>
          <a:p>
            <a:r>
              <a:rPr lang="en-PK" b="1" dirty="0"/>
              <a:t>Binary Mode ('b'): </a:t>
            </a:r>
            <a:r>
              <a:rPr lang="en-PK" dirty="0"/>
              <a:t>Used for binary files (e.g., images).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76229-FB45-7C95-4FE9-0A03A12D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0415-7B52-135B-5FCD-284B201D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0120-A7F3-6FFF-DBB0-FCF01F0E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C1C59B-C27D-BDB3-B893-6A375281A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Mode (</a:t>
            </a:r>
            <a:r>
              <a:rPr kumimoji="0" lang="en-PK" altLang="en-P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'r'</a:t>
            </a:r>
            <a:r>
              <a:rPr kumimoji="0" lang="en-PK" altLang="en-PK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Opens a file for reading.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Mode (</a:t>
            </a:r>
            <a:r>
              <a:rPr kumimoji="0" lang="en-PK" altLang="en-P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'w'</a:t>
            </a:r>
            <a:r>
              <a:rPr kumimoji="0" lang="en-PK" altLang="en-PK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Opens a file for writing (overwrites content).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Append Mode (</a:t>
            </a:r>
            <a:r>
              <a:rPr kumimoji="0" lang="en-PK" altLang="en-P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'a'</a:t>
            </a:r>
            <a:r>
              <a:rPr kumimoji="0" lang="en-PK" altLang="en-PK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Opens a file for appending new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Mode (</a:t>
            </a:r>
            <a:r>
              <a:rPr kumimoji="0" lang="en-PK" altLang="en-P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'b'</a:t>
            </a:r>
            <a:r>
              <a:rPr kumimoji="0" lang="en-PK" altLang="en-PK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for binary files (e.g., images). </a:t>
            </a:r>
          </a:p>
        </p:txBody>
      </p:sp>
    </p:spTree>
    <p:extLst>
      <p:ext uri="{BB962C8B-B14F-4D97-AF65-F5344CB8AC3E}">
        <p14:creationId xmlns:p14="http://schemas.microsoft.com/office/powerpoint/2010/main" val="184129972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9204-5F72-6719-F5B3-C9E68DDE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Files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DC5B-CD53-85B9-EE2D-2364DB180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Reading  the Entire File: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Reading Line by Line: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2555-0171-0F65-3FE6-70FADE0B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6C7FE-90E4-7E70-F4C7-91EF9298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00771-0609-F67D-E030-6E2FA80D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CD9F62-2EAA-C026-7332-664207FE7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181" y="3134719"/>
            <a:ext cx="3362794" cy="1057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7AA80D-E1E5-AA97-3CD4-2FC097803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918" y="4998416"/>
            <a:ext cx="355332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6115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206E-887C-89BE-56BA-66EF46B4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Files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CE5A-8CF4-0110-268E-258168BC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Writing Data to a File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Appending Data to a file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0191C-00BB-AE9D-6003-81E67358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89280-E9F5-BCE3-3E39-F720404E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AA34-B775-4CF9-B5FD-31519CB3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A05BD-0215-B466-EAE6-7827D422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80" y="2792496"/>
            <a:ext cx="3639058" cy="8573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0CB111-BF63-5E10-5987-18F13487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0" y="4981981"/>
            <a:ext cx="3982006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713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C318-85FC-3A7D-B888-70EC66F7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2193-889E-2F54-019C-DBD621F8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Task: Write a Python program that reads the content of a file named </a:t>
            </a:r>
            <a:r>
              <a:rPr lang="en-GB" b="1" dirty="0"/>
              <a:t>students.txt </a:t>
            </a:r>
            <a:r>
              <a:rPr lang="en-GB" dirty="0"/>
              <a:t>and </a:t>
            </a:r>
            <a:r>
              <a:rPr lang="en-GB" dirty="0">
                <a:solidFill>
                  <a:srgbClr val="00B0F0"/>
                </a:solidFill>
              </a:rPr>
              <a:t>prints</a:t>
            </a:r>
            <a:r>
              <a:rPr lang="en-GB" dirty="0"/>
              <a:t> each line.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8491D-AFC1-C430-7764-DDCA13EA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FE97B-C742-EF60-F8A3-DF0BD2E7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F15FC-6471-1D1A-C15F-251CCCD2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7C1F8A96-55B6-83D9-52E9-A9058739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333" y="3428933"/>
            <a:ext cx="3591333" cy="247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57505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D117-028E-A5E0-9ABB-568F3A21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Using </a:t>
            </a:r>
            <a:r>
              <a:rPr lang="en-PK" dirty="0">
                <a:solidFill>
                  <a:srgbClr val="00B0F0"/>
                </a:solidFill>
              </a:rPr>
              <a:t>with</a:t>
            </a:r>
            <a:r>
              <a:rPr lang="en-PK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94DF-FD9F-8684-F843-2E2D5B4FA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Advantage</a:t>
            </a:r>
            <a:r>
              <a:rPr lang="en-GB" dirty="0"/>
              <a:t>: Automatically handles file closing, even in case of exceptions.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40400-763B-77DD-7DA6-6044B594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698F4-FA41-786C-864C-546975D6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90CE9-9D8C-1DBC-C5AD-2D81342D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824D3F-BEF0-C41A-A705-74A8B196E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42" y="3019367"/>
            <a:ext cx="5307387" cy="95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6568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9A75-EBCC-D32B-D3F6-665217AD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File Exceptions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5880-992E-2407-E10D-E0EE099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Catching Errors: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BCE2-BF5A-AFD0-A621-F7290AEA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C04A-3901-6505-8F33-98C2FEF4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CB30-535F-701D-FF8F-DC762BC2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18C762-A500-A8A4-BF5B-D4C5F2D5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08" y="2872145"/>
            <a:ext cx="6363410" cy="139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1360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3531-4539-863A-36A3-CD447107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Pointer and </a:t>
            </a:r>
            <a:r>
              <a:rPr lang="en-GB" dirty="0">
                <a:solidFill>
                  <a:srgbClr val="00B0F0"/>
                </a:solidFill>
              </a:rPr>
              <a:t>tell</a:t>
            </a:r>
            <a:r>
              <a:rPr lang="en-GB" dirty="0"/>
              <a:t>() &amp; </a:t>
            </a:r>
            <a:r>
              <a:rPr lang="en-GB" dirty="0">
                <a:solidFill>
                  <a:srgbClr val="00B0F0"/>
                </a:solidFill>
              </a:rPr>
              <a:t>seek</a:t>
            </a:r>
            <a:r>
              <a:rPr lang="en-GB" dirty="0"/>
              <a:t>()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E5107-1FBA-1C7B-7C9C-B4CD2473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Understanding the File Pointer</a:t>
            </a:r>
            <a:r>
              <a:rPr lang="en-GB" dirty="0"/>
              <a:t>: Tracks the current position in the file.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9777-3C02-2A7A-D21C-EBC07F69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6E0BA-AD4C-42C7-C5BC-DD1D03AB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F9D9D-DBF1-8EA7-0A3F-F846E405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49D2DD-B31F-044F-6B4D-891C8874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42" y="3206262"/>
            <a:ext cx="4084358" cy="98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5346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080" name="Straight Connector 307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1" name="Straight Connector 308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2" name="Straight Connector 308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3" name="Straight Connector 308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4" name="Straight Connector 308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5" name="Straight Connector 308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6" name="Straight Connector 308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7" name="Straight Connector 308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8" name="Straight Connector 308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9" name="Straight Connector 308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0" name="Straight Connector 308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1" name="Straight Connector 309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2" name="Straight Connector 309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3" name="Straight Connector 309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4" name="Straight Connector 309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6" name="Straight Connector 309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7" name="Straight Connector 309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8" name="Straight Connector 309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9" name="Straight Connector 309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5" name="Straight Connector 310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6" name="Straight Connector 310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7" name="Straight Connector 310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8" name="Straight Connector 310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Straight Connector 310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2" name="Right Triangle 311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114" name="Rectangle 3113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116" name="Group 3115">
            <a:extLst>
              <a:ext uri="{FF2B5EF4-FFF2-40B4-BE49-F238E27FC236}">
                <a16:creationId xmlns:a16="http://schemas.microsoft.com/office/drawing/2014/main" id="{2805421D-23CB-40F5-9098-D716667E5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117" name="Straight Connector 3116">
              <a:extLst>
                <a:ext uri="{FF2B5EF4-FFF2-40B4-BE49-F238E27FC236}">
                  <a16:creationId xmlns:a16="http://schemas.microsoft.com/office/drawing/2014/main" id="{EBEDFB19-5DE1-4CA8-842F-CF9657C9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8" name="Straight Connector 3117">
              <a:extLst>
                <a:ext uri="{FF2B5EF4-FFF2-40B4-BE49-F238E27FC236}">
                  <a16:creationId xmlns:a16="http://schemas.microsoft.com/office/drawing/2014/main" id="{8B04A073-94DC-4578-A9E2-F2E11D91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9" name="Straight Connector 3118">
              <a:extLst>
                <a:ext uri="{FF2B5EF4-FFF2-40B4-BE49-F238E27FC236}">
                  <a16:creationId xmlns:a16="http://schemas.microsoft.com/office/drawing/2014/main" id="{77F7BBB2-E3AC-457B-807F-64236CF3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0" name="Straight Connector 3119">
              <a:extLst>
                <a:ext uri="{FF2B5EF4-FFF2-40B4-BE49-F238E27FC236}">
                  <a16:creationId xmlns:a16="http://schemas.microsoft.com/office/drawing/2014/main" id="{30853883-33B5-4C34-9FBE-49F74C50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1" name="Straight Connector 3120">
              <a:extLst>
                <a:ext uri="{FF2B5EF4-FFF2-40B4-BE49-F238E27FC236}">
                  <a16:creationId xmlns:a16="http://schemas.microsoft.com/office/drawing/2014/main" id="{23148E7B-B5D6-4263-9D85-5D3DFB61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2" name="Straight Connector 3121">
              <a:extLst>
                <a:ext uri="{FF2B5EF4-FFF2-40B4-BE49-F238E27FC236}">
                  <a16:creationId xmlns:a16="http://schemas.microsoft.com/office/drawing/2014/main" id="{3967EC22-EFE1-454E-8FD1-12FFCD9D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3" name="Straight Connector 3122">
              <a:extLst>
                <a:ext uri="{FF2B5EF4-FFF2-40B4-BE49-F238E27FC236}">
                  <a16:creationId xmlns:a16="http://schemas.microsoft.com/office/drawing/2014/main" id="{549EB4AF-9931-410A-9F68-C24B6C39E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4" name="Straight Connector 3123">
              <a:extLst>
                <a:ext uri="{FF2B5EF4-FFF2-40B4-BE49-F238E27FC236}">
                  <a16:creationId xmlns:a16="http://schemas.microsoft.com/office/drawing/2014/main" id="{64941F79-4D72-496E-AE99-73B9E1F72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5" name="Straight Connector 3124">
              <a:extLst>
                <a:ext uri="{FF2B5EF4-FFF2-40B4-BE49-F238E27FC236}">
                  <a16:creationId xmlns:a16="http://schemas.microsoft.com/office/drawing/2014/main" id="{2D4E79B3-CB64-439D-B1FC-FC4BF47CD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6" name="Straight Connector 3125">
              <a:extLst>
                <a:ext uri="{FF2B5EF4-FFF2-40B4-BE49-F238E27FC236}">
                  <a16:creationId xmlns:a16="http://schemas.microsoft.com/office/drawing/2014/main" id="{192598D1-4713-4DC0-BD6B-7CC594357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7" name="Straight Connector 3126">
              <a:extLst>
                <a:ext uri="{FF2B5EF4-FFF2-40B4-BE49-F238E27FC236}">
                  <a16:creationId xmlns:a16="http://schemas.microsoft.com/office/drawing/2014/main" id="{F5EB19DC-1DB5-4675-A6DE-6360F0AD7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8" name="Straight Connector 3127">
              <a:extLst>
                <a:ext uri="{FF2B5EF4-FFF2-40B4-BE49-F238E27FC236}">
                  <a16:creationId xmlns:a16="http://schemas.microsoft.com/office/drawing/2014/main" id="{E05E56D6-1D38-4913-B543-41ECE2C46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9" name="Straight Connector 3128">
              <a:extLst>
                <a:ext uri="{FF2B5EF4-FFF2-40B4-BE49-F238E27FC236}">
                  <a16:creationId xmlns:a16="http://schemas.microsoft.com/office/drawing/2014/main" id="{BF6ACC1A-6B97-4B0B-A036-F81890623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0" name="Straight Connector 3129">
              <a:extLst>
                <a:ext uri="{FF2B5EF4-FFF2-40B4-BE49-F238E27FC236}">
                  <a16:creationId xmlns:a16="http://schemas.microsoft.com/office/drawing/2014/main" id="{72197E3E-AC71-447A-A5F1-AC337FD73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1" name="Straight Connector 3130">
              <a:extLst>
                <a:ext uri="{FF2B5EF4-FFF2-40B4-BE49-F238E27FC236}">
                  <a16:creationId xmlns:a16="http://schemas.microsoft.com/office/drawing/2014/main" id="{337D0DA4-9FA9-4502-8296-6DD8842C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2" name="Straight Connector 3131">
              <a:extLst>
                <a:ext uri="{FF2B5EF4-FFF2-40B4-BE49-F238E27FC236}">
                  <a16:creationId xmlns:a16="http://schemas.microsoft.com/office/drawing/2014/main" id="{EA94CC6E-AA45-4AFF-8EC6-17FE4217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3" name="Straight Connector 3132">
              <a:extLst>
                <a:ext uri="{FF2B5EF4-FFF2-40B4-BE49-F238E27FC236}">
                  <a16:creationId xmlns:a16="http://schemas.microsoft.com/office/drawing/2014/main" id="{B330A0C5-0C67-4AC8-9F75-D63277BFF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4" name="Straight Connector 3133">
              <a:extLst>
                <a:ext uri="{FF2B5EF4-FFF2-40B4-BE49-F238E27FC236}">
                  <a16:creationId xmlns:a16="http://schemas.microsoft.com/office/drawing/2014/main" id="{310410FE-F829-4EB2-98EE-397D51FC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5" name="Straight Connector 3134">
              <a:extLst>
                <a:ext uri="{FF2B5EF4-FFF2-40B4-BE49-F238E27FC236}">
                  <a16:creationId xmlns:a16="http://schemas.microsoft.com/office/drawing/2014/main" id="{AE2C1BE1-F256-4B52-BB5D-50C84668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Straight Connector 3135">
              <a:extLst>
                <a:ext uri="{FF2B5EF4-FFF2-40B4-BE49-F238E27FC236}">
                  <a16:creationId xmlns:a16="http://schemas.microsoft.com/office/drawing/2014/main" id="{1E104CCA-10BA-45D1-A504-EF3AD7334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7" name="Straight Connector 3136">
              <a:extLst>
                <a:ext uri="{FF2B5EF4-FFF2-40B4-BE49-F238E27FC236}">
                  <a16:creationId xmlns:a16="http://schemas.microsoft.com/office/drawing/2014/main" id="{06E7DBD2-8DAE-45A0-9A8C-331329107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8" name="Straight Connector 3137">
              <a:extLst>
                <a:ext uri="{FF2B5EF4-FFF2-40B4-BE49-F238E27FC236}">
                  <a16:creationId xmlns:a16="http://schemas.microsoft.com/office/drawing/2014/main" id="{2AD51F90-1778-4825-87B9-E04A473A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Straight Connector 3138">
              <a:extLst>
                <a:ext uri="{FF2B5EF4-FFF2-40B4-BE49-F238E27FC236}">
                  <a16:creationId xmlns:a16="http://schemas.microsoft.com/office/drawing/2014/main" id="{18B4C11C-68F4-4AAA-B3C6-99B339FD5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0" name="Straight Connector 3139">
              <a:extLst>
                <a:ext uri="{FF2B5EF4-FFF2-40B4-BE49-F238E27FC236}">
                  <a16:creationId xmlns:a16="http://schemas.microsoft.com/office/drawing/2014/main" id="{6F65B701-4451-455A-A72C-968591A5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1" name="Straight Connector 3140">
              <a:extLst>
                <a:ext uri="{FF2B5EF4-FFF2-40B4-BE49-F238E27FC236}">
                  <a16:creationId xmlns:a16="http://schemas.microsoft.com/office/drawing/2014/main" id="{A8E9A4D7-E804-4F7D-B46F-9182BE11D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2" name="Straight Connector 3141">
              <a:extLst>
                <a:ext uri="{FF2B5EF4-FFF2-40B4-BE49-F238E27FC236}">
                  <a16:creationId xmlns:a16="http://schemas.microsoft.com/office/drawing/2014/main" id="{8522ECDE-9CC3-4260-A85A-1575376E7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3" name="Straight Connector 3142">
              <a:extLst>
                <a:ext uri="{FF2B5EF4-FFF2-40B4-BE49-F238E27FC236}">
                  <a16:creationId xmlns:a16="http://schemas.microsoft.com/office/drawing/2014/main" id="{E940BF09-5C37-4ABA-919D-A22281C3A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4" name="Straight Connector 3143">
              <a:extLst>
                <a:ext uri="{FF2B5EF4-FFF2-40B4-BE49-F238E27FC236}">
                  <a16:creationId xmlns:a16="http://schemas.microsoft.com/office/drawing/2014/main" id="{AECA37BD-68D3-427B-9FDA-2ADAFCF5D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Straight Connector 3144">
              <a:extLst>
                <a:ext uri="{FF2B5EF4-FFF2-40B4-BE49-F238E27FC236}">
                  <a16:creationId xmlns:a16="http://schemas.microsoft.com/office/drawing/2014/main" id="{9C5F91D5-B215-42B0-81E5-7CE4263BD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6" name="Straight Connector 3145">
              <a:extLst>
                <a:ext uri="{FF2B5EF4-FFF2-40B4-BE49-F238E27FC236}">
                  <a16:creationId xmlns:a16="http://schemas.microsoft.com/office/drawing/2014/main" id="{0C21ED72-60A2-439D-8DD2-85900BA4C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7" name="Straight Connector 3146">
              <a:extLst>
                <a:ext uri="{FF2B5EF4-FFF2-40B4-BE49-F238E27FC236}">
                  <a16:creationId xmlns:a16="http://schemas.microsoft.com/office/drawing/2014/main" id="{E853A371-AB64-4677-9E5A-FE61C0E04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49" name="Right Triangle 3148">
            <a:extLst>
              <a:ext uri="{FF2B5EF4-FFF2-40B4-BE49-F238E27FC236}">
                <a16:creationId xmlns:a16="http://schemas.microsoft.com/office/drawing/2014/main" id="{B3093A12-B759-4321-96FD-060689E3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7291541" y="-28737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081F0-2FE0-B71A-5F6F-A0564BB6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120" y="722903"/>
            <a:ext cx="4415630" cy="24607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Hands-On 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66EB-2A8A-4000-2782-0D7A4A47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120" y="3428997"/>
            <a:ext cx="4415630" cy="230663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/>
              <a:t>Task</a:t>
            </a:r>
            <a:r>
              <a:rPr lang="en-US" sz="2400"/>
              <a:t>: Write a Python program that writes user input to a file and then reads it back.</a:t>
            </a:r>
          </a:p>
        </p:txBody>
      </p:sp>
      <p:pic>
        <p:nvPicPr>
          <p:cNvPr id="3074" name="Picture 2" descr="A cartoon of a cat&#10;&#10;Description automatically generated">
            <a:extLst>
              <a:ext uri="{FF2B5EF4-FFF2-40B4-BE49-F238E27FC236}">
                <a16:creationId xmlns:a16="http://schemas.microsoft.com/office/drawing/2014/main" id="{BC851557-CA1C-82A0-7513-081B7AEC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212" y="724157"/>
            <a:ext cx="5414891" cy="541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5EF54-FBA6-1E71-2543-B319960D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054D-0D1C-B944-83F5-9D65B2E0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CF25B-1454-44EC-9C7F-85A97ABC4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58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30EA-2475-E8F7-BBE2-4051F871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and Writing Binary Files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03B13-78B3-4234-0ACA-47E238848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Binary Files</a:t>
            </a:r>
            <a:r>
              <a:rPr lang="en-GB" dirty="0"/>
              <a:t>: Used to handle non-text files such as images, videos, or executables.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C8B6-2BF9-D499-DEBD-11785888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642A-3380-0976-DB57-B0C60F7B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B824-BCF5-4006-6B01-E0F3F733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8D799B-C289-1F46-7ABE-9AB5D03FD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583" y="2901206"/>
            <a:ext cx="4439270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173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2CB2-BDE9-DCE5-36B0-F4986E542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F4AE-42B8-02F1-D104-17D5A315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Task</a:t>
            </a:r>
            <a:r>
              <a:rPr lang="en-GB" sz="2400" dirty="0"/>
              <a:t>: Create a program that reads from a file </a:t>
            </a:r>
            <a:r>
              <a:rPr lang="en-GB" sz="2400" dirty="0">
                <a:solidFill>
                  <a:srgbClr val="00B0F0"/>
                </a:solidFill>
              </a:rPr>
              <a:t>data.txt </a:t>
            </a:r>
            <a:r>
              <a:rPr lang="en-GB" sz="2400" dirty="0"/>
              <a:t>and writes the reversed content to a new file </a:t>
            </a:r>
            <a:r>
              <a:rPr lang="en-GB" sz="2400" dirty="0">
                <a:solidFill>
                  <a:srgbClr val="00B0F0"/>
                </a:solidFill>
              </a:rPr>
              <a:t>reversed.txt</a:t>
            </a:r>
            <a:endParaRPr lang="en-PK" sz="2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0CD6D-BA55-C271-88B4-E0109F0E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953A4-53CE-961E-FE2B-C90A35C4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8433-0476-2670-3AE0-3828F5FD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CB094B3-DCDE-5FAD-EFC6-9D4723165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273" y="2991050"/>
            <a:ext cx="3085234" cy="308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7120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A9B1-82F2-DF12-D56D-0800498B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Recap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7FD8-D647-3A2D-AE97-D50B09C1B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Files can be opened in different modes (</a:t>
            </a:r>
            <a:r>
              <a:rPr lang="en-GB" dirty="0">
                <a:solidFill>
                  <a:srgbClr val="00B0F0"/>
                </a:solidFill>
              </a:rPr>
              <a:t>r, w, a, b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Always close files or use the </a:t>
            </a:r>
            <a:r>
              <a:rPr lang="en-GB" dirty="0">
                <a:solidFill>
                  <a:srgbClr val="00B0F0"/>
                </a:solidFill>
              </a:rPr>
              <a:t>with</a:t>
            </a:r>
            <a:r>
              <a:rPr lang="en-GB" dirty="0"/>
              <a:t> statement to handle them automatically.</a:t>
            </a:r>
          </a:p>
          <a:p>
            <a:endParaRPr lang="en-GB" dirty="0"/>
          </a:p>
          <a:p>
            <a:r>
              <a:rPr lang="en-GB" dirty="0">
                <a:solidFill>
                  <a:srgbClr val="00B0F0"/>
                </a:solidFill>
              </a:rPr>
              <a:t>Exception handling </a:t>
            </a:r>
            <a:r>
              <a:rPr lang="en-GB" dirty="0"/>
              <a:t>is important to manage errors during </a:t>
            </a:r>
            <a:r>
              <a:rPr lang="en-GB" dirty="0">
                <a:solidFill>
                  <a:srgbClr val="00B0F0"/>
                </a:solidFill>
              </a:rPr>
              <a:t>file</a:t>
            </a:r>
            <a:r>
              <a:rPr lang="en-GB" dirty="0"/>
              <a:t> operations.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E0235-3109-2D5B-03DD-749E5865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9F151-B052-77FB-AE0E-80CD57B7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B256-F90D-C490-006A-8C444FAB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4245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805421D-23CB-40F5-9098-D716667E5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EDFB19-5DE1-4CA8-842F-CF9657C9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B04A073-94DC-4578-A9E2-F2E11D91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F7BBB2-E3AC-457B-807F-64236CF3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0853883-33B5-4C34-9FBE-49F74C50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148E7B-B5D6-4263-9D85-5D3DFB61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967EC22-EFE1-454E-8FD1-12FFCD9D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9EB4AF-9931-410A-9F68-C24B6C39E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941F79-4D72-496E-AE99-73B9E1F72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4E79B3-CB64-439D-B1FC-FC4BF47CD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92598D1-4713-4DC0-BD6B-7CC594357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5EB19DC-1DB5-4675-A6DE-6360F0AD7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05E56D6-1D38-4913-B543-41ECE2C46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F6ACC1A-6B97-4B0B-A036-F81890623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2197E3E-AC71-447A-A5F1-AC337FD73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37D0DA4-9FA9-4502-8296-6DD8842C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A94CC6E-AA45-4AFF-8EC6-17FE4217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330A0C5-0C67-4AC8-9F75-D63277BFF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0410FE-F829-4EB2-98EE-397D51FC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E2C1BE1-F256-4B52-BB5D-50C84668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E104CCA-10BA-45D1-A504-EF3AD7334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7DBD2-8DAE-45A0-9A8C-331329107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D51F90-1778-4825-87B9-E04A473A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8B4C11C-68F4-4AAA-B3C6-99B339FD5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65B701-4451-455A-A72C-968591A5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E9A4D7-E804-4F7D-B46F-9182BE11D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522ECDE-9CC3-4260-A85A-1575376E7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940BF09-5C37-4ABA-919D-A22281C3A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CA37BD-68D3-427B-9FDA-2ADAFCF5D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C5F91D5-B215-42B0-81E5-7CE4263BD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21ED72-60A2-439D-8DD2-85900BA4C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53A371-AB64-4677-9E5A-FE61C0E04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B3093A12-B759-4321-96FD-060689E3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7291541" y="-28737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DAB1A-AF34-38F9-C88E-3ADE8045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120" y="722903"/>
            <a:ext cx="4415630" cy="24607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Questions ?</a:t>
            </a:r>
          </a:p>
        </p:txBody>
      </p:sp>
      <p:pic>
        <p:nvPicPr>
          <p:cNvPr id="10" name="Graphic 9" descr="Question mark">
            <a:extLst>
              <a:ext uri="{FF2B5EF4-FFF2-40B4-BE49-F238E27FC236}">
                <a16:creationId xmlns:a16="http://schemas.microsoft.com/office/drawing/2014/main" id="{6C25BCF6-A152-1AEF-8446-E5BCF792A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189" y="725413"/>
            <a:ext cx="5414891" cy="54148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8198-83E7-3DA8-D7A9-18BE676C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D13B-FD75-F739-7C5C-EBA288F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8B2F6-A30B-7E20-5CE1-E6B2401A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6054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CFE0D9-1FCE-31C8-BE9B-66D6B00E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399303"/>
            <a:ext cx="10501177" cy="1401231"/>
          </a:xfrm>
        </p:spPr>
        <p:txBody>
          <a:bodyPr/>
          <a:lstStyle/>
          <a:p>
            <a:pPr algn="ctr"/>
            <a:r>
              <a:rPr lang="en-US" dirty="0"/>
              <a:t>MATCH THE SOLUTIONS 😒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C797-FE88-9DA4-5D64-F3A0B0A4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4FC4A-0E7B-AEE7-FB64-BBDD7AAA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8E56-8393-38E6-079E-83DEB68E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11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6C82-17D1-3FC3-5CD0-E42B7EB1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🫥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05141-C720-9D46-140D-C9B49B1F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5ED12-5076-67C7-1336-83C72A72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2BFB0-4A09-FDB3-CFB3-4497C54B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DD214-DA04-88FA-2D80-9AA1DEFF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8" y="2606805"/>
            <a:ext cx="9066903" cy="213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3200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DD9E7-0957-E5FC-C0B5-E0A600F7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Exercise 🧑‍💻</a:t>
            </a:r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A57E88F-C509-AEC6-BFD9-3F47F6B8F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727" y="2884564"/>
            <a:ext cx="6294283" cy="32572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95A24-E021-97D7-7120-75D62D39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A6C66-8CC2-A942-DA0A-9F24E519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DD44B-8D0B-71FA-4647-12736CF2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2676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22E0-7CA6-C69C-FF1C-FBF53E45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💎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53958-A6BB-2C6D-FBD4-496CC978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40963-2EA8-4C2E-726E-A34C956C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992E3-A86F-1766-BA26-51FF900D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C69B0B-E7F4-45AC-3C06-E7E799628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49" y="2429647"/>
            <a:ext cx="6830378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1440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e1f2001-7a2a-475f-99ed-f287c302d85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2932</TotalTime>
  <Words>555</Words>
  <Application>Microsoft Office PowerPoint</Application>
  <PresentationFormat>Widescreen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Arial Unicode MS</vt:lpstr>
      <vt:lpstr>Grandview</vt:lpstr>
      <vt:lpstr>Wingdings</vt:lpstr>
      <vt:lpstr>CosineVTI</vt:lpstr>
      <vt:lpstr>PowerPoint Presentation</vt:lpstr>
      <vt:lpstr>Python Programming Bootcamp - Week 4, Day 01</vt:lpstr>
      <vt:lpstr>Learning Objectives</vt:lpstr>
      <vt:lpstr>Why Learn File Handling?</vt:lpstr>
      <vt:lpstr>Opening and Closing Files</vt:lpstr>
      <vt:lpstr>File Modes in Python</vt:lpstr>
      <vt:lpstr>Reading Files</vt:lpstr>
      <vt:lpstr>Writing to Files</vt:lpstr>
      <vt:lpstr>Hands-On Exercise 1</vt:lpstr>
      <vt:lpstr>Using with Statement</vt:lpstr>
      <vt:lpstr>Handling File Exceptions</vt:lpstr>
      <vt:lpstr>File Pointer and tell() &amp; seek() Methods</vt:lpstr>
      <vt:lpstr>Hands-On Exercise 2</vt:lpstr>
      <vt:lpstr>Reading and Writing Binary Files</vt:lpstr>
      <vt:lpstr>Hands-On Group Activity</vt:lpstr>
      <vt:lpstr>Recap and Key Takeaways</vt:lpstr>
      <vt:lpstr>Questions ?</vt:lpstr>
      <vt:lpstr>MATCH THE SOLUTIONS 😒</vt:lpstr>
      <vt:lpstr>EXERCISE 🫥</vt:lpstr>
      <vt:lpstr>Exercise 🧑‍💻</vt:lpstr>
      <vt:lpstr>Exercise 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494</cp:revision>
  <dcterms:created xsi:type="dcterms:W3CDTF">2024-09-22T16:39:41Z</dcterms:created>
  <dcterms:modified xsi:type="dcterms:W3CDTF">2024-10-14T17:59:37Z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