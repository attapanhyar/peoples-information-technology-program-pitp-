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4"/>
  </p:sldMasterIdLst>
  <p:notesMasterIdLst>
    <p:notesMasterId r:id="rId24"/>
  </p:notesMasterIdLst>
  <p:sldIdLst>
    <p:sldId id="276" r:id="rId5"/>
    <p:sldId id="25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7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B9B8A-C9F4-45A9-946A-0C2A265149BA}" type="datetimeFigureOut">
              <a:rPr lang="en-PK" smtClean="0"/>
              <a:t>21/10/2024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9182C-4EB3-44EA-9D91-AE666E2C70B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7173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FFC5-F979-4BDB-AB3F-09CD0BB94893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1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4E612-C65F-E86B-C033-C74E10C5F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4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EDE2-8534-48BF-9CA6-D54B64FC3663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3816A04-1E1A-A37B-B73F-D58381522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5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71838-1DAD-4964-A8D2-EDEBDDADA2BA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73B481-ACD9-3F79-2DD1-4E69317CA3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3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5A583B43-2D19-41E3-ADB6-6E49D8A9C652}" type="datetime1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D762F6-9A6B-F123-7BA4-D26132F134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7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C769D5-36F8-AEAA-973C-3B0AA9495C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4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B6ED-9004-4A71-8778-868A297C4223}" type="datetime1">
              <a:rPr lang="en-US" smtClean="0"/>
              <a:t>10/21/2024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0303414-A318-B16A-813B-5FE0C2A9B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9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E5DEB-5D91-49B1-B35D-D9EF8CFD3798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257B711-A0E5-3E59-6F6F-EC8B7DFCAA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7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A3221-1A1D-4D6B-BF82-669EAF0E1547}" type="datetime1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E6E5774-C41A-3566-565A-6CC03B7446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9002-3737-4861-8D92-764E24EAAD04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BE428-415A-1F91-83CF-9AB56205C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4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16911-A92B-4B7F-93FD-47BD9A1E4D48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B53FAEC-333B-D11A-6998-5FB685BFB3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1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E34E7-6DA0-4AC7-AC94-EDF665FC0F13}" type="datetime1">
              <a:rPr lang="en-US" smtClean="0"/>
              <a:t>10/21/2024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46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attapanhyar@quest.edu.pk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CC102AE-2C87-45D1-8671-2DB35F5D4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04F2B13-634E-4981-8787-53C36848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4A2770F-EC37-4C6D-AF2E-4C627D590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F23D8E-4428-4843-9AED-EB6F21188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2EF4188-48A8-4B39-ABE7-0BB04E010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E0A877F-1F7D-4FF1-A9FC-E241322BD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098F9C-4191-478C-BA3F-F91330FA2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1B8C79F-AE9B-4C98-80BA-22D6CB7996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BB4B37A-4DA6-4751-8A4F-BDD49DE826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BDE79CE-1525-4410-9E5E-943FFF3FB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A66FA12-7AC6-45DB-851F-C05B980B4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8F6784E-F83E-4CE8-A535-394503ABE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46C37B5-5333-46F6-A306-A5DA69EA4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ED81EBC-F02B-4676-BD19-32CE34494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12D4645-1213-45DD-9C45-EF3DB6320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BE23053-C167-49AA-8930-08DD2C0BA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2A32F82-F4F6-4868-9657-99747918F4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5ED0F55-FDB0-4995-8333-D9231BDC7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1BEC92D-46AB-4AA4-A94B-88496BE48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32E4197-8221-4F7C-92CE-CD83D0A9D4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BDB4C14-DE46-4F94-B655-80B6ACCF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6515E4D-1037-431C-BCD9-3E724CBFF1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CBF35AE-07C8-48AF-9CD0-62C0F8908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B698526-9971-4674-81FD-285F4E558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200789B-A8DE-41E5-B0F0-8FE0EE357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43EDEFF-CCCD-45BA-AC62-3D5E672037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D9B8D6D-E48B-49A5-A953-D4E530AB6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AFFBE7D-6816-492B-A638-798A78CDD1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45F3BEE-01E6-4031-A09D-B2408B62B5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376FC9D-3995-440A-9BAA-4EBA06719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7593D24-05C3-486E-B1EE-7E8DE3A7E3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A541A72-3242-4354-B1FF-3FB97487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B6725EBD-B219-082D-53CA-FB90A507D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69" b="19312"/>
          <a:stretch/>
        </p:blipFill>
        <p:spPr>
          <a:xfrm>
            <a:off x="1" y="1552"/>
            <a:ext cx="11973596" cy="6856448"/>
          </a:xfrm>
          <a:custGeom>
            <a:avLst/>
            <a:gdLst/>
            <a:ahLst/>
            <a:cxnLst/>
            <a:rect l="l" t="t" r="r" b="b"/>
            <a:pathLst>
              <a:path w="12168757" h="6856448">
                <a:moveTo>
                  <a:pt x="0" y="0"/>
                </a:moveTo>
                <a:lnTo>
                  <a:pt x="11275572" y="0"/>
                </a:lnTo>
                <a:lnTo>
                  <a:pt x="11279725" y="311311"/>
                </a:lnTo>
                <a:cubicBezTo>
                  <a:pt x="11362648" y="3365106"/>
                  <a:pt x="12638651" y="3558944"/>
                  <a:pt x="11981282" y="6618698"/>
                </a:cubicBezTo>
                <a:lnTo>
                  <a:pt x="11926949" y="6856448"/>
                </a:lnTo>
                <a:lnTo>
                  <a:pt x="0" y="6856448"/>
                </a:lnTo>
                <a:close/>
              </a:path>
            </a:pathLst>
          </a:cu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0FB4F-D193-F2D2-C316-683F1D0B91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8" y="6215870"/>
            <a:ext cx="3503528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6C05406-30E1-4169-AEFC-9FB385F43253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10/21/2024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235C8-5A81-0035-FC42-AD6690005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08024" y="6215870"/>
            <a:ext cx="4114800" cy="417126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GB">
                <a:solidFill>
                  <a:srgbClr val="FFFFFF"/>
                </a:solidFill>
              </a:rPr>
              <a:t>Atta Muhammad Panhyar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1974-629E-8397-F254-2C04C960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E15108C-154A-4A5A-9C05-91A49A422BA7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05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15ECF02-0C11-4320-A868-5EC7DD53D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74A336-DE5D-4AE0-9A50-8D93C4AA4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11A81C9-7A36-4A04-B14C-A45B899E4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E1DE35-5349-4B57-B255-C07C69270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FE9588-5F4B-41DF-9FF6-6B4969245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CC9B87-707A-4D04-9336-B1418878A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8CF5CAA-7C4D-408A-B1A8-E98C0E663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462EA1B-90F8-4C08-AE36-FFBA2B45B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7B5623-96F7-42F0-BAC5-78D6789E0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5D83B1-1723-4710-8FC5-18EDC879E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98838C-DFB6-48F7-A18D-30469E816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DB9A78-94CB-422D-B92E-65FD273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A5DBD01-426B-424D-815A-96518F600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B0218DF-D55B-4D41-AE23-F1E64BAC6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D61EB8-98CC-4243-9E20-33CAC65B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5F0944-B143-45B0-8B72-6CE34D461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F68EF7F-67D0-463D-AB84-EA24D1819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17074E-4E65-4CBD-B1B0-9C18D6F7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CC905ED-EF46-4349-9E9B-217431094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91F234-1C65-45AC-8CCE-A1C4AE49C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D46B3DB-5DBB-41CF-9FA5-010ECA0C3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92A3FF8-F172-47ED-84C6-802C85C1C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933982-9CB6-4199-B123-A3669A4FE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CA832CD-B214-4ABC-AC95-A3DA116A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EBA147-C4BA-4B48-B61D-CA24B8B06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A8253B7-461E-48CC-B871-8A255EE3D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DE46C3-C2E1-4492-AC59-870160A3C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0052E9-B440-4C1E-BC41-39957D59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31F119B-638C-42B1-8400-709B94F1E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16299ED-D998-4895-9CCF-02427F195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4442675-84C9-45C8-9524-ABE4E2507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BE3E63-4FA5-4EBD-9F3B-E29F5128A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C5A698-334B-D067-8439-BFEB7877F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4891" y="737893"/>
            <a:ext cx="6118703" cy="27060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600" dirty="0"/>
              <a:t>Python Programming Bootcamp - Week 5, Day 01</a:t>
            </a:r>
            <a:endParaRPr lang="en-PK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FEA0F-305F-C5D2-1BA5-3770746BC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9726" y="3674327"/>
            <a:ext cx="5415521" cy="2460770"/>
          </a:xfrm>
        </p:spPr>
        <p:txBody>
          <a:bodyPr>
            <a:normAutofit fontScale="92500" lnSpcReduction="20000"/>
          </a:bodyPr>
          <a:lstStyle/>
          <a:p>
            <a:r>
              <a:rPr lang="it-IT" b="1" dirty="0"/>
              <a:t>Introduction to APIs</a:t>
            </a:r>
          </a:p>
          <a:p>
            <a:r>
              <a:rPr lang="en-GB" dirty="0"/>
              <a:t>Atta Muhammad</a:t>
            </a:r>
          </a:p>
          <a:p>
            <a:r>
              <a:rPr lang="en-GB" dirty="0">
                <a:hlinkClick r:id="rId2"/>
              </a:rPr>
              <a:t>attapanhyar@quest.edu.pk</a:t>
            </a:r>
            <a:endParaRPr lang="en-GB" dirty="0"/>
          </a:p>
          <a:p>
            <a:r>
              <a:rPr lang="en-US" dirty="0"/>
              <a:t>+923331971110</a:t>
            </a:r>
          </a:p>
          <a:p>
            <a:r>
              <a:rPr lang="en-US" dirty="0"/>
              <a:t>Quaid-e-</a:t>
            </a:r>
            <a:r>
              <a:rPr lang="en-US" dirty="0" err="1"/>
              <a:t>Awam</a:t>
            </a:r>
            <a:r>
              <a:rPr lang="en-US" dirty="0"/>
              <a:t> University of Engineering, Science and Technology</a:t>
            </a:r>
            <a:endParaRPr lang="en-PK" dirty="0"/>
          </a:p>
        </p:txBody>
      </p:sp>
      <p:pic>
        <p:nvPicPr>
          <p:cNvPr id="46" name="Picture 45" descr="A colorful background with curves&#10;&#10;Description automatically generated with medium confidence">
            <a:extLst>
              <a:ext uri="{FF2B5EF4-FFF2-40B4-BE49-F238E27FC236}">
                <a16:creationId xmlns:a16="http://schemas.microsoft.com/office/drawing/2014/main" id="{D466624D-CA7F-85D0-CF1C-623C442A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14" r="33800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F0753E91-DF19-4FA4-BFBF-221696B8D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56" y="-28737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8271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73B4F-3369-7AC0-F184-BAD2D16A4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Learning Outcomes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4E472-1982-9159-6451-6C7648D36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GB" b="1" dirty="0"/>
              <a:t>Understand</a:t>
            </a:r>
            <a:r>
              <a:rPr lang="en-GB" dirty="0"/>
              <a:t> the concept of APIs and how they work.</a:t>
            </a:r>
          </a:p>
          <a:p>
            <a:pPr>
              <a:lnSpc>
                <a:spcPct val="200000"/>
              </a:lnSpc>
            </a:pPr>
            <a:r>
              <a:rPr lang="en-GB" b="1" dirty="0"/>
              <a:t>Install and use</a:t>
            </a:r>
            <a:r>
              <a:rPr lang="en-GB" dirty="0"/>
              <a:t> Python's requests library for HTTP requests.</a:t>
            </a:r>
          </a:p>
          <a:p>
            <a:pPr>
              <a:lnSpc>
                <a:spcPct val="200000"/>
              </a:lnSpc>
            </a:pPr>
            <a:r>
              <a:rPr lang="en-GB" b="1" dirty="0"/>
              <a:t>Handle and parse </a:t>
            </a:r>
            <a:r>
              <a:rPr lang="en-GB" dirty="0"/>
              <a:t>JSON responses from APIs.</a:t>
            </a:r>
          </a:p>
          <a:p>
            <a:pPr>
              <a:lnSpc>
                <a:spcPct val="200000"/>
              </a:lnSpc>
            </a:pPr>
            <a:r>
              <a:rPr lang="en-GB" b="1" dirty="0"/>
              <a:t>Integrate</a:t>
            </a:r>
            <a:r>
              <a:rPr lang="en-GB" dirty="0"/>
              <a:t> data from public APIs into Python projects.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29634-30C3-EDE2-4D37-872FC0AB1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6EC8E-FC0C-69A1-A499-0D9FA2450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C70D3-FA10-6C25-A965-39F13026A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6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29303-F6FD-E5DB-C1DE-975832D9C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What is an API?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FC68E-7BC0-F44E-E0B7-79882EE8A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Definition: </a:t>
            </a:r>
            <a:r>
              <a:rPr lang="en-GB" b="1" dirty="0"/>
              <a:t>Application Programming Interface (API)</a:t>
            </a:r>
          </a:p>
          <a:p>
            <a:endParaRPr lang="en-GB" dirty="0"/>
          </a:p>
          <a:p>
            <a:r>
              <a:rPr lang="en-GB" dirty="0"/>
              <a:t>APIs are mechanisms that enable two software components to communicate with each other using a set of definitions and protocols.</a:t>
            </a:r>
          </a:p>
          <a:p>
            <a:endParaRPr lang="en-GB" dirty="0"/>
          </a:p>
          <a:p>
            <a:r>
              <a:rPr lang="en-GB" dirty="0"/>
              <a:t>Examples: Social media integrations, weather data, payment gateways.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02FD3-89FE-161E-DCCC-EF1B90F4C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6E22E-7A00-7945-2639-92348DF5D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9B4B3-9E0B-B714-E39E-6C9EE42B4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3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D42-6157-936B-9494-0A29EEC36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Types of APIs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C89AC-FC6D-7C40-C205-2F6B30E36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GB" b="1" dirty="0"/>
              <a:t>Web APIs</a:t>
            </a:r>
            <a:r>
              <a:rPr lang="en-GB" dirty="0"/>
              <a:t>: Communicate over HTTP</a:t>
            </a:r>
          </a:p>
          <a:p>
            <a:pPr>
              <a:lnSpc>
                <a:spcPct val="200000"/>
              </a:lnSpc>
            </a:pPr>
            <a:r>
              <a:rPr lang="en-GB" b="1" dirty="0"/>
              <a:t>REST</a:t>
            </a:r>
            <a:r>
              <a:rPr lang="en-GB" dirty="0"/>
              <a:t> vs. </a:t>
            </a:r>
            <a:r>
              <a:rPr lang="en-GB" b="1" dirty="0"/>
              <a:t>SOAP</a:t>
            </a:r>
            <a:r>
              <a:rPr lang="en-GB" dirty="0"/>
              <a:t>: REST (</a:t>
            </a:r>
            <a:r>
              <a:rPr lang="en-GB" b="1" dirty="0"/>
              <a:t>Re</a:t>
            </a:r>
            <a:r>
              <a:rPr lang="en-GB" dirty="0"/>
              <a:t>presentational </a:t>
            </a:r>
            <a:r>
              <a:rPr lang="en-GB" b="1" dirty="0"/>
              <a:t>S</a:t>
            </a:r>
            <a:r>
              <a:rPr lang="en-GB" dirty="0"/>
              <a:t>tate </a:t>
            </a:r>
            <a:r>
              <a:rPr lang="en-GB" b="1" dirty="0"/>
              <a:t>T</a:t>
            </a:r>
            <a:r>
              <a:rPr lang="en-GB" dirty="0"/>
              <a:t>ransfer) is simpler and more lightweight.</a:t>
            </a:r>
          </a:p>
          <a:p>
            <a:pPr>
              <a:lnSpc>
                <a:spcPct val="200000"/>
              </a:lnSpc>
            </a:pPr>
            <a:r>
              <a:rPr lang="en-GB" dirty="0"/>
              <a:t>Public vs. Private APIs: Public APIs are open, while private APIs require authentication.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21EC6-226A-49E1-2ACA-B1A6738E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58CB4-DFC6-FFB8-AECE-4BE0179C2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E8DF8-0A06-6C5C-6545-F745F466E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38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A8D02-1155-494E-59C2-410344D5D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Real-World API Examples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78556-D6D2-00F5-5495-483122283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300000"/>
              </a:lnSpc>
            </a:pPr>
            <a:r>
              <a:rPr lang="en-GB" b="1" dirty="0"/>
              <a:t>Weather Data</a:t>
            </a:r>
            <a:r>
              <a:rPr lang="en-GB" dirty="0"/>
              <a:t>: </a:t>
            </a:r>
            <a:r>
              <a:rPr lang="en-GB" dirty="0" err="1"/>
              <a:t>OpenWeather</a:t>
            </a:r>
            <a:r>
              <a:rPr lang="en-GB" dirty="0"/>
              <a:t> API</a:t>
            </a:r>
          </a:p>
          <a:p>
            <a:pPr>
              <a:lnSpc>
                <a:spcPct val="300000"/>
              </a:lnSpc>
            </a:pPr>
            <a:r>
              <a:rPr lang="en-GB" b="1" dirty="0"/>
              <a:t>Social Media Data</a:t>
            </a:r>
            <a:r>
              <a:rPr lang="en-GB" dirty="0"/>
              <a:t>: Twitter API</a:t>
            </a:r>
          </a:p>
          <a:p>
            <a:pPr>
              <a:lnSpc>
                <a:spcPct val="300000"/>
              </a:lnSpc>
            </a:pPr>
            <a:r>
              <a:rPr lang="en-GB" b="1" dirty="0"/>
              <a:t>Financial Data</a:t>
            </a:r>
            <a:r>
              <a:rPr lang="en-GB" dirty="0"/>
              <a:t>: Exchange rates API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825C4-84A0-525E-8623-1033D0029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941FE-AB0B-B1AF-104A-DA02EC7E5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A00E3-607D-50A6-17BD-CD2535348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97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47A4B-5239-85CB-CF8C-27161CFD1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Installing the requests Library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DE917-C93A-BA36-89E0-D4F763DBD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300000"/>
              </a:lnSpc>
            </a:pPr>
            <a:r>
              <a:rPr lang="en-GB" b="1" dirty="0"/>
              <a:t>Command</a:t>
            </a:r>
            <a:r>
              <a:rPr lang="en-GB" dirty="0"/>
              <a:t>: </a:t>
            </a:r>
            <a:r>
              <a:rPr lang="en-GB" sz="2800" dirty="0">
                <a:solidFill>
                  <a:srgbClr val="00B0F0"/>
                </a:solidFill>
              </a:rPr>
              <a:t>pip install requests</a:t>
            </a:r>
            <a:endParaRPr lang="en-GB" dirty="0">
              <a:solidFill>
                <a:srgbClr val="00B0F0"/>
              </a:solidFill>
            </a:endParaRPr>
          </a:p>
          <a:p>
            <a:pPr>
              <a:lnSpc>
                <a:spcPct val="300000"/>
              </a:lnSpc>
            </a:pPr>
            <a:r>
              <a:rPr lang="en-GB" dirty="0"/>
              <a:t>Usage of the requests library for making HTTP requests.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F55B2-D903-26B9-79CB-EE8A04C3B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00C09-64E9-E3DC-8877-D58A4B3A2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5B24B-B14B-3E55-8B8E-6D91A29C6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9645A6-E3F7-DEC9-2920-A599735CC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491" y="3429000"/>
            <a:ext cx="4615723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1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D0012-2A9B-7B89-B3AF-984FEAE59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Making a Simple GET Request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C99C8-F9A3-8FA1-042B-B9FA8EF47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Example Code</a:t>
            </a:r>
            <a:r>
              <a:rPr lang="en-GB" dirty="0"/>
              <a:t>: Fetching data from GitHub's public API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98A6C-CD8A-E606-6B43-6DE07AFBD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8CAB4-8921-6DD5-2127-9BBD1585B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9A866-2B26-255F-079C-87D607B5D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B56C43-0EB8-BB73-04AB-6B7F3E72C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1" y="3429000"/>
            <a:ext cx="7772397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501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06C9A-D52F-7A72-CD45-E14BFA5C6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Checking Response Status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DF0DE-0656-AEEB-89A7-26E5D359C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</a:pPr>
            <a:r>
              <a:rPr lang="en-GB" b="1" dirty="0"/>
              <a:t>HTTP Status Codes:</a:t>
            </a:r>
          </a:p>
          <a:p>
            <a:pPr lvl="1">
              <a:lnSpc>
                <a:spcPct val="250000"/>
              </a:lnSpc>
            </a:pPr>
            <a:r>
              <a:rPr lang="en-GB" sz="2000" b="1" dirty="0"/>
              <a:t>200</a:t>
            </a:r>
            <a:r>
              <a:rPr lang="en-GB" sz="2000" dirty="0"/>
              <a:t> OK</a:t>
            </a:r>
          </a:p>
          <a:p>
            <a:pPr lvl="1">
              <a:lnSpc>
                <a:spcPct val="250000"/>
              </a:lnSpc>
            </a:pPr>
            <a:r>
              <a:rPr lang="en-GB" sz="2000" b="1" dirty="0"/>
              <a:t>404</a:t>
            </a:r>
            <a:r>
              <a:rPr lang="en-GB" sz="2000" dirty="0"/>
              <a:t> Not Found</a:t>
            </a:r>
          </a:p>
          <a:p>
            <a:pPr lvl="1">
              <a:lnSpc>
                <a:spcPct val="250000"/>
              </a:lnSpc>
            </a:pPr>
            <a:r>
              <a:rPr lang="en-GB" sz="2000" b="1" dirty="0"/>
              <a:t>500</a:t>
            </a:r>
            <a:r>
              <a:rPr lang="en-GB" sz="2000" dirty="0"/>
              <a:t> Internal Server Error</a:t>
            </a:r>
            <a:endParaRPr lang="en-PK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A6533-5E1C-6653-1536-4D5823A7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BDF7A-04F9-702C-2192-4CE6C523E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7B0AA-04F1-5722-0402-82382DD5C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92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160B8-D617-5D6E-B610-A8CF76110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Accessing Response Content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1B3C8-7044-E2FF-3DCA-AABB6E9FF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73610-B51F-50FF-79DC-4E79C05DF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290A5-D435-F12C-A0C1-9DBD40C81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B3CC3-279B-63BF-A7D5-59E725AB6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603AB4-7F36-81A1-3173-5DBA44D1B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355" y="3075126"/>
            <a:ext cx="8071551" cy="162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252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F0E5F3-51F4-F4A9-7EF6-795B3536B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Converting Response to JSON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1054708-0829-7D39-1EC7-5AA1A2DDB1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518915"/>
            <a:ext cx="9820189" cy="19885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BF10B-F99E-1D86-20F1-FA986028E7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5E6EA-4838-E5F4-C6D1-E9D9F4C0A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5D4B2-31CA-B19E-3D3A-B1FF3BAF1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19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Right Triangle 46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Right Triangle 83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F71C9-A6A1-2C38-24AF-A0FF569C8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Extracting Specific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C37DD-6AA5-E78E-BF8C-C65F53B94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9657" y="1970523"/>
            <a:ext cx="7893025" cy="6148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/>
              <a:t>Example</a:t>
            </a:r>
            <a:r>
              <a:rPr lang="en-US" sz="2200"/>
              <a:t>: Extract the current_user_url from GitHub’s API.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4A4B27-204F-C7AD-075D-A0EC9ED90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774" y="3306107"/>
            <a:ext cx="9820189" cy="241420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AFFC4-65E0-C9C8-766D-D08FE7074A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E1D00-81D4-70AC-414E-38C8517D1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91E22-D3FC-1F14-8911-1B664555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1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8B1AE5-D7C5-5D69-80F1-27A7FFB0C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Handling HTTP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30921-CA4F-4C2C-D6A6-AF266D180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9657" y="1970523"/>
            <a:ext cx="7893025" cy="6148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/>
              <a:t>Using </a:t>
            </a:r>
            <a:r>
              <a:rPr lang="en-US" sz="2400" b="1"/>
              <a:t>try-except</a:t>
            </a:r>
            <a:r>
              <a:rPr lang="en-US" sz="2400"/>
              <a:t> blocks to handle errors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D46848-9AF9-3C20-20A8-FC9088ED8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774" y="2959058"/>
            <a:ext cx="9820189" cy="310830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6ED86-A80D-29C9-AF53-D9B7ED83B4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5C667-40EC-2BA9-A3E2-0BE9713BF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CBF75-21EB-E463-CF75-DF0BC4373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27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41403-12DC-E22E-38E9-ECE38DD22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Query Parameters in API Requests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7B583-BBFC-0500-B6AF-CCBB87C55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Adding </a:t>
            </a:r>
            <a:r>
              <a:rPr lang="en-GB" b="1" dirty="0"/>
              <a:t>parameters</a:t>
            </a:r>
            <a:r>
              <a:rPr lang="en-GB" dirty="0"/>
              <a:t> to refine API requests.</a:t>
            </a:r>
          </a:p>
          <a:p>
            <a:endParaRPr lang="en-GB" dirty="0"/>
          </a:p>
          <a:p>
            <a:r>
              <a:rPr lang="en-GB" b="1" dirty="0"/>
              <a:t>Example: </a:t>
            </a:r>
            <a:r>
              <a:rPr lang="en-GB" dirty="0"/>
              <a:t>Searching for users on GitHub.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EB1D7-8703-C1A6-56DB-21FC1A53E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64CA6-07DF-8B79-E479-76B8ACAA4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A52AA-5554-D8E8-059A-3758E9D46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587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9EC7B8-C390-4F1B-8960-E6D324510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CEE1CC1-2CD0-4957-8A12-48FA80C0C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4901FEB-A7C2-457B-A124-AD433B041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C76048A8-79AA-454C-BD3E-3004F7426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77B51975-25FE-4328-9815-2AA302F28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440B47E-6D3E-4978-B887-B53DA0BF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4D0A1-D760-40DE-B758-008B93D58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9E590CB-0538-40D7-9CAC-1BBD39CC2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7C67DA-B2AA-46E2-8065-1F862A6F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C2ED54-1B65-4F4A-B14B-41FC05B37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AE5BBBC-F576-4D54-BF67-C00BB1F4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0D490E7-12F8-40DC-A9C1-D119667EE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C855383-9F21-4BDA-8FCA-22AF3D69F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3E600C-E08A-418E-B30E-2B0FC15DF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80D58F-BD3F-4B47-9BD2-888B0D9D1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3544818-9B28-4A71-8D7B-80727A5326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01FFBC7-035F-48C5-91FA-4A4973FC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D6195BC5-BB4E-4F3F-8378-0B308B425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2404171-AF5C-4FA1-9D4E-DCF75562B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AD45A86-9385-473D-9DBF-565E0A94AF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BA5A228-913F-4D4F-AB25-537293624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A87E8BFE-D92E-4EB3-ADD1-FB75CAA68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8756FCD-8335-4089-B4EE-13D629E53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9707D7B-937E-4DC3-87BA-B7B704268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AB1A72DC-3F29-4488-9051-C21E1CBB7E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956DAD76-815C-4F16-98CF-8E8BE1965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F2F8C5-6691-4EBD-B42E-4B17DF1ED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2ED14D-1C00-41C8-849C-030A1434E4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62F296F5-9867-45CA-BF0A-EF216F6A8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3B72471-9DB5-428B-AF52-E11E03B9F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B8656B49-5277-4610-BD7B-F5D98170B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F1A47399-8F78-4DB1-BD21-1166BCB26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F952A221-69C2-46B3-890D-354CA59616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5810332" y="-28672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0FECD2-A96A-F791-297C-80E348C90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071" y="722904"/>
            <a:ext cx="9821130" cy="10759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/>
              <a:t>Using Headers in API Requests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E76CEBF-FFCD-F8AE-EA9A-D21ABA30DE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774" y="3678494"/>
            <a:ext cx="9820189" cy="166943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F43F33-9554-C8D3-1A5C-06E85F7431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93AA9-07C7-4357-F269-F34CFDFD9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076" y="6215063"/>
            <a:ext cx="4114800" cy="4175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2FAB6-9F66-BB5D-E148-2BDC723A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74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10B8B-541A-063F-262B-440083E06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Fetching Weather Data from an API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48DE9-2BEE-740A-E243-3A059A3E6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Example</a:t>
            </a:r>
            <a:r>
              <a:rPr lang="en-GB" dirty="0"/>
              <a:t>: Fetching weather data for a city using the </a:t>
            </a:r>
            <a:r>
              <a:rPr lang="en-GB" dirty="0" err="1"/>
              <a:t>OpenWeather</a:t>
            </a:r>
            <a:r>
              <a:rPr lang="en-GB" dirty="0"/>
              <a:t> API.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8F035-C5F7-19EA-C751-3E1E4227E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03758-46F4-03C8-C459-4EC76C129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C57C4-88FB-5E97-2BC7-FF1094AEA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DDADAB-C73A-87FB-074C-FAEAD1DE5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21" y="3045079"/>
            <a:ext cx="9145276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03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C047E-6EF7-64B9-6AA0-87D886FD2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31543-1FFF-1D72-F77B-809844CAB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ECBC6-0984-80FA-8A2F-221DC91F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371E26-17C8-5535-3AC7-EE9B15133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97" y="1437997"/>
            <a:ext cx="10602805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262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CB7F4C4-DE81-0C02-CD5D-02C824B31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3161303"/>
            <a:ext cx="10501177" cy="1401231"/>
          </a:xfrm>
        </p:spPr>
        <p:txBody>
          <a:bodyPr/>
          <a:lstStyle/>
          <a:p>
            <a:pPr algn="ctr"/>
            <a:r>
              <a:rPr lang="en-US" dirty="0">
                <a:latin typeface="Algerian" panose="04020705040A02060702" pitchFamily="82" charset="0"/>
              </a:rPr>
              <a:t>Sample Project</a:t>
            </a:r>
            <a:endParaRPr lang="en-PK" dirty="0">
              <a:latin typeface="Algerian" panose="04020705040A02060702" pitchFamily="82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284566-486C-3239-81A1-1564A9696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B6ED-9004-4A71-8778-868A297C4223}" type="datetime1">
              <a:rPr lang="en-US" smtClean="0"/>
              <a:t>10/21/2024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D37DD-3218-6002-9AEB-06918550E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66C63-AADD-EC07-35EB-17F01B65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445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805421D-23CB-40F5-9098-D716667E5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BEDFB19-5DE1-4CA8-842F-CF9657C9B5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B04A073-94DC-4578-A9E2-F2E11D914E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7F7BBB2-E3AC-457B-807F-64236CF30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30853883-33B5-4C34-9FBE-49F74C5076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3148E7B-B5D6-4263-9D85-5D3DFB617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967EC22-EFE1-454E-8FD1-12FFCD9D2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49EB4AF-9931-410A-9F68-C24B6C39E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64941F79-4D72-496E-AE99-73B9E1F72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2D4E79B3-CB64-439D-B1FC-FC4BF47CD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192598D1-4713-4DC0-BD6B-7CC594357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F5EB19DC-1DB5-4675-A6DE-6360F0AD7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05E56D6-1D38-4913-B543-41ECE2C46B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F6ACC1A-6B97-4B0B-A036-F81890623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2197E3E-AC71-447A-A5F1-AC337FD73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37D0DA4-9FA9-4502-8296-6DD8842C3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EA94CC6E-AA45-4AFF-8EC6-17FE421734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330A0C5-0C67-4AC8-9F75-D63277BFF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10410FE-F829-4EB2-98EE-397D51FC5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E2C1BE1-F256-4B52-BB5D-50C84668FA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E104CCA-10BA-45D1-A504-EF3AD7334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6E7DBD2-8DAE-45A0-9A8C-331329107C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2AD51F90-1778-4825-87B9-E04A473A43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8B4C11C-68F4-4AAA-B3C6-99B339FD5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F65B701-4451-455A-A72C-968591A58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8E9A4D7-E804-4F7D-B46F-9182BE11DE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8522ECDE-9CC3-4260-A85A-1575376E7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E940BF09-5C37-4ABA-919D-A22281C3A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ECA37BD-68D3-427B-9FDA-2ADAFCF5DC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C5F91D5-B215-42B0-81E5-7CE4263BD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C21ED72-60A2-439D-8DD2-85900BA4C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E853A371-AB64-4677-9E5A-FE61C0E04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ight Triangle 82">
            <a:extLst>
              <a:ext uri="{FF2B5EF4-FFF2-40B4-BE49-F238E27FC236}">
                <a16:creationId xmlns:a16="http://schemas.microsoft.com/office/drawing/2014/main" id="{B3093A12-B759-4321-96FD-060689E3A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7291541" y="-28737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DAB1A-AF34-38F9-C88E-3ADE80454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3120" y="722903"/>
            <a:ext cx="4415630" cy="24607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Questions ?</a:t>
            </a:r>
          </a:p>
        </p:txBody>
      </p:sp>
      <p:pic>
        <p:nvPicPr>
          <p:cNvPr id="10" name="Graphic 9" descr="Question mark">
            <a:extLst>
              <a:ext uri="{FF2B5EF4-FFF2-40B4-BE49-F238E27FC236}">
                <a16:creationId xmlns:a16="http://schemas.microsoft.com/office/drawing/2014/main" id="{6C25BCF6-A152-1AEF-8446-E5BCF792A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212" y="724157"/>
            <a:ext cx="5414891" cy="54148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F8198-83E7-3DA8-D7A9-18BE676C8C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6C05406-30E1-4169-AEFC-9FB385F43253}" type="datetime1">
              <a:rPr lang="en-US" smtClean="0"/>
              <a:pPr defTabSz="914400">
                <a:spcAft>
                  <a:spcPts val="600"/>
                </a:spcAft>
              </a:pPr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3DD13B-FD75-F739-7C5C-EBA288F82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Atta Muhammad Panhyar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8B2F6-A30B-7E20-5CE1-E6B2401AE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3649" y="6215870"/>
            <a:ext cx="979151" cy="41712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BE15108C-154A-4A5A-9C05-91A49A422BA7}" type="slidenum">
              <a:rPr lang="en-US" smtClean="0"/>
              <a:pPr defTabSz="914400">
                <a:spcAft>
                  <a:spcPts val="600"/>
                </a:spcAft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76054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osineVTI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83B841CBE624CBD6CA6C23B585E86" ma:contentTypeVersion="4" ma:contentTypeDescription="Create a new document." ma:contentTypeScope="" ma:versionID="df8140b7ff1f38641146e502cd7017ce">
  <xsd:schema xmlns:xsd="http://www.w3.org/2001/XMLSchema" xmlns:xs="http://www.w3.org/2001/XMLSchema" xmlns:p="http://schemas.microsoft.com/office/2006/metadata/properties" xmlns:ns3="5e1f2001-7a2a-475f-99ed-f287c302d85e" targetNamespace="http://schemas.microsoft.com/office/2006/metadata/properties" ma:root="true" ma:fieldsID="4ef91abf136de239640819636eae1c09" ns3:_="">
    <xsd:import namespace="5e1f2001-7a2a-475f-99ed-f287c302d8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f2001-7a2a-475f-99ed-f287c302d8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028091-2C71-4358-873E-63FAA6926BD7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5e1f2001-7a2a-475f-99ed-f287c302d85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7403B38-2017-46CB-BAFD-34E91D55FE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1f2001-7a2a-475f-99ed-f287c302d8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882337-F9FF-4386-BC46-5C61B288A5C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2908</TotalTime>
  <Words>398</Words>
  <Application>Microsoft Office PowerPoint</Application>
  <PresentationFormat>Widescreen</PresentationFormat>
  <Paragraphs>104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Algerian</vt:lpstr>
      <vt:lpstr>Aptos</vt:lpstr>
      <vt:lpstr>Arial</vt:lpstr>
      <vt:lpstr>Grandview</vt:lpstr>
      <vt:lpstr>Wingdings</vt:lpstr>
      <vt:lpstr>CosineVTI</vt:lpstr>
      <vt:lpstr>PowerPoint Presentation</vt:lpstr>
      <vt:lpstr>Python Programming Bootcamp - Week 5, Day 01</vt:lpstr>
      <vt:lpstr>Learning Outcomes</vt:lpstr>
      <vt:lpstr>What is an API?</vt:lpstr>
      <vt:lpstr>Types of APIs</vt:lpstr>
      <vt:lpstr>Real-World API Examples</vt:lpstr>
      <vt:lpstr>Installing the requests Library</vt:lpstr>
      <vt:lpstr>Making a Simple GET Request</vt:lpstr>
      <vt:lpstr>Checking Response Status</vt:lpstr>
      <vt:lpstr>Accessing Response Content</vt:lpstr>
      <vt:lpstr>Converting Response to JSON</vt:lpstr>
      <vt:lpstr>Extracting Specific Data</vt:lpstr>
      <vt:lpstr>Handling HTTP Errors</vt:lpstr>
      <vt:lpstr>Query Parameters in API Requests</vt:lpstr>
      <vt:lpstr>Using Headers in API Requests</vt:lpstr>
      <vt:lpstr>Fetching Weather Data from an API</vt:lpstr>
      <vt:lpstr>PowerPoint Presentation</vt:lpstr>
      <vt:lpstr>Sample Project</vt:lpstr>
      <vt:lpstr>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Atta Muhammad</dc:creator>
  <cp:lastModifiedBy>Atta Muhammad</cp:lastModifiedBy>
  <cp:revision>574</cp:revision>
  <dcterms:created xsi:type="dcterms:W3CDTF">2024-09-22T16:39:41Z</dcterms:created>
  <dcterms:modified xsi:type="dcterms:W3CDTF">2024-10-21T07:11:36Z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0x01010045B83B841CBE624CBD6CA6C23B585E86</vt:lpwstr>
  </property>
</Properties>
</file>