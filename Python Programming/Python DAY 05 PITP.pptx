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7" r:id="rId4"/>
  </p:sldMasterIdLst>
  <p:notesMasterIdLst>
    <p:notesMasterId r:id="rId31"/>
  </p:notesMasterIdLst>
  <p:sldIdLst>
    <p:sldId id="256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95" r:id="rId22"/>
    <p:sldId id="296" r:id="rId23"/>
    <p:sldId id="297" r:id="rId24"/>
    <p:sldId id="298" r:id="rId25"/>
    <p:sldId id="302" r:id="rId26"/>
    <p:sldId id="301" r:id="rId27"/>
    <p:sldId id="300" r:id="rId28"/>
    <p:sldId id="299" r:id="rId29"/>
    <p:sldId id="278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456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0B9B8A-C9F4-45A9-946A-0C2A265149BA}" type="datetimeFigureOut">
              <a:rPr lang="en-PK" smtClean="0"/>
              <a:t>30/09/2024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49182C-4EB3-44EA-9D91-AE666E2C70B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47173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AFFC5-F979-4BDB-AB3F-09CD0BB94893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GB"/>
              <a:t>Peoples Information Technology Program (PITP)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112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C4E612-C65F-E86B-C033-C74E10C5F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146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5EDE2-8534-48BF-9CA6-D54B64FC3663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73816A04-1E1A-A37B-B73F-D58381522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552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71838-1DAD-4964-A8D2-EDEBDDADA2BA}" type="datetime1">
              <a:rPr lang="en-US" smtClean="0"/>
              <a:t>9/30/2024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Peoples Information Technology Program (PITP)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73B481-ACD9-3F79-2DD1-4E69317CA3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434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5A583B43-2D19-41E3-ADB6-6E49D8A9C652}" type="datetime1">
              <a:rPr lang="en-US" smtClean="0"/>
              <a:t>9/30/2024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GB"/>
              <a:t>Peoples Information Technology Program (PITP)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D762F6-9A6B-F123-7BA4-D26132F134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37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CC5B1-62D5-4835-9D64-34BCFE87B16E}" type="datetime1">
              <a:rPr lang="en-US" smtClean="0"/>
              <a:t>9/30/2024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C769D5-36F8-AEAA-973C-3B0AA9495C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745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DB6ED-9004-4A71-8778-868A297C4223}" type="datetime1">
              <a:rPr lang="en-US" smtClean="0"/>
              <a:t>9/30/2024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30303414-A318-B16A-813B-5FE0C2A9B1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191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E5DEB-5D91-49B1-B35D-D9EF8CFD3798}" type="datetime1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1257B711-A0E5-3E59-6F6F-EC8B7DFCAA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275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A3221-1A1D-4D6B-BF82-669EAF0E1547}" type="datetime1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E6E5774-C41A-3566-565A-6CC03B7446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38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9002-3737-4861-8D92-764E24EAAD04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6BE428-415A-1F91-83CF-9AB56205C4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144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16911-A92B-4B7F-93FD-47BD9A1E4D48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2B53FAEC-333B-D11A-6998-5FB685BFB3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816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5E34E7-6DA0-4AC7-AC94-EDF665FC0F13}" type="datetime1">
              <a:rPr lang="en-US" smtClean="0"/>
              <a:t>9/30/2024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Peoples Information Technology Program (PITP)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460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0" r:id="rId6"/>
    <p:sldLayoutId id="2147483726" r:id="rId7"/>
    <p:sldLayoutId id="2147483727" r:id="rId8"/>
    <p:sldLayoutId id="2147483728" r:id="rId9"/>
    <p:sldLayoutId id="2147483729" r:id="rId10"/>
    <p:sldLayoutId id="2147483731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mailto:attapanhyar@quest.edu.p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4187D111-0A9D-421B-84EB-FC5811C3A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15ECF02-0C11-4320-A868-5EC7DD53DE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C74A336-DE5D-4AE0-9A50-8D93C4AA4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11A81C9-7A36-4A04-B14C-A45B899E4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AE1DE35-5349-4B57-B255-C07C69270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AFE9588-5F4B-41DF-9FF6-6B4969245C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4CC9B87-707A-4D04-9336-B1418878A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8CF5CAA-7C4D-408A-B1A8-E98C0E6633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462EA1B-90F8-4C08-AE36-FFBA2B45BF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F7B5623-96F7-42F0-BAC5-78D6789E01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85D83B1-1723-4710-8FC5-18EDC879E4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998838C-DFB6-48F7-A18D-30469E8162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BDB9A78-94CB-422D-B92E-65FD2732E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A5DBD01-426B-424D-815A-96518F6007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B0218DF-D55B-4D41-AE23-F1E64BAC60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8D61EB8-98CC-4243-9E20-33CAC65B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35F0944-B143-45B0-8B72-6CE34D4612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F68EF7F-67D0-463D-AB84-EA24D18196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E17074E-4E65-4CBD-B1B0-9C18D6F72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CC905ED-EF46-4349-9E9B-217431094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B91F234-1C65-45AC-8CCE-A1C4AE49C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D46B3DB-5DBB-41CF-9FA5-010ECA0C3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92A3FF8-F172-47ED-84C6-802C85C1CB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933982-9CB6-4199-B123-A3669A4FEF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CA832CD-B214-4ABC-AC95-A3DA116AC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7EBA147-C4BA-4B48-B61D-CA24B8B06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A8253B7-461E-48CC-B871-8A255EE3D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ADE46C3-C2E1-4492-AC59-870160A3C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B0052E9-B440-4C1E-BC41-39957D590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31F119B-638C-42B1-8400-709B94F1E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16299ED-D998-4895-9CCF-02427F195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4442675-84C9-45C8-9524-ABE4E25071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5BE3E63-4FA5-4EBD-9F3B-E29F5128A8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C5A698-334B-D067-8439-BFEB7877F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54891" y="722903"/>
            <a:ext cx="6118703" cy="270609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4600" dirty="0"/>
              <a:t>Python Programming Bootcamp - Day 1 (Week 2)</a:t>
            </a:r>
            <a:endParaRPr lang="en-PK" sz="4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AFEA0F-305F-C5D2-1BA5-3770746BC8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89726" y="3674327"/>
            <a:ext cx="5415521" cy="2460770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Loops – Introduction to While Loop</a:t>
            </a:r>
          </a:p>
          <a:p>
            <a:r>
              <a:rPr lang="en-GB" dirty="0"/>
              <a:t>Atta Muhammad</a:t>
            </a:r>
          </a:p>
          <a:p>
            <a:r>
              <a:rPr lang="en-GB" dirty="0">
                <a:hlinkClick r:id="rId2"/>
              </a:rPr>
              <a:t>attapanhyar@quest.edu.pk</a:t>
            </a:r>
            <a:endParaRPr lang="en-GB" dirty="0"/>
          </a:p>
          <a:p>
            <a:r>
              <a:rPr lang="en-US" dirty="0"/>
              <a:t>+923331971110</a:t>
            </a:r>
          </a:p>
          <a:p>
            <a:r>
              <a:rPr lang="en-US" dirty="0"/>
              <a:t>Quaid e </a:t>
            </a:r>
            <a:r>
              <a:rPr lang="en-US" dirty="0" err="1"/>
              <a:t>Awam</a:t>
            </a:r>
            <a:r>
              <a:rPr lang="en-US" dirty="0"/>
              <a:t> University of Engineering, Science and Technology</a:t>
            </a:r>
            <a:endParaRPr lang="en-PK" dirty="0"/>
          </a:p>
        </p:txBody>
      </p:sp>
      <p:pic>
        <p:nvPicPr>
          <p:cNvPr id="46" name="Picture 45" descr="A colorful background with curves&#10;&#10;Description automatically generated with medium confidence">
            <a:extLst>
              <a:ext uri="{FF2B5EF4-FFF2-40B4-BE49-F238E27FC236}">
                <a16:creationId xmlns:a16="http://schemas.microsoft.com/office/drawing/2014/main" id="{D466624D-CA7F-85D0-CF1C-623C442A82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514" r="33800"/>
          <a:stretch/>
        </p:blipFill>
        <p:spPr>
          <a:xfrm>
            <a:off x="1" y="10"/>
            <a:ext cx="5854890" cy="6857990"/>
          </a:xfrm>
          <a:custGeom>
            <a:avLst/>
            <a:gdLst/>
            <a:ahLst/>
            <a:cxnLst/>
            <a:rect l="l" t="t" r="r" b="b"/>
            <a:pathLst>
              <a:path w="6036633" h="6858000">
                <a:moveTo>
                  <a:pt x="0" y="0"/>
                </a:moveTo>
                <a:lnTo>
                  <a:pt x="5782584" y="0"/>
                </a:lnTo>
                <a:lnTo>
                  <a:pt x="5847735" y="280891"/>
                </a:lnTo>
                <a:cubicBezTo>
                  <a:pt x="6512611" y="3337011"/>
                  <a:pt x="5215360" y="3533975"/>
                  <a:pt x="5130974" y="6590095"/>
                </a:cubicBezTo>
                <a:lnTo>
                  <a:pt x="512734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F0753E91-DF19-4FA4-BFBF-221696B8D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6297356" y="-287372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88271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8D31A-4EEC-F351-0958-7F93B8EB3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Objectives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CC7E2-BD7F-D557-89B9-09963BB12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Understand what loops are and why they are used in programming.</a:t>
            </a:r>
          </a:p>
          <a:p>
            <a:endParaRPr lang="en-GB" dirty="0"/>
          </a:p>
          <a:p>
            <a:r>
              <a:rPr lang="en-GB" dirty="0"/>
              <a:t>Learn the syntax and functionality of the while loop in Python.</a:t>
            </a:r>
          </a:p>
          <a:p>
            <a:endParaRPr lang="en-GB" dirty="0"/>
          </a:p>
          <a:p>
            <a:r>
              <a:rPr lang="en-GB" dirty="0"/>
              <a:t>Explore how to use loops to solve real-world problems.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Apply control flow and while loops together to automate repetitive tasks.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2AC4B-80A5-51FA-94F4-2BC1FB333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6F3E8-E0F5-ACE3-C85F-D834F24EC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1BC09-1900-70BB-34F8-10E21E90D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0979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DB569-90D1-940D-D43C-9CC3861F0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Loop?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1A391-6F8B-0261-6135-36BD3416D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Definition</a:t>
            </a:r>
            <a:r>
              <a:rPr lang="en-GB" dirty="0"/>
              <a:t>: A loop is a control flow structure that repeats a block of code as long as a condition is true.</a:t>
            </a:r>
          </a:p>
          <a:p>
            <a:endParaRPr lang="en-GB" dirty="0"/>
          </a:p>
          <a:p>
            <a:r>
              <a:rPr lang="en-GB" b="1" dirty="0"/>
              <a:t>Why Use Loops</a:t>
            </a:r>
            <a:r>
              <a:rPr lang="en-GB" dirty="0"/>
              <a:t>?</a:t>
            </a:r>
          </a:p>
          <a:p>
            <a:pPr lvl="1"/>
            <a:r>
              <a:rPr lang="en-GB" sz="2000" dirty="0"/>
              <a:t>Automate repetitive tasks.</a:t>
            </a:r>
          </a:p>
          <a:p>
            <a:pPr lvl="1"/>
            <a:r>
              <a:rPr lang="en-GB" sz="2000" dirty="0"/>
              <a:t>Process data multiple times.</a:t>
            </a:r>
          </a:p>
          <a:p>
            <a:pPr lvl="1"/>
            <a:r>
              <a:rPr lang="en-GB" sz="2000" dirty="0"/>
              <a:t>Reduce redundancy in code.</a:t>
            </a:r>
            <a:endParaRPr lang="en-PK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3977A-9AF0-7987-4749-5EE6E7A86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8F4DDD-3BC2-FFE9-B642-A04B87978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D74DE-7281-84DE-1D70-71895EE0D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4326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1D3D5-86DD-5EB1-92B5-06E0AF9BF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While Loop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63997-0280-224A-6DD3-C1F4EF6AE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Syntax</a:t>
            </a:r>
          </a:p>
          <a:p>
            <a:r>
              <a:rPr lang="en-GB" dirty="0"/>
              <a:t>The loop runs </a:t>
            </a:r>
            <a:r>
              <a:rPr lang="en-GB" b="1" dirty="0"/>
              <a:t>if </a:t>
            </a:r>
            <a:r>
              <a:rPr lang="en-GB" dirty="0"/>
              <a:t>the condition is </a:t>
            </a:r>
            <a:r>
              <a:rPr lang="en-GB" b="1" dirty="0"/>
              <a:t>True</a:t>
            </a:r>
            <a:r>
              <a:rPr lang="en-GB" dirty="0"/>
              <a:t>. If the condition is </a:t>
            </a:r>
            <a:r>
              <a:rPr lang="en-GB" b="1" dirty="0"/>
              <a:t>False</a:t>
            </a:r>
            <a:r>
              <a:rPr lang="en-GB" dirty="0"/>
              <a:t>, the loop exits.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00BFB-9A19-9BC5-5444-F46031188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D5582-9715-11E0-C70D-BBC02268A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4071E-BE66-B6C4-0AAF-6A1DC7FCB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85AFFF-9957-04C9-EE63-6999F2835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392" y="3857866"/>
            <a:ext cx="3210373" cy="168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5700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3" name="Group 110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032" name="Straight Connector 1031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" name="Straight Connector 1032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4" name="Straight Connector 1033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5" name="Straight Connector 1034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6" name="Straight Connector 1035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7" name="Straight Connector 1036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8" name="Straight Connector 1037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9" name="Straight Connector 1038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0" name="Straight Connector 1039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1" name="Straight Connector 1040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2" name="Straight Connector 1041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3" name="Straight Connector 1042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4" name="Straight Connector 1043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5" name="Straight Connector 1044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Straight Connector 1045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7" name="Straight Connector 1046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8" name="Straight Connector 1047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9" name="Straight Connector 1048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0" name="Straight Connector 1049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1" name="Straight Connector 1050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2" name="Straight Connector 1051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3" name="Straight Connector 1052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4" name="Straight Connector 1053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5" name="Straight Connector 1054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6" name="Straight Connector 1055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7" name="Straight Connector 1056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8" name="Straight Connector 1057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Straight Connector 1058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0" name="Straight Connector 1059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1" name="Straight Connector 1060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2" name="Straight Connector 1061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04" name="Right Triangle 1103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105" name="Rectangle 1104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06" name="Group 1105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069" name="Straight Connector 1068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0" name="Straight Connector 1069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1" name="Straight Connector 1070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2" name="Straight Connector 1071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3" name="Straight Connector 1072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4" name="Straight Connector 1073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5" name="Straight Connector 1074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Straight Connector 1075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7" name="Straight Connector 1076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8" name="Straight Connector 1077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9" name="Straight Connector 1078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Straight Connector 1079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1" name="Straight Connector 1080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2" name="Straight Connector 1081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3" name="Straight Connector 1082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4" name="Straight Connector 1083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5" name="Straight Connector 1084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6" name="Straight Connector 1085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7" name="Straight Connector 1086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8" name="Straight Connector 1087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9" name="Straight Connector 1088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0" name="Straight Connector 1089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1" name="Straight Connector 1090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2" name="Straight Connector 1091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3" name="Straight Connector 1092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4" name="Straight Connector 1093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5" name="Straight Connector 1094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6" name="Straight Connector 1095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7" name="Straight Connector 1096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8" name="Straight Connector 1097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9" name="Straight Connector 1098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07" name="Right Triangle 1106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152530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BAC364-CB1A-F3D9-0BC3-02F45AE66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4"/>
            <a:ext cx="5408713" cy="141037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/>
              <a:t>Flowchart of a While Loop</a:t>
            </a:r>
          </a:p>
        </p:txBody>
      </p:sp>
      <p:pic>
        <p:nvPicPr>
          <p:cNvPr id="1026" name="Picture 2" descr="Python While Loop - GeeksforGeeks">
            <a:extLst>
              <a:ext uri="{FF2B5EF4-FFF2-40B4-BE49-F238E27FC236}">
                <a16:creationId xmlns:a16="http://schemas.microsoft.com/office/drawing/2014/main" id="{403F6F47-4D04-E09F-C184-7002CDE11FD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49346" y="2340144"/>
            <a:ext cx="6181645" cy="3801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4A351-F955-094A-B1A4-D9F496E6EF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6917-335D-9452-FF5C-3FC49E054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76" y="6215063"/>
            <a:ext cx="4114800" cy="417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Peoples Information Technology Program (PITP)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54D4A-C527-DBBE-CA6B-2762BB784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7530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1CF4E-9F8B-7BFC-612E-C4DFAB78B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Infinite Loops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33941-0C1F-2DC2-2256-56307DA83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is an Infinite Loop?</a:t>
            </a:r>
          </a:p>
          <a:p>
            <a:pPr lvl="1"/>
            <a:r>
              <a:rPr lang="en-GB" dirty="0"/>
              <a:t>Occurs when the condition in the while loop never becomes False.</a:t>
            </a:r>
          </a:p>
          <a:p>
            <a:pPr lvl="1"/>
            <a:r>
              <a:rPr lang="en-GB" b="1" dirty="0"/>
              <a:t>Danger:</a:t>
            </a:r>
            <a:r>
              <a:rPr lang="en-GB" dirty="0"/>
              <a:t> Can cause the program to crash or freeze.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EAC61-3185-7A42-D3B3-7E654B5A2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D8958-4230-5174-6219-B30FC792A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E187B-B2AC-22BA-192F-33215297A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9A5447-0853-2C70-F5D8-98B0B401F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7112" y="3880255"/>
            <a:ext cx="3048425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0200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C0B69-EEA4-FE5F-CD22-D3D423030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Controlling While Loops with a Counter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387B5-B99A-07EB-1ABB-AA9141648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Using a Counter:</a:t>
            </a:r>
            <a:r>
              <a:rPr lang="en-GB" dirty="0"/>
              <a:t> Often, you will increment or decrement a variable to control the number of loop iterations.</a:t>
            </a:r>
          </a:p>
          <a:p>
            <a:r>
              <a:rPr lang="en-GB" b="1" dirty="0"/>
              <a:t>Example:</a:t>
            </a:r>
            <a:endParaRPr lang="en-PK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996C7-24AB-58C5-65E4-3829B5169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9/30/2024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43988-5164-7071-A089-A879A6FB6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B3107-778D-61E4-45B6-FC734BF29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D16D2E-58DE-0402-37FC-B05F56D61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616" y="3573847"/>
            <a:ext cx="6401693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6047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3C890-5A2F-D6BE-0B30-5DCE5A602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Hands-On Exercise 1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A6DB1-934E-1572-E91F-AC28F5223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Task</a:t>
            </a:r>
            <a:r>
              <a:rPr lang="en-GB" dirty="0"/>
              <a:t>: Write a program that prints the numbers from 1 to 10 using a while loop.</a:t>
            </a:r>
          </a:p>
          <a:p>
            <a:pPr lvl="1"/>
            <a:endParaRPr lang="en-GB" sz="2400" b="1" dirty="0"/>
          </a:p>
          <a:p>
            <a:pPr lvl="1"/>
            <a:endParaRPr lang="en-GB" sz="2400" b="1" dirty="0"/>
          </a:p>
          <a:p>
            <a:pPr lvl="1"/>
            <a:endParaRPr lang="en-GB" sz="2400" b="1" dirty="0"/>
          </a:p>
          <a:p>
            <a:pPr lvl="1"/>
            <a:r>
              <a:rPr lang="en-GB" sz="2400" b="1" dirty="0"/>
              <a:t>Hint</a:t>
            </a:r>
            <a:r>
              <a:rPr lang="en-GB" sz="2400" dirty="0"/>
              <a:t>: Start with </a:t>
            </a:r>
            <a:r>
              <a:rPr lang="en-GB" sz="2400" dirty="0" err="1"/>
              <a:t>num</a:t>
            </a:r>
            <a:r>
              <a:rPr lang="en-GB" sz="2400" dirty="0"/>
              <a:t> = 1 and increment it until 10.</a:t>
            </a:r>
            <a:endParaRPr lang="en-PK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F23D1-94EF-5221-8513-9218C7A62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D3D88A-A706-8FF3-259E-1E103B3B5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41EF2-2C0B-9432-4600-07C95F51B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9707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CFDF70F4-97B6-40D8-B1FA-9580DBD23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2244" y="224448"/>
            <a:ext cx="6857996" cy="6409096"/>
          </a:xfrm>
          <a:custGeom>
            <a:avLst/>
            <a:gdLst>
              <a:gd name="connsiteX0" fmla="*/ 0 w 6857996"/>
              <a:gd name="connsiteY0" fmla="*/ 2827344 h 6142577"/>
              <a:gd name="connsiteX1" fmla="*/ 0 w 6857996"/>
              <a:gd name="connsiteY1" fmla="*/ 5080510 h 6142577"/>
              <a:gd name="connsiteX2" fmla="*/ 3 w 6857996"/>
              <a:gd name="connsiteY2" fmla="*/ 5080510 h 6142577"/>
              <a:gd name="connsiteX3" fmla="*/ 3 w 6857996"/>
              <a:gd name="connsiteY3" fmla="*/ 6142577 h 6142577"/>
              <a:gd name="connsiteX4" fmla="*/ 6857996 w 6857996"/>
              <a:gd name="connsiteY4" fmla="*/ 6142577 h 6142577"/>
              <a:gd name="connsiteX5" fmla="*/ 6857996 w 6857996"/>
              <a:gd name="connsiteY5" fmla="*/ 3928749 h 6142577"/>
              <a:gd name="connsiteX6" fmla="*/ 6857996 w 6857996"/>
              <a:gd name="connsiteY6" fmla="*/ 2572597 h 6142577"/>
              <a:gd name="connsiteX7" fmla="*/ 6857996 w 6857996"/>
              <a:gd name="connsiteY7" fmla="*/ 307516 h 6142577"/>
              <a:gd name="connsiteX8" fmla="*/ 6550769 w 6857996"/>
              <a:gd name="connsiteY8" fmla="*/ 222609 h 6142577"/>
              <a:gd name="connsiteX9" fmla="*/ 5031274 w 6857996"/>
              <a:gd name="connsiteY9" fmla="*/ 33 h 6142577"/>
              <a:gd name="connsiteX10" fmla="*/ 310659 w 6857996"/>
              <a:gd name="connsiteY10" fmla="*/ 1067285 h 6142577"/>
              <a:gd name="connsiteX11" fmla="*/ 2 w 6857996"/>
              <a:gd name="connsiteY11" fmla="*/ 1072307 h 6142577"/>
              <a:gd name="connsiteX12" fmla="*/ 2 w 6857996"/>
              <a:gd name="connsiteY12" fmla="*/ 2827344 h 6142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6" h="6142577">
                <a:moveTo>
                  <a:pt x="0" y="2827344"/>
                </a:moveTo>
                <a:lnTo>
                  <a:pt x="0" y="5080510"/>
                </a:lnTo>
                <a:lnTo>
                  <a:pt x="3" y="5080510"/>
                </a:lnTo>
                <a:lnTo>
                  <a:pt x="3" y="6142577"/>
                </a:lnTo>
                <a:lnTo>
                  <a:pt x="6857996" y="6142577"/>
                </a:lnTo>
                <a:lnTo>
                  <a:pt x="6857996" y="3928749"/>
                </a:lnTo>
                <a:lnTo>
                  <a:pt x="6857996" y="2572597"/>
                </a:lnTo>
                <a:lnTo>
                  <a:pt x="6857996" y="307516"/>
                </a:lnTo>
                <a:lnTo>
                  <a:pt x="6550769" y="222609"/>
                </a:lnTo>
                <a:cubicBezTo>
                  <a:pt x="5946238" y="65902"/>
                  <a:pt x="5454822" y="1688"/>
                  <a:pt x="5031274" y="33"/>
                </a:cubicBezTo>
                <a:cubicBezTo>
                  <a:pt x="3337081" y="-6590"/>
                  <a:pt x="2728780" y="987729"/>
                  <a:pt x="310659" y="1067285"/>
                </a:cubicBezTo>
                <a:lnTo>
                  <a:pt x="2" y="1072307"/>
                </a:lnTo>
                <a:lnTo>
                  <a:pt x="2" y="2827344"/>
                </a:lnTo>
                <a:close/>
              </a:path>
            </a:pathLst>
          </a:custGeom>
          <a:solidFill>
            <a:srgbClr val="BCBCBC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07F70BA-21EF-4B7D-ACFF-D02E136D4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D487A9C-B45A-450B-B04B-02570D8F4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9C56948-B944-4EAA-A601-1C3F289A7C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3EFFD07-1C36-4595-9832-727669712C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A5917E5-3154-42BC-8308-71C3D44DB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B05D64D-A9ED-421A-9ABE-761977A815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5E49393-F5BE-4823-92E3-7A624F7EA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6035503-21C0-4568-B46B-90BB750327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ACA2B-D1AF-419E-BFBF-413F69DFD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284408D-F3CE-466F-A0C8-D27F2BCFC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2C5065B-1474-4D66-99DB-CFEF811C0F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C6F4B51-92DC-4003-A3E7-28710D57AB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D5C13CE-E4FE-4F85-BC09-9C950ED75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51C5D97-1CDA-475E-BAC6-EE58999872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B712EBA-54FF-45FE-9A4E-98C0C0EC2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E0AB49E-A89E-4B6C-AAAA-96E326D15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E63E817-E471-4A64-9EF6-FFB1FBB348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BB2927-CDAC-455A-8D26-8582DD13DD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8E42F79-594B-4397-8A30-281228EF99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E578AA8-0A5F-4BAA-AAFC-8A1E07838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BA6CB24-165E-4D82-A315-18FFF8ABC6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A7AFC89-7922-47E2-8920-9883AF13C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2D63DEE-348A-4118-952F-DCD6FC1B6D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7A17409-8146-400D-A3C1-1E93FE2056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21B7B93-01A0-4FDD-A6E1-5729577818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D3948D1-38CD-41AC-BBE8-291A85A703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633F3FE-70B6-41BD-A2D7-F9A53AB38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9D1DD0D-9D4A-41EA-9650-F8215D949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148EE7C-8DC4-4A31-A981-8F838EA8FA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F7F7EC5C-3015-4A5E-A9E3-B53F5293D2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FD7AF31F-4674-411A-837A-ED991478D2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D3DAED2-414E-42E1-998A-6D7EF4A4D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ight Triangle 49">
            <a:extLst>
              <a:ext uri="{FF2B5EF4-FFF2-40B4-BE49-F238E27FC236}">
                <a16:creationId xmlns:a16="http://schemas.microsoft.com/office/drawing/2014/main" id="{9E92C66B-792F-479F-B983-F47FEE1AB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152530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61C352-E5DC-BC3F-C494-01DB8B34D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5408027" cy="1442463"/>
          </a:xfrm>
        </p:spPr>
        <p:txBody>
          <a:bodyPr>
            <a:normAutofit/>
          </a:bodyPr>
          <a:lstStyle/>
          <a:p>
            <a:r>
              <a:rPr lang="en-GB" dirty="0"/>
              <a:t>Breaking Out of a Loop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250A2-423E-40C8-3904-514518BB3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340131"/>
            <a:ext cx="4424633" cy="3791918"/>
          </a:xfrm>
        </p:spPr>
        <p:txBody>
          <a:bodyPr>
            <a:normAutofit/>
          </a:bodyPr>
          <a:lstStyle/>
          <a:p>
            <a:r>
              <a:rPr lang="en-GB" b="1" dirty="0"/>
              <a:t>break Statemen</a:t>
            </a:r>
            <a:r>
              <a:rPr lang="en-GB" dirty="0"/>
              <a:t>t: Used to exit the loop even if the condition is still true.</a:t>
            </a:r>
            <a:endParaRPr lang="en-US" b="1" dirty="0"/>
          </a:p>
          <a:p>
            <a:r>
              <a:rPr lang="en-GB" b="1" dirty="0"/>
              <a:t>Explanation</a:t>
            </a:r>
            <a:r>
              <a:rPr lang="en-GB" dirty="0"/>
              <a:t>: The loop continues indefinitely until the break statement is encountered.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10F07A-0614-3464-6D1B-975577348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7094" y="1887372"/>
            <a:ext cx="4401655" cy="308974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91715-CEF0-4123-2DB7-74D2288E3C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C05406-30E1-4169-AEFC-9FB385F43253}" type="datetime1">
              <a:rPr lang="en-US" smtClean="0"/>
              <a:pPr>
                <a:spcAft>
                  <a:spcPts val="600"/>
                </a:spcAft>
              </a:pPr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5D6CA-8227-236A-9716-850DE19FB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259FD-E8CA-6D03-415D-388CF0F45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8335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0F49F-DFC4-04DF-5F24-805E14A2C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Hands-On Exercise 2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90DB7-FBC0-E1F4-F298-FA104F9D2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Task</a:t>
            </a:r>
            <a:r>
              <a:rPr lang="en-GB" dirty="0"/>
              <a:t>: Write a program that asks the user for numbers and prints them. </a:t>
            </a:r>
          </a:p>
          <a:p>
            <a:pPr lvl="1"/>
            <a:r>
              <a:rPr lang="en-GB" sz="2000" dirty="0"/>
              <a:t>Stop the loop when the user enters 0.</a:t>
            </a:r>
          </a:p>
          <a:p>
            <a:pPr lvl="1"/>
            <a:endParaRPr lang="en-GB" sz="2000" dirty="0"/>
          </a:p>
          <a:p>
            <a:pPr lvl="1"/>
            <a:r>
              <a:rPr lang="en-GB" sz="2000" b="1" dirty="0"/>
              <a:t>Hint</a:t>
            </a:r>
            <a:r>
              <a:rPr lang="en-GB" sz="2000" dirty="0"/>
              <a:t>: Use a while True: loop and break when the user enters 0.</a:t>
            </a:r>
            <a:endParaRPr lang="en-PK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BC02B-768C-5C86-67A1-828317A2C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9452B-6AA0-B82F-552E-132630422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9C59E-B22A-E203-BAFC-6CC2A3FD8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3220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B99D5-F49D-BBF2-5286-D98126305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Continue Statement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38107-E489-8994-8EF1-998145CDA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continue Statement</a:t>
            </a:r>
            <a:r>
              <a:rPr lang="en-GB" dirty="0"/>
              <a:t>: Skips the rest of the code inside the loop for the current iteration and moves to the next iteration.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B1282-CECE-1C67-090B-BB4F8C0A5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98B80-22F1-3E42-1356-A1113F03C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68C21-7AB2-61AC-907D-47858AAC4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D38348-A743-01D2-0EAA-35BFF5D3D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731" y="3314839"/>
            <a:ext cx="7792537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4006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EBD2B-0767-2FB0-5072-082E082F0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Hands-On Exercise 3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11AC0-EA15-DF07-61DE-F0BDD0029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Task</a:t>
            </a:r>
            <a:r>
              <a:rPr lang="en-GB" dirty="0"/>
              <a:t>: Write a program that prints all numbers from 1 to 10, except multiples of 3.</a:t>
            </a:r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r>
              <a:rPr lang="en-GB" b="1" dirty="0"/>
              <a:t>Hint</a:t>
            </a:r>
            <a:r>
              <a:rPr lang="en-GB" dirty="0"/>
              <a:t>: Use continue to skip numbers divisible by 3.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80AF1-5534-8CDD-A7C1-2569B85B4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D5C04-4901-5C69-DD36-765D39D59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FCBCD-9D95-D3C3-7523-6072EBDF7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6077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7FDB5-7B10-28E8-72A6-218B4CF65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Flags in While Loops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D1825-AF34-FF13-E5DE-9A5E5DC1F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/>
              <a:t>What is a Flag?</a:t>
            </a:r>
          </a:p>
          <a:p>
            <a:pPr lvl="1"/>
            <a:r>
              <a:rPr lang="en-GB" dirty="0"/>
              <a:t>A variable used to control whether the loop should continue or stop.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b="1" dirty="0"/>
              <a:t>Explanation</a:t>
            </a:r>
            <a:r>
              <a:rPr lang="en-GB" dirty="0"/>
              <a:t>: The loop continues until the user types "no", at which point the flag is set to False and the loop exits.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79B4E-2BE7-9664-8055-D13D2F007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76B90-6EC5-1B7D-83C5-DFB5D6CD5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959AC-E4A6-F4E0-BE57-F1351B658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97F4DB-CD51-5C13-6364-949BA51BF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887" y="3172825"/>
            <a:ext cx="10212225" cy="203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9979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D4E00-65BF-E614-284C-9BB02946E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Hands-On Group Activity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D278F-1378-D27F-D463-16B5A14B0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Scenario: Create a basic ATM system using while loops.</a:t>
            </a:r>
          </a:p>
          <a:p>
            <a:pPr lvl="1"/>
            <a:r>
              <a:rPr lang="en-GB" sz="2400" dirty="0"/>
              <a:t>The system should:</a:t>
            </a:r>
          </a:p>
          <a:p>
            <a:pPr lvl="2"/>
            <a:r>
              <a:rPr lang="en-GB" sz="2000" dirty="0"/>
              <a:t>Ask the user to input their balance.</a:t>
            </a:r>
          </a:p>
          <a:p>
            <a:pPr lvl="2"/>
            <a:r>
              <a:rPr lang="en-GB" sz="2000" dirty="0"/>
              <a:t>Display options to withdraw, deposit, or check balance.</a:t>
            </a:r>
          </a:p>
          <a:p>
            <a:pPr lvl="2"/>
            <a:r>
              <a:rPr lang="en-GB" sz="2000" dirty="0"/>
              <a:t>Use a flag to continue until the user chooses to exit.</a:t>
            </a:r>
            <a:endParaRPr lang="en-PK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D5DA8-F6A5-A656-C25A-A7ADC5457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6595F4-4C60-3810-6410-B8043D402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05B31-AA1E-422E-A104-D3627B18D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1847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056971-E901-E7D1-C78A-179AE5C6E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71" y="722904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Nested While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499B6-71FE-22B7-9B7D-0358B3DC6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9657" y="1970523"/>
            <a:ext cx="7893025" cy="61483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/>
              <a:t>Explanation</a:t>
            </a:r>
            <a:r>
              <a:rPr lang="en-US"/>
              <a:t>: A while loop can be placed inside another while loop.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C36C1D-DE13-1521-C3FD-205ACE7DB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453" y="2884564"/>
            <a:ext cx="6438830" cy="325729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BFB56-70D2-54A9-90CF-0B7A52CB27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0844D-31EB-4BBD-D665-7372D24CE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76" y="6215063"/>
            <a:ext cx="4114800" cy="417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Peoples Information Technology Program (PITP)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2DD3A-8B25-CE35-C49B-E737D3C77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1977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FC721-2BD8-0A45-1774-358644B9E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Common Pitfalls with While Loops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53A77-4822-3583-9B08-88636A3A0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Infinite Loops</a:t>
            </a:r>
            <a:r>
              <a:rPr lang="en-GB" dirty="0"/>
              <a:t>: Forgetting to update the loop condition can cause the loop to run indefinitely.</a:t>
            </a:r>
          </a:p>
          <a:p>
            <a:endParaRPr lang="en-GB" dirty="0"/>
          </a:p>
          <a:p>
            <a:r>
              <a:rPr lang="en-GB" b="1" dirty="0"/>
              <a:t>Missing Condition Updates</a:t>
            </a:r>
            <a:r>
              <a:rPr lang="en-GB" dirty="0"/>
              <a:t>: Ensure counters or flags are updated within the loop.</a:t>
            </a:r>
          </a:p>
          <a:p>
            <a:endParaRPr lang="en-GB" dirty="0"/>
          </a:p>
          <a:p>
            <a:r>
              <a:rPr lang="en-GB" b="1" dirty="0"/>
              <a:t>Off-By-One Errors</a:t>
            </a:r>
            <a:r>
              <a:rPr lang="en-GB" dirty="0"/>
              <a:t>: Make sure loop conditions are set correctly to avoid unexpected results (e.g., stopping one iteration too early or late).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38EC9-CC12-5CC3-8A69-315A9451A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37A74-6CBF-140E-BA82-673447BF3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CB0B3-A962-727D-72BF-3BE38F05C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4566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C14A8-E0FF-D5ED-17C1-5F8C1DAAE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Hands-On Group Exercise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73FD1-68C8-C306-9B87-492E5A4A3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Scenario</a:t>
            </a:r>
            <a:r>
              <a:rPr lang="en-GB" dirty="0"/>
              <a:t>: Build a program that simulates a countdown timer starting from a user-specified number.</a:t>
            </a:r>
          </a:p>
          <a:p>
            <a:pPr lvl="1"/>
            <a:r>
              <a:rPr lang="en-GB" dirty="0"/>
              <a:t>The timer should count down to 0 and print "Liftoff!" at the end.</a:t>
            </a:r>
          </a:p>
          <a:p>
            <a:pPr lvl="1"/>
            <a:r>
              <a:rPr lang="en-GB" b="1" dirty="0"/>
              <a:t>Bonus</a:t>
            </a:r>
            <a:r>
              <a:rPr lang="en-GB" dirty="0"/>
              <a:t>: Add an option for the user to interrupt the countdown early by entering a specific command (use break).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2B075-5183-F498-2B4E-B06313CE3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B4A57-0295-8D5D-C389-B09068FCB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2ED18-F5EF-9A5F-A801-47C6F11A3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4060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34915-0AC8-10B9-BD77-CDBBE8D84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Combining While Loops with If Statements</a:t>
            </a:r>
            <a:endParaRPr lang="en-PK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A7A8F71-8D22-6C5F-E03D-F0BBE9AC29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8631" y="2240875"/>
            <a:ext cx="5557634" cy="2634544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B9318-8066-7928-6CA1-BF4F59F3B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CBB7E-52AA-DD68-258C-A4E125EA2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C1DAB-F71F-5861-1572-0A76A0970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7745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27816-EB85-B411-9017-55AA80492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Hands-On Exercise 4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0331E-B93B-D753-22F4-3FC5D406F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Task</a:t>
            </a:r>
            <a:r>
              <a:rPr lang="en-GB" dirty="0"/>
              <a:t>: Write a program that asks the user to guess a secret number between 1 and 10. The program should keep asking until the user guesses correctly.</a:t>
            </a:r>
          </a:p>
          <a:p>
            <a:endParaRPr lang="en-GB" b="1" dirty="0"/>
          </a:p>
          <a:p>
            <a:endParaRPr lang="en-GB" b="1" dirty="0"/>
          </a:p>
          <a:p>
            <a:r>
              <a:rPr lang="en-GB" b="1" dirty="0"/>
              <a:t>Hint</a:t>
            </a:r>
            <a:r>
              <a:rPr lang="en-GB" dirty="0"/>
              <a:t>: Use a while loop and check the condition for whether the guessed number is correct.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354BE-6994-4E6D-E3E5-A4E4B3574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3E9B3-ECC1-CA42-E2E2-73186F48D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0DAEF-031B-DE4F-419B-5BF22D4A4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963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9D5CF-6431-1729-0490-B93329B84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Recap and Key Takeaways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8355D-786E-EEC8-831E-1652936C6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Recap:</a:t>
            </a:r>
          </a:p>
          <a:p>
            <a:pPr lvl="1"/>
            <a:r>
              <a:rPr lang="en-GB" dirty="0"/>
              <a:t>Loops allow repetition of code blocks.</a:t>
            </a:r>
          </a:p>
          <a:p>
            <a:pPr lvl="1"/>
            <a:r>
              <a:rPr lang="en-GB" dirty="0"/>
              <a:t>The while loop continues as long as a condition is True.</a:t>
            </a:r>
          </a:p>
          <a:p>
            <a:pPr lvl="1"/>
            <a:r>
              <a:rPr lang="en-GB" dirty="0"/>
              <a:t>Use break to exit the loop and continue to skip the current iteration.</a:t>
            </a:r>
          </a:p>
          <a:p>
            <a:pPr lvl="1"/>
            <a:r>
              <a:rPr lang="en-GB" dirty="0"/>
              <a:t>Key Takeaways: Always ensure loop conditions change to avoid infinite loops.</a:t>
            </a:r>
          </a:p>
          <a:p>
            <a:pPr lvl="1"/>
            <a:r>
              <a:rPr lang="en-GB" dirty="0"/>
              <a:t>Loops and conditionals can be combined to solve complex problems.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1E769-4115-AFBF-5AF1-4F49DE993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D90EA-374E-0A24-0DC4-60CE0B63A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FD453-B888-180A-91AD-B5B15102E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4111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FDCFB-7CEC-E8F8-45B9-85F492C7A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Q&amp;A and Wrap-Up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42C79-6B45-BB35-5024-01C9033E7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Open the floor for any questions or clarifications.</a:t>
            </a:r>
          </a:p>
          <a:p>
            <a:endParaRPr lang="en-GB" dirty="0"/>
          </a:p>
          <a:p>
            <a:r>
              <a:rPr lang="en-GB" dirty="0"/>
              <a:t>Recap the main points of the session.</a:t>
            </a:r>
          </a:p>
          <a:p>
            <a:endParaRPr lang="en-GB" dirty="0"/>
          </a:p>
          <a:p>
            <a:r>
              <a:rPr lang="en-GB" dirty="0"/>
              <a:t>Briefly mention that Day 2 will cover for loops and how they differ from while loops.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8DE78-51AF-884A-B273-DC9035E26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07DD6-CDEC-A073-1FFA-F31CF4274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7C379-BAEA-409E-6A6D-AE28A2071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3071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4ADCEA6-5711-A829-160F-6FF828BF6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2461762"/>
            <a:ext cx="10501177" cy="140123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Match the solution </a:t>
            </a:r>
            <a:r>
              <a:rPr lang="en-US" sz="8800" dirty="0"/>
              <a:t>😒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93E54-5047-E1BF-F8A5-F8A9F8FCC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C46BB-E502-E120-17B1-ED81DD9E3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EA57D-1A60-4FD6-72D6-CD7D6653C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2122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2B552-E9F6-7510-0D62-7AE6197CE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BF999-4518-DEF6-246E-E61D53E64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85C4F-8626-C499-7582-E03344BBF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6905B2-6DCF-E891-A69F-54FA9620D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87" y="1257839"/>
            <a:ext cx="7763958" cy="458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2416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91ED5-4496-4600-D8D0-4E88BE035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25328-3F08-CD94-17AE-18E057007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2651A-BC94-2869-E684-4CF607FFF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CDD127-0E2E-9287-5FFE-2A11ABC7E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652" y="747757"/>
            <a:ext cx="10021699" cy="546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4395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7EE5F-7193-DA56-71A7-E44497CB4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0C628-160A-A676-2AD8-E6DC1FE1C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55467-4584-DE50-6D60-09A2BD63A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F9DE5A-6B40-0086-F4CB-78647EEAA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034" y="653490"/>
            <a:ext cx="9974067" cy="571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6491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DA9D99-A020-3877-8183-A622B1D3C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DB6ED-9004-4A71-8778-868A297C4223}" type="datetime1">
              <a:rPr lang="en-US" smtClean="0"/>
              <a:t>9/30/2024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4BD1F7-5975-DDFE-F30B-47EA82B0B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1D8327-6B9A-2F58-5253-E3D7E1B4E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F3F30A-2B86-4ED6-AFD7-4ED418C31B34}"/>
              </a:ext>
            </a:extLst>
          </p:cNvPr>
          <p:cNvSpPr txBox="1"/>
          <p:nvPr/>
        </p:nvSpPr>
        <p:spPr>
          <a:xfrm>
            <a:off x="1738859" y="2926848"/>
            <a:ext cx="73451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dirty="0">
                <a:latin typeface="Avenir Next LT Pro Light" panose="020B0304020202020204" pitchFamily="34" charset="0"/>
              </a:rPr>
              <a:t>The End</a:t>
            </a:r>
            <a:endParaRPr lang="en-PK" sz="6000" dirty="0">
              <a:latin typeface="Avenir Next LT Pro Light" panose="020B03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117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CosineVTI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B83B841CBE624CBD6CA6C23B585E86" ma:contentTypeVersion="4" ma:contentTypeDescription="Create a new document." ma:contentTypeScope="" ma:versionID="df8140b7ff1f38641146e502cd7017ce">
  <xsd:schema xmlns:xsd="http://www.w3.org/2001/XMLSchema" xmlns:xs="http://www.w3.org/2001/XMLSchema" xmlns:p="http://schemas.microsoft.com/office/2006/metadata/properties" xmlns:ns3="5e1f2001-7a2a-475f-99ed-f287c302d85e" targetNamespace="http://schemas.microsoft.com/office/2006/metadata/properties" ma:root="true" ma:fieldsID="4ef91abf136de239640819636eae1c09" ns3:_="">
    <xsd:import namespace="5e1f2001-7a2a-475f-99ed-f287c302d85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1f2001-7a2a-475f-99ed-f287c302d8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7403B38-2017-46CB-BAFD-34E91D55FE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1f2001-7a2a-475f-99ed-f287c302d85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3882337-F9FF-4386-BC46-5C61B288A5C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7028091-2C71-4358-873E-63FAA6926BD7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5e1f2001-7a2a-475f-99ed-f287c302d85e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1688</TotalTime>
  <Words>1012</Words>
  <Application>Microsoft Office PowerPoint</Application>
  <PresentationFormat>Widescreen</PresentationFormat>
  <Paragraphs>179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Aptos</vt:lpstr>
      <vt:lpstr>Arial</vt:lpstr>
      <vt:lpstr>Avenir Next LT Pro Light</vt:lpstr>
      <vt:lpstr>Grandview</vt:lpstr>
      <vt:lpstr>Wingdings</vt:lpstr>
      <vt:lpstr>CosineVTI</vt:lpstr>
      <vt:lpstr>Python Programming Bootcamp - Day 1 (Week 2)</vt:lpstr>
      <vt:lpstr>Learning Objectives</vt:lpstr>
      <vt:lpstr>What is a Loop?</vt:lpstr>
      <vt:lpstr>Introduction to While Loop</vt:lpstr>
      <vt:lpstr>Flowchart of a While Loop</vt:lpstr>
      <vt:lpstr>Infinite Loops</vt:lpstr>
      <vt:lpstr>Controlling While Loops with a Counter</vt:lpstr>
      <vt:lpstr>Hands-On Exercise 1</vt:lpstr>
      <vt:lpstr>Breaking Out of a Loop</vt:lpstr>
      <vt:lpstr>Hands-On Exercise 2</vt:lpstr>
      <vt:lpstr>Continue Statement</vt:lpstr>
      <vt:lpstr>Hands-On Exercise 3</vt:lpstr>
      <vt:lpstr>Flags in While Loops</vt:lpstr>
      <vt:lpstr>Hands-On Group Activity</vt:lpstr>
      <vt:lpstr>Nested While Loops</vt:lpstr>
      <vt:lpstr>Common Pitfalls with While Loops</vt:lpstr>
      <vt:lpstr>Hands-On Group Exercise</vt:lpstr>
      <vt:lpstr>Combining While Loops with If Statements</vt:lpstr>
      <vt:lpstr>Hands-On Exercise 4</vt:lpstr>
      <vt:lpstr>Recap and Key Takeaways</vt:lpstr>
      <vt:lpstr>Q&amp;A and Wrap-Up</vt:lpstr>
      <vt:lpstr>Match the solution 😒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Atta Muhammad</dc:creator>
  <cp:lastModifiedBy>Atta Muhammad</cp:lastModifiedBy>
  <cp:revision>195</cp:revision>
  <dcterms:created xsi:type="dcterms:W3CDTF">2024-09-22T16:39:41Z</dcterms:created>
  <dcterms:modified xsi:type="dcterms:W3CDTF">2024-09-30T07:21:32Z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0x01010045B83B841CBE624CBD6CA6C23B585E86</vt:lpwstr>
  </property>
</Properties>
</file>