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7" r:id="rId4"/>
  </p:sldMasterIdLst>
  <p:notesMasterIdLst>
    <p:notesMasterId r:id="rId1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24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0B9B8A-C9F4-45A9-946A-0C2A265149BA}" type="datetimeFigureOut">
              <a:rPr lang="en-PK" smtClean="0"/>
              <a:t>22/09/2024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49182C-4EB3-44EA-9D91-AE666E2C70B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47173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AFFC5-F979-4BDB-AB3F-09CD0BB94893}" type="datetime1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/>
              <a:t>Peoples Information Technology Program (PITP)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112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C4E612-C65F-E86B-C033-C74E10C5F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146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5EDE2-8534-48BF-9CA6-D54B64FC3663}" type="datetime1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73816A04-1E1A-A37B-B73F-D58381522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552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71838-1DAD-4964-A8D2-EDEBDDADA2BA}" type="datetime1">
              <a:rPr lang="en-US" smtClean="0"/>
              <a:t>9/22/2024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Peoples Information Technology Program (PITP)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73B481-ACD9-3F79-2DD1-4E69317CA3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434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5A583B43-2D19-41E3-ADB6-6E49D8A9C652}" type="datetime1">
              <a:rPr lang="en-US" smtClean="0"/>
              <a:t>9/22/2024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/>
              <a:t>Peoples Information Technology Program (PITP)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D762F6-9A6B-F123-7BA4-D26132F134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37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CC5B1-62D5-4835-9D64-34BCFE87B16E}" type="datetime1">
              <a:rPr lang="en-US" smtClean="0"/>
              <a:t>9/22/2024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C769D5-36F8-AEAA-973C-3B0AA9495C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745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DB6ED-9004-4A71-8778-868A297C4223}" type="datetime1">
              <a:rPr lang="en-US" smtClean="0"/>
              <a:t>9/22/2024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0303414-A318-B16A-813B-5FE0C2A9B1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191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E5DEB-5D91-49B1-B35D-D9EF8CFD3798}" type="datetime1">
              <a:rPr lang="en-US" smtClean="0"/>
              <a:t>9/22/2024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1257B711-A0E5-3E59-6F6F-EC8B7DFCAA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275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A3221-1A1D-4D6B-BF82-669EAF0E1547}" type="datetime1">
              <a:rPr lang="en-US" smtClean="0"/>
              <a:t>9/22/2024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E6E5774-C41A-3566-565A-6CC03B7446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38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9002-3737-4861-8D92-764E24EAAD04}" type="datetime1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6BE428-415A-1F91-83CF-9AB56205C4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144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16911-A92B-4B7F-93FD-47BD9A1E4D48}" type="datetime1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B53FAEC-333B-D11A-6998-5FB685BFB3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816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E34E7-6DA0-4AC7-AC94-EDF665FC0F13}" type="datetime1">
              <a:rPr lang="en-US" smtClean="0"/>
              <a:t>9/22/2024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Peoples Information Technology Program (PITP)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460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0" r:id="rId6"/>
    <p:sldLayoutId id="2147483726" r:id="rId7"/>
    <p:sldLayoutId id="2147483727" r:id="rId8"/>
    <p:sldLayoutId id="2147483728" r:id="rId9"/>
    <p:sldLayoutId id="2147483729" r:id="rId10"/>
    <p:sldLayoutId id="2147483731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mailto:attapanhyar@quest.edu.p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4187D111-0A9D-421B-84EB-FC5811C3A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15ECF02-0C11-4320-A868-5EC7DD53DE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C74A336-DE5D-4AE0-9A50-8D93C4AA4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11A81C9-7A36-4A04-B14C-A45B899E4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AE1DE35-5349-4B57-B255-C07C69270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AFE9588-5F4B-41DF-9FF6-6B4969245C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4CC9B87-707A-4D04-9336-B1418878A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8CF5CAA-7C4D-408A-B1A8-E98C0E6633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462EA1B-90F8-4C08-AE36-FFBA2B45BF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F7B5623-96F7-42F0-BAC5-78D6789E01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85D83B1-1723-4710-8FC5-18EDC879E4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998838C-DFB6-48F7-A18D-30469E8162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BDB9A78-94CB-422D-B92E-65FD2732E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A5DBD01-426B-424D-815A-96518F6007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B0218DF-D55B-4D41-AE23-F1E64BAC60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8D61EB8-98CC-4243-9E20-33CAC65B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35F0944-B143-45B0-8B72-6CE34D4612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F68EF7F-67D0-463D-AB84-EA24D18196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E17074E-4E65-4CBD-B1B0-9C18D6F72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CC905ED-EF46-4349-9E9B-217431094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B91F234-1C65-45AC-8CCE-A1C4AE49C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D46B3DB-5DBB-41CF-9FA5-010ECA0C3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92A3FF8-F172-47ED-84C6-802C85C1CB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933982-9CB6-4199-B123-A3669A4FEF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CA832CD-B214-4ABC-AC95-A3DA116AC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7EBA147-C4BA-4B48-B61D-CA24B8B06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A8253B7-461E-48CC-B871-8A255EE3D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ADE46C3-C2E1-4492-AC59-870160A3C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B0052E9-B440-4C1E-BC41-39957D590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31F119B-638C-42B1-8400-709B94F1E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16299ED-D998-4895-9CCF-02427F195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4442675-84C9-45C8-9524-ABE4E25071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5BE3E63-4FA5-4EBD-9F3B-E29F5128A8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C5A698-334B-D067-8439-BFEB7877F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89726" y="722903"/>
            <a:ext cx="5415521" cy="270609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 dirty="0"/>
              <a:t>Peoples Information Technology Program (PITP)</a:t>
            </a:r>
            <a:endParaRPr lang="en-PK" sz="4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FEA0F-305F-C5D2-1BA5-3770746BC8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89726" y="3674327"/>
            <a:ext cx="5415521" cy="2460770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Introduction to Python &amp; Programming Concepts</a:t>
            </a:r>
          </a:p>
          <a:p>
            <a:endParaRPr lang="en-GB" dirty="0"/>
          </a:p>
          <a:p>
            <a:r>
              <a:rPr lang="en-GB" dirty="0"/>
              <a:t>Atta Muhammad</a:t>
            </a:r>
          </a:p>
          <a:p>
            <a:r>
              <a:rPr lang="en-GB" dirty="0">
                <a:hlinkClick r:id="rId2"/>
              </a:rPr>
              <a:t>attapanhyar@quest.edu.pk</a:t>
            </a:r>
            <a:endParaRPr lang="en-GB" dirty="0"/>
          </a:p>
          <a:p>
            <a:r>
              <a:rPr lang="en-US" dirty="0"/>
              <a:t>+923331971110</a:t>
            </a:r>
          </a:p>
          <a:p>
            <a:r>
              <a:rPr lang="en-US" dirty="0"/>
              <a:t>Quaid e </a:t>
            </a:r>
            <a:r>
              <a:rPr lang="en-US" dirty="0" err="1"/>
              <a:t>Awam</a:t>
            </a:r>
            <a:r>
              <a:rPr lang="en-US" dirty="0"/>
              <a:t> University of Engineering, Science and Technology</a:t>
            </a:r>
            <a:endParaRPr lang="en-PK" dirty="0"/>
          </a:p>
        </p:txBody>
      </p:sp>
      <p:pic>
        <p:nvPicPr>
          <p:cNvPr id="46" name="Picture 45" descr="A colorful background with curves&#10;&#10;Description automatically generated with medium confidence">
            <a:extLst>
              <a:ext uri="{FF2B5EF4-FFF2-40B4-BE49-F238E27FC236}">
                <a16:creationId xmlns:a16="http://schemas.microsoft.com/office/drawing/2014/main" id="{D466624D-CA7F-85D0-CF1C-623C442A82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514" r="33800"/>
          <a:stretch/>
        </p:blipFill>
        <p:spPr>
          <a:xfrm>
            <a:off x="1" y="10"/>
            <a:ext cx="5854890" cy="6857990"/>
          </a:xfrm>
          <a:custGeom>
            <a:avLst/>
            <a:gdLst/>
            <a:ahLst/>
            <a:cxnLst/>
            <a:rect l="l" t="t" r="r" b="b"/>
            <a:pathLst>
              <a:path w="6036633" h="6858000">
                <a:moveTo>
                  <a:pt x="0" y="0"/>
                </a:moveTo>
                <a:lnTo>
                  <a:pt x="5782584" y="0"/>
                </a:lnTo>
                <a:lnTo>
                  <a:pt x="5847735" y="280891"/>
                </a:lnTo>
                <a:cubicBezTo>
                  <a:pt x="6512611" y="3337011"/>
                  <a:pt x="5215360" y="3533975"/>
                  <a:pt x="5130974" y="6590095"/>
                </a:cubicBezTo>
                <a:lnTo>
                  <a:pt x="512734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F0753E91-DF19-4FA4-BFBF-221696B8D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6297356" y="-287372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827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BB7A0-DA67-F883-6327-86A8EE39A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20C70-185C-1F1F-AB13-173581EC1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BE7C5-F7D7-DEAA-95AB-853FEED15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79D1D-5121-4174-9DC6-4EB2ACDE9EBB}" type="datetime1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67CA8-16BF-D4F6-6E56-BFBB4A703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EDC73-D218-989C-EC8F-E0870D16C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900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01147-D172-B6D9-4475-F78A3A567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Objectives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63D08-78F1-80CF-1EEA-F18BAFE32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Install Python and set up the development environment.</a:t>
            </a:r>
          </a:p>
          <a:p>
            <a:r>
              <a:rPr lang="en-GB" dirty="0"/>
              <a:t>Understand basic programming concepts.</a:t>
            </a:r>
          </a:p>
          <a:p>
            <a:r>
              <a:rPr lang="en-GB" dirty="0"/>
              <a:t>Write and execute your first Python program.</a:t>
            </a:r>
          </a:p>
          <a:p>
            <a:r>
              <a:rPr lang="en-GB" dirty="0"/>
              <a:t>Work with basic data types (strings, integers).</a:t>
            </a:r>
          </a:p>
          <a:p>
            <a:r>
              <a:rPr lang="en-GB" dirty="0"/>
              <a:t>Understand how to declare and use variables.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E674B-892F-9D40-7A8E-5BA84299E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B2CC8-1C73-C94C-9E78-8DD8F2006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B3EFC-3B75-6240-66B1-84C9478F8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111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885D0-1377-FDE4-3788-F8867F89C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</a:t>
            </a:r>
            <a:r>
              <a:rPr lang="en-GB" dirty="0">
                <a:solidFill>
                  <a:srgbClr val="FF0000"/>
                </a:solidFill>
              </a:rPr>
              <a:t>Programming</a:t>
            </a:r>
            <a:r>
              <a:rPr lang="en-GB" dirty="0"/>
              <a:t>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D74AF-33EB-C3FC-0366-FCC51EE4D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Writing instructions for a computer to execute.</a:t>
            </a:r>
          </a:p>
          <a:p>
            <a:r>
              <a:rPr lang="en-GB" dirty="0"/>
              <a:t>Examples of real-world programming applications: </a:t>
            </a:r>
          </a:p>
          <a:p>
            <a:pPr lvl="1"/>
            <a:r>
              <a:rPr lang="en-GB" dirty="0"/>
              <a:t>Websites</a:t>
            </a:r>
          </a:p>
          <a:p>
            <a:pPr lvl="1"/>
            <a:r>
              <a:rPr lang="en-GB" dirty="0"/>
              <a:t>Games</a:t>
            </a:r>
          </a:p>
          <a:p>
            <a:pPr lvl="1"/>
            <a:r>
              <a:rPr lang="en-GB" dirty="0"/>
              <a:t>Automation</a:t>
            </a:r>
          </a:p>
          <a:p>
            <a:pPr lvl="1"/>
            <a:r>
              <a:rPr lang="en-GB" dirty="0"/>
              <a:t>And more…</a:t>
            </a:r>
          </a:p>
          <a:p>
            <a:pPr lvl="1"/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213EE-0301-EA43-43DA-7E1355E68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4D5C7-6107-455E-2A29-7AAB46510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F4D5D-E07A-4718-6FE7-FD914B9E6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726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A20FB-79CA-05A1-F620-9070EDCD4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</a:t>
            </a:r>
            <a:r>
              <a:rPr lang="en-GB" dirty="0">
                <a:solidFill>
                  <a:srgbClr val="FF0000"/>
                </a:solidFill>
              </a:rPr>
              <a:t>Python</a:t>
            </a:r>
            <a:r>
              <a:rPr lang="en-GB" dirty="0"/>
              <a:t>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FAD79-8168-0B40-E71F-294A05D7F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Python's popularity and simplicity.</a:t>
            </a:r>
          </a:p>
          <a:p>
            <a:endParaRPr lang="en-GB" dirty="0"/>
          </a:p>
          <a:p>
            <a:r>
              <a:rPr lang="en-GB" dirty="0"/>
              <a:t>Versatile for different domains: Web development, data analysis, automation, etc.</a:t>
            </a:r>
          </a:p>
          <a:p>
            <a:endParaRPr lang="en-GB" dirty="0"/>
          </a:p>
          <a:p>
            <a:r>
              <a:rPr lang="en-GB" dirty="0"/>
              <a:t>Easy-to-learn syntax and readability.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B413E-10AE-C097-05D1-C161BB075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F95EF-871C-E73A-EF36-5876ECE14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C124C-3194-7DE4-DA54-D05DD83BB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377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4B537-85DB-76FB-351C-50FC9526F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Python </a:t>
            </a:r>
            <a:r>
              <a:rPr lang="en-GB" dirty="0">
                <a:solidFill>
                  <a:srgbClr val="FFC000"/>
                </a:solidFill>
              </a:rPr>
              <a:t>Installation</a:t>
            </a:r>
            <a:endParaRPr lang="en-PK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E509E-393F-92C9-AB76-6B9424821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Steps:</a:t>
            </a:r>
          </a:p>
          <a:p>
            <a:endParaRPr lang="en-GB" dirty="0"/>
          </a:p>
          <a:p>
            <a:pPr lvl="1"/>
            <a:r>
              <a:rPr lang="en-GB" sz="3000" dirty="0"/>
              <a:t>Visit python.org.</a:t>
            </a:r>
          </a:p>
          <a:p>
            <a:pPr lvl="1"/>
            <a:endParaRPr lang="en-GB" sz="3000" dirty="0"/>
          </a:p>
          <a:p>
            <a:pPr lvl="1"/>
            <a:r>
              <a:rPr lang="en-GB" sz="3000" dirty="0"/>
              <a:t>Download and install Python.</a:t>
            </a:r>
          </a:p>
          <a:p>
            <a:pPr lvl="1"/>
            <a:endParaRPr lang="en-GB" sz="3000" dirty="0"/>
          </a:p>
          <a:p>
            <a:pPr lvl="1"/>
            <a:r>
              <a:rPr lang="en-GB" sz="3000" dirty="0"/>
              <a:t>Ensure "Add Python to PATH" is checked.</a:t>
            </a:r>
          </a:p>
          <a:p>
            <a:pPr lvl="1"/>
            <a:endParaRPr lang="en-GB" sz="3000" dirty="0"/>
          </a:p>
          <a:p>
            <a:pPr lvl="1"/>
            <a:r>
              <a:rPr lang="en-GB" sz="3000" dirty="0"/>
              <a:t>Verify Installation: Run python --version in the terminal.</a:t>
            </a:r>
            <a:endParaRPr lang="en-PK" sz="3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AE4D6-EA82-34F9-9B17-E90CFCE32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E98E2-C7BF-5BC7-AD41-A68EB205E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2E012-21BB-4929-4331-35091A392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436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CBA73-3F72-81B8-88EB-79363D42D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Setting Up </a:t>
            </a:r>
            <a:r>
              <a:rPr lang="en-GB" dirty="0"/>
              <a:t>an </a:t>
            </a:r>
            <a:r>
              <a:rPr lang="en-GB" dirty="0">
                <a:solidFill>
                  <a:srgbClr val="00B0F0"/>
                </a:solidFill>
              </a:rPr>
              <a:t>IDE</a:t>
            </a:r>
            <a:endParaRPr lang="en-PK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31ABD-8A97-5F3E-4048-B914CDE75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/>
              <a:t>Popular options:</a:t>
            </a:r>
          </a:p>
          <a:p>
            <a:pPr lvl="1"/>
            <a:r>
              <a:rPr lang="en-GB" sz="2400" dirty="0"/>
              <a:t>Visual Studio </a:t>
            </a:r>
          </a:p>
          <a:p>
            <a:pPr lvl="1"/>
            <a:r>
              <a:rPr lang="en-GB" sz="2400" dirty="0" err="1"/>
              <a:t>CodePyCharm</a:t>
            </a:r>
            <a:endParaRPr lang="en-GB" sz="2400" dirty="0"/>
          </a:p>
          <a:p>
            <a:pPr lvl="1"/>
            <a:r>
              <a:rPr lang="en-GB" sz="2400" dirty="0"/>
              <a:t>Online options (</a:t>
            </a:r>
            <a:r>
              <a:rPr lang="en-GB" sz="2400" dirty="0" err="1"/>
              <a:t>Replit</a:t>
            </a:r>
            <a:r>
              <a:rPr lang="en-GB" sz="2400" dirty="0"/>
              <a:t>, PythonAnywhere)</a:t>
            </a:r>
          </a:p>
          <a:p>
            <a:r>
              <a:rPr lang="en-GB" sz="2800" dirty="0"/>
              <a:t>Short guide on setting up a Python </a:t>
            </a:r>
            <a:r>
              <a:rPr lang="en-GB" dirty="0"/>
              <a:t>file and running your first script.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A13C9-FE1F-B540-706D-2C4364AAE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148C1-CA2E-8341-2E4F-BFD11A5AD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8BF21-B460-2EC8-1658-F2136E960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148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85D0F-93A6-7C3B-CDC9-8E2697E9E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Your First Python Program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52810-A10C-08BA-F057-08ABAF0B1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0C478-AC54-5FFF-C6E4-E16B05E8E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AA69F-8265-D4FE-C842-818B5BC87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8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C4F3701-9831-4B59-870A-11BA15ECF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545" y="3273649"/>
            <a:ext cx="8699032" cy="901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97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445B6-CA5F-5BC5-B868-56F96F217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Variables in Python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8CB7-92D6-BDAF-B619-1DFE81FEF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a variable?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BBEF0-3FEE-A922-E00F-F5B863D29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35963-8582-A0B9-ECC9-97A6D5229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31D4F-CC39-2342-4772-FE391F90B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A5A722-4926-B2E6-FEBD-959605B51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883" y="3249718"/>
            <a:ext cx="5196233" cy="231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19565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83B841CBE624CBD6CA6C23B585E86" ma:contentTypeVersion="4" ma:contentTypeDescription="Create a new document." ma:contentTypeScope="" ma:versionID="df8140b7ff1f38641146e502cd7017ce">
  <xsd:schema xmlns:xsd="http://www.w3.org/2001/XMLSchema" xmlns:xs="http://www.w3.org/2001/XMLSchema" xmlns:p="http://schemas.microsoft.com/office/2006/metadata/properties" xmlns:ns3="5e1f2001-7a2a-475f-99ed-f287c302d85e" targetNamespace="http://schemas.microsoft.com/office/2006/metadata/properties" ma:root="true" ma:fieldsID="4ef91abf136de239640819636eae1c09" ns3:_="">
    <xsd:import namespace="5e1f2001-7a2a-475f-99ed-f287c302d85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1f2001-7a2a-475f-99ed-f287c302d8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7403B38-2017-46CB-BAFD-34E91D55FE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1f2001-7a2a-475f-99ed-f287c302d85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3882337-F9FF-4386-BC46-5C61B288A5C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7028091-2C71-4358-873E-63FAA6926BD7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5e1f2001-7a2a-475f-99ed-f287c302d85e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30</TotalTime>
  <Words>279</Words>
  <Application>Microsoft Office PowerPoint</Application>
  <PresentationFormat>Widescreen</PresentationFormat>
  <Paragraphs>70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Grandview</vt:lpstr>
      <vt:lpstr>Wingdings</vt:lpstr>
      <vt:lpstr>CosineVTI</vt:lpstr>
      <vt:lpstr>Peoples Information Technology Program (PITP)</vt:lpstr>
      <vt:lpstr>Contents</vt:lpstr>
      <vt:lpstr>Learning Objectives</vt:lpstr>
      <vt:lpstr>What is Programming?</vt:lpstr>
      <vt:lpstr>Why Python?</vt:lpstr>
      <vt:lpstr>Python Installation</vt:lpstr>
      <vt:lpstr>Setting Up an IDE</vt:lpstr>
      <vt:lpstr>Your First Python Program</vt:lpstr>
      <vt:lpstr>Variables in Python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Atta Muhammad</dc:creator>
  <cp:lastModifiedBy>Atta Muhammad</cp:lastModifiedBy>
  <cp:revision>29</cp:revision>
  <dcterms:created xsi:type="dcterms:W3CDTF">2024-09-22T16:39:41Z</dcterms:created>
  <dcterms:modified xsi:type="dcterms:W3CDTF">2024-09-22T17:09:57Z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0x01010045B83B841CBE624CBD6CA6C23B585E86</vt:lpwstr>
  </property>
</Properties>
</file>