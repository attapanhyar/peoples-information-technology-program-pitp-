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3"/>
  </p:notesMasterIdLst>
  <p:sldIdLst>
    <p:sldId id="287" r:id="rId2"/>
    <p:sldId id="256" r:id="rId3"/>
    <p:sldId id="300" r:id="rId4"/>
    <p:sldId id="301" r:id="rId5"/>
    <p:sldId id="302" r:id="rId6"/>
    <p:sldId id="303" r:id="rId7"/>
    <p:sldId id="304" r:id="rId8"/>
    <p:sldId id="305" r:id="rId9"/>
    <p:sldId id="307" r:id="rId10"/>
    <p:sldId id="306" r:id="rId11"/>
    <p:sldId id="308" r:id="rId12"/>
    <p:sldId id="309" r:id="rId13"/>
    <p:sldId id="310" r:id="rId14"/>
    <p:sldId id="312" r:id="rId15"/>
    <p:sldId id="313" r:id="rId16"/>
    <p:sldId id="314" r:id="rId17"/>
    <p:sldId id="311" r:id="rId18"/>
    <p:sldId id="315" r:id="rId19"/>
    <p:sldId id="316" r:id="rId20"/>
    <p:sldId id="317" r:id="rId21"/>
    <p:sldId id="299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FAC494-0A80-4064-A01B-9A6E4C369D31}" type="datetimeFigureOut">
              <a:rPr lang="en-PK" smtClean="0"/>
              <a:t>16/12/2024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A9CAA9-D0B1-4253-95AF-C412DFC374A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61972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59F27-DF0E-4232-B62C-DB27033F866A}" type="datetime1">
              <a:rPr lang="en-US" smtClean="0"/>
              <a:t>12/16/2024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8373C-6796-4986-B8FF-7527357BEF77}" type="datetime1">
              <a:rPr lang="en-US" smtClean="0"/>
              <a:t>12/16/2024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10B79-4D5B-44C0-8AFE-677DAC1BBD28}" type="datetime1">
              <a:rPr lang="en-US" smtClean="0"/>
              <a:t>12/16/2024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B559D-834D-48B1-8EAA-F03DE93BD21C}" type="datetime1">
              <a:rPr lang="en-US" smtClean="0"/>
              <a:t>12/16/2024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D6FB0-A115-4295-95B9-E3D4E4B5D7BB}" type="datetime1">
              <a:rPr lang="en-US" smtClean="0"/>
              <a:t>12/16/2024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A5639-8631-4F17-AB79-0A320067A1C4}" type="datetime1">
              <a:rPr lang="en-US" smtClean="0"/>
              <a:t>12/16/2024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AE89B-5AF3-4D70-8B46-3C9D52C877BD}" type="datetime1">
              <a:rPr lang="en-US" smtClean="0"/>
              <a:t>12/16/2024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8BA62-26EF-421E-AC5E-6A22283FDF42}" type="datetime1">
              <a:rPr lang="en-US" smtClean="0"/>
              <a:t>12/16/2024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2EAB-F417-4892-ADCC-F99592DD1689}" type="datetime1">
              <a:rPr lang="en-US" smtClean="0"/>
              <a:t>12/16/2024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490D4-6840-4BBF-80E8-CC69AFA30F8F}" type="datetime1">
              <a:rPr lang="en-US" smtClean="0"/>
              <a:t>12/16/2024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B9B5E4-E59A-491F-BD64-F0ABF557BE8D}" type="datetime1">
              <a:rPr lang="en-US" smtClean="0"/>
              <a:t>12/16/2024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B6725EBD-B219-082D-53CA-FB90A507D8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69" b="19312"/>
          <a:stretch/>
        </p:blipFill>
        <p:spPr>
          <a:xfrm>
            <a:off x="1" y="858414"/>
            <a:ext cx="8980197" cy="5142336"/>
          </a:xfrm>
          <a:custGeom>
            <a:avLst/>
            <a:gdLst/>
            <a:ahLst/>
            <a:cxnLst/>
            <a:rect l="l" t="t" r="r" b="b"/>
            <a:pathLst>
              <a:path w="12168757" h="6856448">
                <a:moveTo>
                  <a:pt x="0" y="0"/>
                </a:moveTo>
                <a:lnTo>
                  <a:pt x="11275572" y="0"/>
                </a:lnTo>
                <a:lnTo>
                  <a:pt x="11279725" y="311311"/>
                </a:lnTo>
                <a:cubicBezTo>
                  <a:pt x="11362648" y="3365106"/>
                  <a:pt x="12638651" y="3558944"/>
                  <a:pt x="11981282" y="6618698"/>
                </a:cubicBezTo>
                <a:lnTo>
                  <a:pt x="11926949" y="6856448"/>
                </a:lnTo>
                <a:lnTo>
                  <a:pt x="0" y="6856448"/>
                </a:lnTo>
                <a:close/>
              </a:path>
            </a:pathLst>
          </a:cu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81974-629E-8397-F254-2C04C960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2737" y="5519152"/>
            <a:ext cx="734363" cy="312845"/>
          </a:xfrm>
        </p:spPr>
        <p:txBody>
          <a:bodyPr>
            <a:normAutofit/>
          </a:bodyPr>
          <a:lstStyle/>
          <a:p>
            <a:pPr>
              <a:spcAft>
                <a:spcPts val="450"/>
              </a:spcAft>
            </a:pPr>
            <a:fld id="{BE15108C-154A-4A5A-9C05-91A49A422BA7}" type="slidenum">
              <a:rPr lang="en-US">
                <a:solidFill>
                  <a:srgbClr val="FFFFFF"/>
                </a:solidFill>
              </a:rPr>
              <a:pPr>
                <a:spcAft>
                  <a:spcPts val="450"/>
                </a:spcAft>
              </a:pPr>
              <a:t>1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5805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63115" y="741391"/>
            <a:ext cx="5028904" cy="16162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Database Management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2063115" y="2533476"/>
            <a:ext cx="5028904" cy="3447832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</a:rPr>
              <a:t>Week 4, Day 4</a:t>
            </a:r>
          </a:p>
          <a:p>
            <a:pPr defTabSz="914400"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</a:rPr>
              <a:t>MongoDB—Aggregate Functions</a:t>
            </a:r>
          </a:p>
          <a:p>
            <a:pPr defTabSz="914400">
              <a:lnSpc>
                <a:spcPct val="90000"/>
              </a:lnSpc>
            </a:pPr>
            <a:r>
              <a:rPr lang="en-US" sz="2400" b="1" dirty="0">
                <a:solidFill>
                  <a:schemeClr val="tx1"/>
                </a:solidFill>
              </a:rPr>
              <a:t>Atta Muhammad</a:t>
            </a:r>
          </a:p>
          <a:p>
            <a:pPr defTabSz="914400">
              <a:lnSpc>
                <a:spcPct val="90000"/>
              </a:lnSpc>
            </a:pPr>
            <a:r>
              <a:rPr lang="en-US" sz="2400" b="1" dirty="0">
                <a:solidFill>
                  <a:schemeClr val="tx1"/>
                </a:solidFill>
              </a:rPr>
              <a:t>+92-333-1971110</a:t>
            </a:r>
          </a:p>
          <a:p>
            <a:pPr defTabSz="914400">
              <a:lnSpc>
                <a:spcPct val="90000"/>
              </a:lnSpc>
            </a:pPr>
            <a:r>
              <a:rPr lang="en-US" sz="2400" b="1" dirty="0">
                <a:solidFill>
                  <a:schemeClr val="tx1"/>
                </a:solidFill>
              </a:rPr>
              <a:t>attapanhyar@quest.edu.pk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CF042CA-1AB3-5530-1155-8018D6D6A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512250" y="2221700"/>
            <a:ext cx="123362" cy="9155399"/>
          </a:xfrm>
          <a:prstGeom prst="rect">
            <a:avLst/>
          </a:prstGeom>
          <a:gradFill>
            <a:gsLst>
              <a:gs pos="0">
                <a:schemeClr val="accent5"/>
              </a:gs>
              <a:gs pos="100000">
                <a:schemeClr val="accent2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D5A982-4141-9143-22DC-C0713B397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157616" y="4576333"/>
            <a:ext cx="123362" cy="4446132"/>
          </a:xfrm>
          <a:prstGeom prst="rect">
            <a:avLst/>
          </a:prstGeom>
          <a:gradFill>
            <a:gsLst>
              <a:gs pos="19000">
                <a:schemeClr val="accent5"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5647CA-0283-4BA2-4B93-5C2997941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Loading sample Data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C706B31-CA6B-50A4-8302-6D040CA82F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600" y="2614836"/>
            <a:ext cx="8178799" cy="251498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C36AB9-DFFB-53F0-8A62-DE0498539D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9CF85CA7-A304-4E2C-BEBA-D86A957ACC28}" type="datetime1">
              <a:rPr lang="en-US" smtClean="0"/>
              <a:pPr defTabSz="914400">
                <a:spcAft>
                  <a:spcPts val="600"/>
                </a:spcAft>
              </a:pPr>
              <a:t>12/16/2024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BE523-EB45-0DAE-1DE8-BCB897748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9A6B3-D7C5-8330-8207-B34DCE43E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1FF6DA9-008F-8B48-92A6-B652298478BF}" type="slidenum">
              <a:rPr lang="en-US" smtClean="0"/>
              <a:pPr defTabSz="914400"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447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0962C0-EF32-F33F-8907-D82B12EB7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Aggregate</a:t>
            </a:r>
            <a:r>
              <a:rPr lang="en-US" sz="2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syntax</a:t>
            </a:r>
          </a:p>
        </p:txBody>
      </p:sp>
      <p:pic>
        <p:nvPicPr>
          <p:cNvPr id="8" name="Content Placeholder 7" descr="A computer screen shot of a computer code&#10;&#10;Description automatically generated">
            <a:extLst>
              <a:ext uri="{FF2B5EF4-FFF2-40B4-BE49-F238E27FC236}">
                <a16:creationId xmlns:a16="http://schemas.microsoft.com/office/drawing/2014/main" id="{96A8C84E-B271-50E5-8981-ADFACD08E5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600" y="2267237"/>
            <a:ext cx="8178799" cy="321017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0E32DB-B96C-804E-21B6-2A4A10C7846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9CF85CA7-A304-4E2C-BEBA-D86A957ACC28}" type="datetime1">
              <a:rPr lang="en-US" smtClean="0"/>
              <a:pPr defTabSz="914400">
                <a:spcAft>
                  <a:spcPts val="600"/>
                </a:spcAft>
              </a:pPr>
              <a:t>12/16/2024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E3083A-EA94-7846-E86A-D6F8560E2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F29D5E-7A33-2C38-EB52-90944C7FC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1FF6DA9-008F-8B48-92A6-B652298478BF}" type="slidenum">
              <a:rPr lang="en-US" smtClean="0"/>
              <a:pPr defTabSz="914400"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9276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EA087-9D3A-F226-91EC-9499A4198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60" y="5576887"/>
            <a:ext cx="8183880" cy="64008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dirty="0">
                <a:solidFill>
                  <a:srgbClr val="FF0000"/>
                </a:solidFill>
              </a:rPr>
              <a:t>Aggregate</a:t>
            </a:r>
            <a:r>
              <a:rPr lang="en-US" sz="2800" dirty="0"/>
              <a:t> Continue…</a:t>
            </a:r>
          </a:p>
        </p:txBody>
      </p:sp>
      <p:pic>
        <p:nvPicPr>
          <p:cNvPr id="8" name="Content Placeholder 7" descr="A screen shot of a computer&#10;&#10;Description automatically generated">
            <a:extLst>
              <a:ext uri="{FF2B5EF4-FFF2-40B4-BE49-F238E27FC236}">
                <a16:creationId xmlns:a16="http://schemas.microsoft.com/office/drawing/2014/main" id="{D3873664-F90D-10D4-DD6F-7B9E5FB170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25552" b="1"/>
          <a:stretch/>
        </p:blipFill>
        <p:spPr>
          <a:xfrm>
            <a:off x="480060" y="640080"/>
            <a:ext cx="8183880" cy="4836795"/>
          </a:xfrm>
          <a:prstGeom prst="rect">
            <a:avLst/>
          </a:prstGeom>
          <a:ln w="19050">
            <a:solidFill>
              <a:schemeClr val="tx1"/>
            </a:solidFill>
            <a:miter lim="800000"/>
          </a:ln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8E68E-67A6-81EB-8CC1-3092F68226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9CF85CA7-A304-4E2C-BEBA-D86A957ACC28}" type="datetime1">
              <a:rPr lang="en-US">
                <a:solidFill>
                  <a:schemeClr val="tx1">
                    <a:alpha val="80000"/>
                  </a:schemeClr>
                </a:solidFill>
              </a:rPr>
              <a:pPr>
                <a:spcAft>
                  <a:spcPts val="600"/>
                </a:spcAft>
              </a:pPr>
              <a:t>12/16/2024</a:t>
            </a:fld>
            <a:endParaRPr lang="en-US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DBC524-5141-FF18-7F8B-DEDFEAC23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alpha val="80000"/>
                  </a:schemeClr>
                </a:solidFill>
                <a:latin typeface="+mn-lt"/>
                <a:ea typeface="+mn-ea"/>
                <a:cs typeface="+mn-cs"/>
              </a:rPr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5507B2-8DC1-9805-7583-209291AA6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>
                <a:solidFill>
                  <a:schemeClr val="tx1">
                    <a:alpha val="80000"/>
                  </a:schemeClr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>
              <a:solidFill>
                <a:schemeClr val="tx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21948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E9A33-8CC2-ABF0-188D-B3298999F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FF0000"/>
                </a:solidFill>
              </a:rPr>
              <a:t>Aggregate</a:t>
            </a:r>
            <a:r>
              <a:rPr lang="en-GB" dirty="0"/>
              <a:t> Stage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7FC8C-A7E3-1747-57DF-A38D9A5AA6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 A stage can filter documents, group documents, and calculate values.</a:t>
            </a:r>
          </a:p>
          <a:p>
            <a:r>
              <a:rPr lang="en-GB" dirty="0"/>
              <a:t>The documents that are output from a stage are passed to the next stage.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FCB630-97E7-B9A1-1393-B9A0B710A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12/16/2024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34B506-B67F-D9BD-4B01-6E152C82E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934B7-7FCB-9DC0-6503-FA65F86A3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8815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9E85A1-9858-65E3-3CE8-9BDB50379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dirty="0">
                <a:solidFill>
                  <a:schemeClr val="bg1"/>
                </a:solidFill>
              </a:rPr>
              <a:t>I</a:t>
            </a:r>
            <a:r>
              <a:rPr lang="en-US" sz="2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800" kern="12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Stage</a:t>
            </a:r>
          </a:p>
        </p:txBody>
      </p:sp>
      <p:pic>
        <p:nvPicPr>
          <p:cNvPr id="8" name="Content Placeholder 7" descr="A screen shot of a computer&#10;&#10;Description automatically generated">
            <a:extLst>
              <a:ext uri="{FF2B5EF4-FFF2-40B4-BE49-F238E27FC236}">
                <a16:creationId xmlns:a16="http://schemas.microsoft.com/office/drawing/2014/main" id="{1ED11085-D229-D11A-88BE-EA2506F99B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600" y="2839753"/>
            <a:ext cx="8178799" cy="2065146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4F6D5B-5E62-DEBA-B2BC-828D0F433F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9CF85CA7-A304-4E2C-BEBA-D86A957ACC28}" type="datetime1">
              <a:rPr lang="en-US" smtClean="0"/>
              <a:pPr defTabSz="914400">
                <a:spcAft>
                  <a:spcPts val="600"/>
                </a:spcAft>
              </a:pPr>
              <a:t>12/16/2024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D7679-E80E-C491-48B3-5AF3437C2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080815-C512-CD14-70D3-5AE28A701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1FF6DA9-008F-8B48-92A6-B652298478BF}" type="slidenum">
              <a:rPr lang="en-US" smtClean="0"/>
              <a:pPr defTabSz="914400">
                <a:spcAft>
                  <a:spcPts val="600"/>
                </a:spcAft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1799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3E4108D-813B-4ADE-FAF4-70C9F6C021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746"/>
          <a:stretch/>
        </p:blipFill>
        <p:spPr>
          <a:xfrm>
            <a:off x="20" y="1282"/>
            <a:ext cx="9143980" cy="685671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1CB80F-F6BA-BC9A-E9B3-BD9BE705F3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Aft>
                <a:spcPts val="600"/>
              </a:spcAft>
              <a:defRPr/>
            </a:pPr>
            <a:fld id="{9CF85CA7-A304-4E2C-BEBA-D86A957ACC28}" type="datetime1">
              <a:rPr lang="en-US">
                <a:solidFill>
                  <a:srgbClr val="FFFFFF"/>
                </a:solidFill>
                <a:latin typeface="Calibri" panose="020F0502020204030204"/>
              </a:rPr>
              <a:pPr defTabSz="914400">
                <a:spcAft>
                  <a:spcPts val="600"/>
                </a:spcAft>
                <a:defRPr/>
              </a:pPr>
              <a:t>12/16/2024</a:t>
            </a:fld>
            <a:endParaRPr lang="en-US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D8740C-09A2-4205-42CE-4653B153A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Aft>
                <a:spcPts val="600"/>
              </a:spcAft>
              <a:defRPr/>
            </a:pPr>
            <a:r>
              <a:rPr lang="en-US" kern="120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rPr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D72D2A-63E7-3BCA-43DB-72E735723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Aft>
                <a:spcPts val="600"/>
              </a:spcAft>
              <a:defRPr/>
            </a:pPr>
            <a:fld id="{C1FF6DA9-008F-8B48-92A6-B652298478BF}" type="slidenum">
              <a:rPr lang="en-US">
                <a:solidFill>
                  <a:srgbClr val="FFFFFF"/>
                </a:solidFill>
                <a:latin typeface="Calibri" panose="020F0502020204030204"/>
              </a:rPr>
              <a:pPr defTabSz="914400">
                <a:spcAft>
                  <a:spcPts val="600"/>
                </a:spcAft>
                <a:defRPr/>
              </a:pPr>
              <a:t>8</a:t>
            </a:fld>
            <a:endParaRPr lang="en-US">
              <a:solidFill>
                <a:srgbClr val="FFFFFF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7614950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6FD7672-78BE-4D6F-A711-2CDB79B52D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8496" y="323519"/>
            <a:ext cx="3242924" cy="6212748"/>
          </a:xfrm>
          <a:custGeom>
            <a:avLst/>
            <a:gdLst>
              <a:gd name="connsiteX0" fmla="*/ 0 w 4323899"/>
              <a:gd name="connsiteY0" fmla="*/ 0 h 6212748"/>
              <a:gd name="connsiteX1" fmla="*/ 742501 w 4323899"/>
              <a:gd name="connsiteY1" fmla="*/ 0 h 6212748"/>
              <a:gd name="connsiteX2" fmla="*/ 4323899 w 4323899"/>
              <a:gd name="connsiteY2" fmla="*/ 0 h 6212748"/>
              <a:gd name="connsiteX3" fmla="*/ 4323899 w 4323899"/>
              <a:gd name="connsiteY3" fmla="*/ 2864954 h 6212748"/>
              <a:gd name="connsiteX4" fmla="*/ 880454 w 4323899"/>
              <a:gd name="connsiteY4" fmla="*/ 6212748 h 6212748"/>
              <a:gd name="connsiteX5" fmla="*/ 0 w 4323899"/>
              <a:gd name="connsiteY5" fmla="*/ 6212748 h 6212748"/>
              <a:gd name="connsiteX6" fmla="*/ 0 w 4323899"/>
              <a:gd name="connsiteY6" fmla="*/ 6210962 h 621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23899" h="6212748">
                <a:moveTo>
                  <a:pt x="0" y="0"/>
                </a:moveTo>
                <a:lnTo>
                  <a:pt x="742501" y="0"/>
                </a:lnTo>
                <a:lnTo>
                  <a:pt x="4323899" y="0"/>
                </a:lnTo>
                <a:lnTo>
                  <a:pt x="4323899" y="2864954"/>
                </a:lnTo>
                <a:lnTo>
                  <a:pt x="880454" y="6212748"/>
                </a:lnTo>
                <a:lnTo>
                  <a:pt x="0" y="6212748"/>
                </a:lnTo>
                <a:lnTo>
                  <a:pt x="0" y="6210962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A62647B-1222-407C-8740-5A497612B1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A968C339-BB91-B075-3B02-3FF2EBF25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1969" y="806364"/>
            <a:ext cx="2515977" cy="284741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6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2 </a:t>
            </a:r>
            <a:r>
              <a:rPr lang="en-US" sz="6000" kern="12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Stages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814F90-6A75-C392-CE6C-AD3826DC0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783080" y="3246120"/>
            <a:ext cx="4203954" cy="36576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spcAft>
                <a:spcPts val="600"/>
              </a:spcAft>
            </a:pPr>
            <a:r>
              <a:rPr lang="en-US"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Atta Muhamamd Panhyar</a:t>
            </a:r>
          </a:p>
        </p:txBody>
      </p:sp>
      <p:pic>
        <p:nvPicPr>
          <p:cNvPr id="6" name="Picture 5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D1AC904D-4C23-BFF6-AF8C-7B91BB98C9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418" y="1575965"/>
            <a:ext cx="4203477" cy="3688551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FE3DF5-074A-77A6-48D2-268E06AFBD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7370" y="5769149"/>
            <a:ext cx="1707981" cy="3657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spcAft>
                <a:spcPts val="600"/>
              </a:spcAft>
            </a:pPr>
            <a:fld id="{9A8A5639-8631-4F17-AB79-0A320067A1C4}" type="datetime1">
              <a:rPr lang="en-US" sz="1000">
                <a:solidFill>
                  <a:srgbClr val="FFFFFF"/>
                </a:solidFill>
              </a:rPr>
              <a:pPr algn="r" defTabSz="914400">
                <a:spcAft>
                  <a:spcPts val="600"/>
                </a:spcAft>
              </a:pPr>
              <a:t>12/16/2024</a:t>
            </a:fld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9A08C6-94C5-21DF-DA96-E9215184A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63516" y="4887261"/>
            <a:ext cx="1251834" cy="100821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1FF6DA9-008F-8B48-92A6-B652298478BF}" type="slidenum">
              <a:rPr lang="en-US" sz="5700">
                <a:solidFill>
                  <a:srgbClr val="FFFFFF"/>
                </a:solidFill>
              </a:rPr>
              <a:pPr defTabSz="914400">
                <a:spcAft>
                  <a:spcPts val="600"/>
                </a:spcAft>
              </a:pPr>
              <a:t>9</a:t>
            </a:fld>
            <a:endParaRPr lang="en-US" sz="5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00239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E8A6F95-4391-6D69-DD49-197C26450B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For more details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71AFFD3F-0769-0B57-B522-8EEA8F04E3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https://www.mongodb.com/docs/manual/core/aggregation-pipeline/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152082-2D6E-0349-2080-EB16609FD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A5639-8631-4F17-AB79-0A320067A1C4}" type="datetime1">
              <a:rPr lang="en-US" smtClean="0"/>
              <a:t>12/16/2024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561E3A-5F50-B8D9-0CCD-E9BB1DE8F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3B0D78-A3DC-FD86-7686-2ADDCD999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4948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5B6BF7-2D26-91DF-E8F0-19947BA7D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200" kern="12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Stage Operators</a:t>
            </a:r>
          </a:p>
        </p:txBody>
      </p:sp>
      <p:pic>
        <p:nvPicPr>
          <p:cNvPr id="8" name="Content Placeholder 7" descr="A white and blue sign with blue text&#10;&#10;Description automatically generated">
            <a:extLst>
              <a:ext uri="{FF2B5EF4-FFF2-40B4-BE49-F238E27FC236}">
                <a16:creationId xmlns:a16="http://schemas.microsoft.com/office/drawing/2014/main" id="{42417685-AE80-C208-A763-25FF658943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600" y="2113884"/>
            <a:ext cx="8178799" cy="3516884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2369CE-B275-E660-66ED-7B356F7C973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336D6FB0-A115-4295-95B9-E3D4E4B5D7BB}" type="datetime1">
              <a:rPr lang="en-US" smtClean="0"/>
              <a:pPr defTabSz="914400">
                <a:spcAft>
                  <a:spcPts val="600"/>
                </a:spcAft>
              </a:pPr>
              <a:t>12/16/2024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34FB4D-1DC3-C776-77B3-2586AF774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Muhamamd Panhyar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B72777-397D-3AD3-ECB4-DFF1EA4AE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1FF6DA9-008F-8B48-92A6-B652298478BF}" type="slidenum">
              <a:rPr lang="en-US" smtClean="0"/>
              <a:pPr defTabSz="914400">
                <a:spcAft>
                  <a:spcPts val="600"/>
                </a:spcAft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2267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410E45-C5BD-1765-94F4-3F8592284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Aggregation Expression</a:t>
            </a:r>
          </a:p>
        </p:txBody>
      </p:sp>
      <p:pic>
        <p:nvPicPr>
          <p:cNvPr id="8" name="Picture 7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51CFBC83-AACF-4FB8-968E-0453BFA8FE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253" y="1675227"/>
            <a:ext cx="4817492" cy="439419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70DF90-C3B8-D757-0804-4E21CE0973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9CF85CA7-A304-4E2C-BEBA-D86A957ACC28}" type="datetime1">
              <a:rPr lang="en-US" smtClean="0"/>
              <a:pPr defTabSz="914400">
                <a:spcAft>
                  <a:spcPts val="600"/>
                </a:spcAft>
              </a:pPr>
              <a:t>12/16/2024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F25DCF-9B68-D96F-C9B5-0EA4B2149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4A60B0-25FA-8B13-F87E-03262E003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1FF6DA9-008F-8B48-92A6-B652298478BF}" type="slidenum">
              <a:rPr lang="en-US" smtClean="0"/>
              <a:pPr defTabSz="914400">
                <a:spcAft>
                  <a:spcPts val="600"/>
                </a:spcAft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4153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3D09407-53BC-485E-B4CE-BC5E4FC4B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21DB988-49FC-4608-B0A2-E2F3A4019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33DA34-9B42-D886-6E05-39C42A99F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7" y="3399769"/>
            <a:ext cx="7980565" cy="775845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5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Aggregate Expression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9B930FD-8671-4C4C-ADCF-73AC1D0CD4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7257560" y="0"/>
            <a:ext cx="1886211" cy="2174333"/>
            <a:chOff x="-305" y="-4155"/>
            <a:chExt cx="2514948" cy="2174333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35B12C1-569C-4E37-AA33-7EF215F201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23E2660-7810-46F6-8752-187127C83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991DC45-0378-45B3-B325-FB8F98545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228F5BA-5150-4554-B7EA-93F371F3B1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1469E7C-CAF9-E73C-925B-B46CE80105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6756" y="949713"/>
            <a:ext cx="8644398" cy="157760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180683-45ED-CF11-4DA4-E3C961693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504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9CF85CA7-A304-4E2C-BEBA-D86A957ACC28}" type="datetime1">
              <a:rPr lang="en-US" smtClean="0"/>
              <a:pPr defTabSz="914400">
                <a:spcAft>
                  <a:spcPts val="600"/>
                </a:spcAft>
              </a:pPr>
              <a:t>12/16/2024</a:t>
            </a:fld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83C2651-AE0C-4AE4-8725-E2F9414FE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228" y="4322879"/>
            <a:ext cx="2533818" cy="2535121"/>
            <a:chOff x="-305" y="-1"/>
            <a:chExt cx="3832880" cy="2876136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CE13265-B5D2-47B4-A199-E05F390D5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93EBD03-D832-462C-9304-7273698ED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D53D3E2-805E-40D2-964F-352BF6D476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7A9A916-A926-43E6-800F-432ABC3F24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A4520E-88D6-F63F-7FE0-D84036D66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C1987B-70F0-6D5E-411C-D759600D6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1FF6DA9-008F-8B48-92A6-B652298478BF}" type="slidenum">
              <a:rPr lang="en-US" smtClean="0"/>
              <a:pPr defTabSz="914400">
                <a:spcAft>
                  <a:spcPts val="600"/>
                </a:spcAft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0287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5AD83-A4B4-CD67-DD68-ECB470089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$match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3A0E0C-AEF8-5625-1725-96DBD2D8C6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Match specific document using query</a:t>
            </a:r>
          </a:p>
          <a:p>
            <a:pPr marL="0" indent="0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/>
              <a:t>	</a:t>
            </a:r>
            <a:r>
              <a:rPr lang="en-GB" sz="4400" dirty="0">
                <a:solidFill>
                  <a:srgbClr val="00B050"/>
                </a:solidFill>
              </a:rPr>
              <a:t>{match: {&lt;query&gt;}</a:t>
            </a:r>
            <a:endParaRPr lang="en-GB" dirty="0">
              <a:solidFill>
                <a:srgbClr val="00B05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CCB8DF-1CF9-F26A-9C96-B41E53F0A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12/16/2024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C1358B-FF78-5429-5780-8C291D7B2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822712-45D3-B258-4F95-E52BB7357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7774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F8966A-F4C0-2789-62FC-7A3AFEECC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$match Example</a:t>
            </a:r>
          </a:p>
        </p:txBody>
      </p:sp>
      <p:pic>
        <p:nvPicPr>
          <p:cNvPr id="8" name="Content Placeholder 7" descr="A computer screen shot of a code&#10;&#10;Description automatically generated">
            <a:extLst>
              <a:ext uri="{FF2B5EF4-FFF2-40B4-BE49-F238E27FC236}">
                <a16:creationId xmlns:a16="http://schemas.microsoft.com/office/drawing/2014/main" id="{49517ED0-D393-8CF9-36B9-AF25421C61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0503" y="1675227"/>
            <a:ext cx="6782992" cy="439419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4F53AD-6407-B98F-7D9E-CB8BBD344C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9CF85CA7-A304-4E2C-BEBA-D86A957ACC28}" type="datetime1">
              <a:rPr lang="en-US" smtClean="0"/>
              <a:pPr defTabSz="914400">
                <a:spcAft>
                  <a:spcPts val="600"/>
                </a:spcAft>
              </a:pPr>
              <a:t>12/16/2024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FF561D-E0B5-CAD6-816F-066E64355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F34EF2-0796-2EA0-01F0-31114E89F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1FF6DA9-008F-8B48-92A6-B652298478BF}" type="slidenum">
              <a:rPr lang="en-US" smtClean="0"/>
              <a:pPr defTabSz="914400">
                <a:spcAft>
                  <a:spcPts val="600"/>
                </a:spcAft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8398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059160-256C-4051-C3A1-524F975FB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$match continue</a:t>
            </a:r>
          </a:p>
        </p:txBody>
      </p:sp>
      <p:pic>
        <p:nvPicPr>
          <p:cNvPr id="8" name="Content Placeholder 7" descr="A computer screen shot of a code&#10;&#10;Description automatically generated">
            <a:extLst>
              <a:ext uri="{FF2B5EF4-FFF2-40B4-BE49-F238E27FC236}">
                <a16:creationId xmlns:a16="http://schemas.microsoft.com/office/drawing/2014/main" id="{63B9FE9E-6268-9B8D-C36E-1A10831645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600" y="1745838"/>
            <a:ext cx="8178799" cy="4252976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4E093C-00AB-312D-B602-9F86FAF537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9CF85CA7-A304-4E2C-BEBA-D86A957ACC28}" type="datetime1">
              <a:rPr lang="en-US" smtClean="0"/>
              <a:pPr defTabSz="914400">
                <a:spcAft>
                  <a:spcPts val="600"/>
                </a:spcAft>
              </a:pPr>
              <a:t>12/16/2024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11A0AB-DC23-93A9-D9B4-A3FF527C6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16AC69-196E-A6CA-E503-A97A66EBF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1FF6DA9-008F-8B48-92A6-B652298478BF}" type="slidenum">
              <a:rPr lang="en-US" smtClean="0"/>
              <a:pPr defTabSz="914400">
                <a:spcAft>
                  <a:spcPts val="600"/>
                </a:spcAft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3531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6B952A-77E8-13BB-6BCE-8DD47C9CB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$match continue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51FB567-79F2-B08A-7D36-DBF452FF5C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0" y="1465714"/>
            <a:ext cx="8996679" cy="4813224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5855AC-B206-15AA-22D1-CCF4B31B59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9CF85CA7-A304-4E2C-BEBA-D86A957ACC28}" type="datetime1">
              <a:rPr lang="en-US" smtClean="0"/>
              <a:pPr defTabSz="914400">
                <a:spcAft>
                  <a:spcPts val="600"/>
                </a:spcAft>
              </a:pPr>
              <a:t>12/16/2024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2E275-D56E-2B49-B281-2A912B2CA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C14C3-2A66-21F2-B525-FCE5318D3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1FF6DA9-008F-8B48-92A6-B652298478BF}" type="slidenum">
              <a:rPr lang="en-US" smtClean="0"/>
              <a:pPr defTabSz="914400">
                <a:spcAft>
                  <a:spcPts val="600"/>
                </a:spcAft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977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081B60-4C76-E36C-107C-3A1F952C5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Query Boolean Data</a:t>
            </a:r>
          </a:p>
        </p:txBody>
      </p:sp>
      <p:pic>
        <p:nvPicPr>
          <p:cNvPr id="8" name="Picture 7" descr="A computer screen shot of text&#10;&#10;Description automatically generated">
            <a:extLst>
              <a:ext uri="{FF2B5EF4-FFF2-40B4-BE49-F238E27FC236}">
                <a16:creationId xmlns:a16="http://schemas.microsoft.com/office/drawing/2014/main" id="{C4461F85-E3D0-4118-1A07-D66667A3A5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2445347"/>
            <a:ext cx="8178799" cy="285395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748626-1168-02DB-7168-C156302B7C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9CF85CA7-A304-4E2C-BEBA-D86A957ACC28}" type="datetime1">
              <a:rPr lang="en-US" smtClean="0"/>
              <a:pPr defTabSz="914400">
                <a:spcAft>
                  <a:spcPts val="600"/>
                </a:spcAft>
              </a:pPr>
              <a:t>12/16/2024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E014D6-3AC3-EBD6-5BF2-BE4364E74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781C79-0FCC-2C8E-2170-5E17067B6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1FF6DA9-008F-8B48-92A6-B652298478BF}" type="slidenum">
              <a:rPr lang="en-US" smtClean="0"/>
              <a:pPr defTabSz="914400">
                <a:spcAft>
                  <a:spcPts val="600"/>
                </a:spcAft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0348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83356" y="1928731"/>
            <a:ext cx="3333749" cy="2624327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AD6A9F-9954-2A29-C55E-BF78714D3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1967266"/>
            <a:ext cx="1971675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1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Query Size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750A68A-9983-84F9-3812-D01F63FCF2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6879" y="643466"/>
            <a:ext cx="4677740" cy="5568739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F48EA0-C195-7B63-AD0E-6FE05138F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1525" y="6356350"/>
            <a:ext cx="465772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alpha val="80000"/>
                  </a:schemeClr>
                </a:solidFill>
                <a:latin typeface="+mn-lt"/>
                <a:ea typeface="+mn-ea"/>
                <a:cs typeface="+mn-cs"/>
              </a:rPr>
              <a:t>Atta Muhamamd Panhyar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028C03-0B62-03CB-6285-0C84B9DBE0B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31686" y="6356350"/>
            <a:ext cx="1497901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spcAft>
                <a:spcPts val="600"/>
              </a:spcAft>
            </a:pPr>
            <a:fld id="{9CF85CA7-A304-4E2C-BEBA-D86A957ACC28}" type="datetime1">
              <a:rPr lang="en-US">
                <a:solidFill>
                  <a:schemeClr val="tx1">
                    <a:alpha val="80000"/>
                  </a:schemeClr>
                </a:solidFill>
              </a:rPr>
              <a:pPr algn="r" defTabSz="914400">
                <a:spcAft>
                  <a:spcPts val="600"/>
                </a:spcAft>
              </a:pPr>
              <a:t>12/16/2024</a:t>
            </a:fld>
            <a:endParaRPr lang="en-US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CB3757-792D-2D8F-4B69-DEA17BAEA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5638" y="6356350"/>
            <a:ext cx="385761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1FF6DA9-008F-8B48-92A6-B652298478BF}" type="slidenum">
              <a:rPr lang="en-US">
                <a:solidFill>
                  <a:schemeClr val="tx1">
                    <a:alpha val="80000"/>
                  </a:schemeClr>
                </a:solidFill>
              </a:rPr>
              <a:pPr defTabSz="914400">
                <a:spcAft>
                  <a:spcPts val="600"/>
                </a:spcAft>
              </a:pPr>
              <a:t>19</a:t>
            </a:fld>
            <a:endParaRPr lang="en-US">
              <a:solidFill>
                <a:schemeClr val="tx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69241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615CCE-159B-162A-E5A7-60776E078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Distinct</a:t>
            </a:r>
          </a:p>
        </p:txBody>
      </p:sp>
      <p:pic>
        <p:nvPicPr>
          <p:cNvPr id="13" name="Picture 12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CFF8D7A1-2CFD-0A44-3576-0B99FFAB9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856698"/>
            <a:ext cx="8178799" cy="403125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568FBA-B0AF-F886-E9E9-D379E5CB65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9CF85CA7-A304-4E2C-BEBA-D86A957ACC28}" type="datetime1">
              <a:rPr lang="en-US"/>
              <a:pPr defTabSz="914400">
                <a:spcAft>
                  <a:spcPts val="600"/>
                </a:spcAft>
              </a:pPr>
              <a:t>12/16/2024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73B38E-A2A2-C177-7E1C-96D23AC36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544473-95BC-9ECC-F63C-BF8AA26C2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1FF6DA9-008F-8B48-92A6-B652298478BF}" type="slidenum">
              <a:rPr lang="en-US"/>
              <a:pPr defTabSz="914400">
                <a:spcAft>
                  <a:spcPts val="600"/>
                </a:spcAft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7983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5818" y="0"/>
            <a:ext cx="7472363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0"/>
            <a:ext cx="7461504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CD91E30-AE4B-65F9-8746-9396AA7FC8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2" y="1999615"/>
            <a:ext cx="6858000" cy="2764028"/>
          </a:xfrm>
        </p:spPr>
        <p:txBody>
          <a:bodyPr anchor="ctr">
            <a:normAutofit/>
          </a:bodyPr>
          <a:lstStyle/>
          <a:p>
            <a:r>
              <a:rPr lang="en-US" sz="6300" dirty="0"/>
              <a:t>Question(s)</a:t>
            </a:r>
            <a:endParaRPr lang="en-PK" sz="63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88920" y="5524786"/>
            <a:ext cx="356616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B525ED-032C-74B4-3F10-7F864CAC84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5622" y="6356350"/>
            <a:ext cx="87452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CF85CA7-A304-4E2C-BEBA-D86A957ACC28}" type="datetime1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12/16/2024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233268-48D8-2730-2B06-55F148825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66764" y="6356350"/>
            <a:ext cx="95161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21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6008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C90709C-0071-4279-89D3-164CB7794B27}">
  <we:reference id="wa200005566" version="3.0.0.2" store="en-GB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2338</TotalTime>
  <Words>217</Words>
  <Application>Microsoft Office PowerPoint</Application>
  <PresentationFormat>On-screen Show (4:3)</PresentationFormat>
  <Paragraphs>87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Arial</vt:lpstr>
      <vt:lpstr>Calibri</vt:lpstr>
      <vt:lpstr>Office Theme</vt:lpstr>
      <vt:lpstr>PowerPoint Presentation</vt:lpstr>
      <vt:lpstr>Database Management Systems</vt:lpstr>
      <vt:lpstr>Loading sample Data</vt:lpstr>
      <vt:lpstr>Aggregate syntax</vt:lpstr>
      <vt:lpstr>Aggregate Continue…</vt:lpstr>
      <vt:lpstr>Aggregate Stage</vt:lpstr>
      <vt:lpstr>I Stage</vt:lpstr>
      <vt:lpstr>PowerPoint Presentation</vt:lpstr>
      <vt:lpstr>2 Stages</vt:lpstr>
      <vt:lpstr>For more details</vt:lpstr>
      <vt:lpstr>Stage Operators</vt:lpstr>
      <vt:lpstr>Aggregation Expression</vt:lpstr>
      <vt:lpstr>Aggregate Expression</vt:lpstr>
      <vt:lpstr>$match</vt:lpstr>
      <vt:lpstr>$match Example</vt:lpstr>
      <vt:lpstr>$match continue</vt:lpstr>
      <vt:lpstr>$match continue</vt:lpstr>
      <vt:lpstr>Query Boolean Data</vt:lpstr>
      <vt:lpstr>Query Size</vt:lpstr>
      <vt:lpstr>Distinct</vt:lpstr>
      <vt:lpstr>Question(s)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Atta</dc:creator>
  <cp:keywords/>
  <dc:description>generated using python-pptx</dc:description>
  <cp:lastModifiedBy>Atta Muhammad</cp:lastModifiedBy>
  <cp:revision>460</cp:revision>
  <dcterms:created xsi:type="dcterms:W3CDTF">2013-01-27T09:14:16Z</dcterms:created>
  <dcterms:modified xsi:type="dcterms:W3CDTF">2024-12-16T08:23:46Z</dcterms:modified>
  <cp:category/>
</cp:coreProperties>
</file>