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6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4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06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4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1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0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1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1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3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2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96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F0DA7-B8D4-F042-47DF-0AECA5004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1122363"/>
            <a:ext cx="4910841" cy="2387600"/>
          </a:xfrm>
        </p:spPr>
        <p:txBody>
          <a:bodyPr>
            <a:normAutofit/>
          </a:bodyPr>
          <a:lstStyle/>
          <a:p>
            <a:r>
              <a:rPr lang="it-IT" sz="5000"/>
              <a:t>Geospatial Database Using MongoDB</a:t>
            </a:r>
            <a:endParaRPr lang="en-GB" sz="5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1ADF3-C779-125A-CD49-3F030847F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8"/>
            <a:ext cx="4910841" cy="16557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500" dirty="0" err="1">
                <a:solidFill>
                  <a:schemeClr val="bg1"/>
                </a:solidFill>
              </a:rPr>
              <a:t>everaging</a:t>
            </a:r>
            <a:r>
              <a:rPr lang="en-GB" sz="1500" dirty="0">
                <a:solidFill>
                  <a:schemeClr val="bg1"/>
                </a:solidFill>
              </a:rPr>
              <a:t> MongoDB for Geospatial Data Management</a:t>
            </a:r>
          </a:p>
          <a:p>
            <a:pPr>
              <a:lnSpc>
                <a:spcPct val="110000"/>
              </a:lnSpc>
            </a:pPr>
            <a:r>
              <a:rPr lang="en-GB" sz="1500" dirty="0">
                <a:solidFill>
                  <a:schemeClr val="bg1"/>
                </a:solidFill>
              </a:rPr>
              <a:t>Atta Muhammad</a:t>
            </a:r>
          </a:p>
          <a:p>
            <a:pPr>
              <a:lnSpc>
                <a:spcPct val="110000"/>
              </a:lnSpc>
            </a:pPr>
            <a:br>
              <a:rPr lang="en-GB" sz="1500" dirty="0">
                <a:solidFill>
                  <a:schemeClr val="bg1"/>
                </a:solidFill>
              </a:rPr>
            </a:br>
            <a:r>
              <a:rPr lang="en-GB" sz="1500" dirty="0">
                <a:solidFill>
                  <a:schemeClr val="bg1"/>
                </a:solidFill>
              </a:rPr>
              <a:t>92333197110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1CAC2A-BBFE-EB45-4FE0-63C439914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98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7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EB25-A343-521E-0CF4-929D7A4C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1" dirty="0" err="1"/>
              <a:t>Introduction</a:t>
            </a:r>
            <a:r>
              <a:rPr lang="it-IT" b="1" dirty="0"/>
              <a:t> to </a:t>
            </a:r>
            <a:r>
              <a:rPr lang="it-IT" b="1" dirty="0" err="1"/>
              <a:t>Geospatial</a:t>
            </a:r>
            <a:r>
              <a:rPr lang="it-IT" b="1" dirty="0"/>
              <a:t> Databases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2F45F-89FF-A6F4-FF90-94198B174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Definition: Databases designed to store, query, and manipulate spatial data.</a:t>
            </a:r>
          </a:p>
          <a:p>
            <a:r>
              <a:rPr lang="en-GB" dirty="0"/>
              <a:t>Use Cases:</a:t>
            </a:r>
          </a:p>
          <a:p>
            <a:r>
              <a:rPr lang="en-GB" dirty="0"/>
              <a:t>	Location-based services (e.g., Uber, Google Maps)</a:t>
            </a:r>
          </a:p>
          <a:p>
            <a:r>
              <a:rPr lang="en-GB" dirty="0"/>
              <a:t>	Environmental monitoring</a:t>
            </a:r>
          </a:p>
          <a:p>
            <a:r>
              <a:rPr lang="en-GB" dirty="0"/>
              <a:t>	Urban planning</a:t>
            </a:r>
          </a:p>
          <a:p>
            <a:r>
              <a:rPr lang="en-GB" dirty="0"/>
              <a:t>Why MongoDB?</a:t>
            </a:r>
          </a:p>
          <a:p>
            <a:r>
              <a:rPr lang="en-GB" dirty="0"/>
              <a:t>	NoSQL flexibility</a:t>
            </a:r>
          </a:p>
          <a:p>
            <a:r>
              <a:rPr lang="en-GB" dirty="0"/>
              <a:t>	Built-in geospatial querying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297773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B74B-CD92-6CE6-96A5-6241E9777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 err="1"/>
              <a:t>MongoDB</a:t>
            </a:r>
            <a:r>
              <a:rPr lang="it-IT" b="1" dirty="0"/>
              <a:t> </a:t>
            </a:r>
            <a:r>
              <a:rPr lang="it-IT" b="1" dirty="0" err="1"/>
              <a:t>Geospatial</a:t>
            </a:r>
            <a:r>
              <a:rPr lang="it-IT" b="1" dirty="0"/>
              <a:t> Features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BE88E-2C34-CF89-70BF-F22BF35964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Support for </a:t>
            </a:r>
            <a:r>
              <a:rPr lang="en-GB" dirty="0" err="1"/>
              <a:t>GeoJSON</a:t>
            </a:r>
            <a:r>
              <a:rPr lang="en-GB" dirty="0"/>
              <a:t> objects:</a:t>
            </a:r>
          </a:p>
          <a:p>
            <a:r>
              <a:rPr lang="en-GB" dirty="0"/>
              <a:t>	Point</a:t>
            </a:r>
          </a:p>
          <a:p>
            <a:r>
              <a:rPr lang="en-GB" dirty="0"/>
              <a:t>	Line</a:t>
            </a:r>
          </a:p>
          <a:p>
            <a:r>
              <a:rPr lang="en-GB" dirty="0"/>
              <a:t>	String</a:t>
            </a:r>
          </a:p>
          <a:p>
            <a:r>
              <a:rPr lang="en-GB" dirty="0"/>
              <a:t>	Polygon</a:t>
            </a:r>
          </a:p>
          <a:p>
            <a:r>
              <a:rPr lang="en-GB" dirty="0"/>
              <a:t>Index Types:</a:t>
            </a:r>
          </a:p>
          <a:p>
            <a:r>
              <a:rPr lang="en-GB" dirty="0"/>
              <a:t>	2d index</a:t>
            </a:r>
          </a:p>
          <a:p>
            <a:r>
              <a:rPr lang="en-GB" dirty="0"/>
              <a:t>	2dsphere index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0E5AA-25D6-0AFA-9614-927AC77EDD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Geospatial Query Operators:</a:t>
            </a:r>
          </a:p>
          <a:p>
            <a:r>
              <a:rPr lang="en-GB" dirty="0"/>
              <a:t>	$</a:t>
            </a:r>
            <a:r>
              <a:rPr lang="en-GB" dirty="0" err="1"/>
              <a:t>geoWithin</a:t>
            </a:r>
            <a:endParaRPr lang="en-GB" dirty="0"/>
          </a:p>
          <a:p>
            <a:r>
              <a:rPr lang="en-GB" dirty="0"/>
              <a:t>	$near</a:t>
            </a:r>
          </a:p>
          <a:p>
            <a:r>
              <a:rPr lang="en-GB" dirty="0"/>
              <a:t>	$</a:t>
            </a:r>
            <a:r>
              <a:rPr lang="en-GB" dirty="0" err="1"/>
              <a:t>geoIntersects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835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4C0C11B-582D-4BD6-AFEF-ED15AAF1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3999" cy="2283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873AFB-45BA-88AC-4E16-F5AA1B55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652051"/>
            <a:ext cx="8476567" cy="14956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b="1"/>
              <a:t>Sample MongoDB Geospatial Dataset</a:t>
            </a:r>
            <a:endParaRPr lang="en-US" sz="50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E5FE72-E50C-4D31-BB8A-9DAC217CB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43997" y="-2084"/>
            <a:ext cx="3048003" cy="2292774"/>
            <a:chOff x="6096002" y="-9073"/>
            <a:chExt cx="6095998" cy="686707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9337740-26B0-4D7D-9991-5D74346B9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77F3C2-57C2-43EA-9688-9AD33D1A9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Content Placeholder 7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B836A589-C310-CE93-EC40-F5906D00D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620" y="2593145"/>
            <a:ext cx="1093075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7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DD2C-1E85-8C13-6637-A0850310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 err="1"/>
              <a:t>Creating</a:t>
            </a:r>
            <a:r>
              <a:rPr lang="it-IT" b="1" dirty="0"/>
              <a:t> the Sample Database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EE91AC-0BDE-AF3C-8D78-6C39CA5C6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8044" y="4019500"/>
            <a:ext cx="3581900" cy="714475"/>
          </a:xfrm>
        </p:spPr>
      </p:pic>
    </p:spTree>
    <p:extLst>
      <p:ext uri="{BB962C8B-B14F-4D97-AF65-F5344CB8AC3E}">
        <p14:creationId xmlns:p14="http://schemas.microsoft.com/office/powerpoint/2010/main" val="1697250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06182-0C85-EC94-37AF-615E6E9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Inserting a sample document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2662B2-9723-F856-5776-22FFC872E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0944" y="609600"/>
            <a:ext cx="527931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21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E2E1-EDD1-31D4-9D6F-2C56BF0D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 err="1"/>
              <a:t>Creating</a:t>
            </a:r>
            <a:r>
              <a:rPr lang="it-IT" b="1" dirty="0"/>
              <a:t> a </a:t>
            </a:r>
            <a:r>
              <a:rPr lang="it-IT" b="1" dirty="0" err="1"/>
              <a:t>Geospatial</a:t>
            </a:r>
            <a:r>
              <a:rPr lang="it-IT" b="1" dirty="0"/>
              <a:t> Index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0F721F-31E0-B500-94FE-9898A1292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2272" y="4422790"/>
            <a:ext cx="8146660" cy="698284"/>
          </a:xfrm>
        </p:spPr>
      </p:pic>
    </p:spTree>
    <p:extLst>
      <p:ext uri="{BB962C8B-B14F-4D97-AF65-F5344CB8AC3E}">
        <p14:creationId xmlns:p14="http://schemas.microsoft.com/office/powerpoint/2010/main" val="187382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01616-654D-7C9E-5C13-8E5417FB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/>
              <a:t>Querying Geospatial Data - $near</a:t>
            </a:r>
            <a:endParaRPr lang="en-US" sz="32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AF0B24-BDC5-BE82-189C-8B88CABC7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6516" y="1433627"/>
            <a:ext cx="7908176" cy="391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30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C8041AD-0A28-47FA-8BFF-56BAAA246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62C40-C83A-06AA-367D-0BE51955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97275"/>
            <a:ext cx="5216531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Querying Geospatial Data - $geoWithin</a:t>
            </a:r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409BBD1-8A75-44DA-88E2-3A7047032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73946"/>
            <a:ext cx="6095998" cy="2284054"/>
            <a:chOff x="6096002" y="-9073"/>
            <a:chExt cx="6095998" cy="686707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57EEA50-86F1-415A-8F6B-829E2272B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707547F-6B3D-4540-808D-410C9EE34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DC3B258B-A84D-EEB5-5D4F-43F99CF35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8963" y="397275"/>
            <a:ext cx="4530777" cy="581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21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C8041AD-0A28-47FA-8BFF-56BAAA246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0394D-D432-1CAB-E3F2-3D41D7A4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97275"/>
            <a:ext cx="5216531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Querying Geospatial Data - $geoIntersects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09BBD1-8A75-44DA-88E2-3A7047032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73946"/>
            <a:ext cx="6095998" cy="2284054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7EEA50-86F1-415A-8F6B-829E2272B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707547F-6B3D-4540-808D-410C9EE34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5A1AD-45DD-C03C-1A5F-931DD0E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83" y="4846029"/>
            <a:ext cx="5238584" cy="13704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Find places intersecting a specific geometry (e.g., a road).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C32C1-65BF-FD5D-3887-3341FC96C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257" y="1105330"/>
            <a:ext cx="5206190" cy="440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10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4C0C11B-582D-4BD6-AFEF-ED15AAF1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3999" cy="2283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A87A5-B06F-C70D-77B4-71E08E6C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652051"/>
            <a:ext cx="8476567" cy="1495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Updating Geospatial Data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E5FE72-E50C-4D31-BB8A-9DAC217CB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43997" y="-2084"/>
            <a:ext cx="3048003" cy="2292774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9337740-26B0-4D7D-9991-5D74346B9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577F3C2-57C2-43EA-9688-9AD33D1A9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77DFD9A-9A6A-975B-14B9-52F3D4DAF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75" y="3063017"/>
            <a:ext cx="11406247" cy="302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01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6228-9BB7-0581-1169-D649D15F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Real-World Applications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A4921-2D9A-B95E-FBB0-022A70AB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Logistics</a:t>
            </a:r>
            <a:r>
              <a:rPr lang="en-GB" dirty="0"/>
              <a:t>: Optimize delivery routes.</a:t>
            </a:r>
          </a:p>
          <a:p>
            <a:r>
              <a:rPr lang="en-GB" b="1" dirty="0"/>
              <a:t>Real Estate</a:t>
            </a:r>
            <a:r>
              <a:rPr lang="en-GB" dirty="0"/>
              <a:t>: Identify properties in specific areas.</a:t>
            </a:r>
          </a:p>
          <a:p>
            <a:r>
              <a:rPr lang="en-GB" b="1" dirty="0"/>
              <a:t>Emergency Services</a:t>
            </a:r>
            <a:r>
              <a:rPr lang="en-GB" dirty="0"/>
              <a:t>: Locate nearest hospitals or police stations.</a:t>
            </a:r>
          </a:p>
        </p:txBody>
      </p:sp>
    </p:spTree>
    <p:extLst>
      <p:ext uri="{BB962C8B-B14F-4D97-AF65-F5344CB8AC3E}">
        <p14:creationId xmlns:p14="http://schemas.microsoft.com/office/powerpoint/2010/main" val="3084150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13A2-97AF-534D-83CD-C41AF7FA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Advantages of Using MongoDB for Geospatial 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BB32-24D7-F1FC-A3C8-5E70B80C7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Flexible schema design.</a:t>
            </a:r>
          </a:p>
          <a:p>
            <a:r>
              <a:rPr lang="en-GB" dirty="0"/>
              <a:t>Scalable and distributed architecture.</a:t>
            </a:r>
          </a:p>
          <a:p>
            <a:r>
              <a:rPr lang="en-GB" dirty="0"/>
              <a:t>Built-in support for geospatial data and queries.</a:t>
            </a:r>
          </a:p>
        </p:txBody>
      </p:sp>
    </p:spTree>
    <p:extLst>
      <p:ext uri="{BB962C8B-B14F-4D97-AF65-F5344CB8AC3E}">
        <p14:creationId xmlns:p14="http://schemas.microsoft.com/office/powerpoint/2010/main" val="2704973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20232A-8ACD-49B1-AA46-DBC67EC8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9143999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CAE5D-0293-BAA7-C07B-C3B904802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4" y="397275"/>
            <a:ext cx="8206222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Quetions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0FE69B-94F5-4E9F-B0B0-3BA1044F5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43992" y="-2"/>
            <a:ext cx="3048008" cy="6858002"/>
            <a:chOff x="9143992" y="-2"/>
            <a:chExt cx="3048008" cy="685800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C706FD5-CDF0-4957-A8BE-A9E1AAF96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43998" y="-2"/>
              <a:ext cx="3048002" cy="685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9673FB2-5B46-4569-AACF-E85CEEE6A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43992" y="-2"/>
              <a:ext cx="3048003" cy="6858002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0007861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AnalogousFromRegularSeedRightStep">
      <a:dk1>
        <a:srgbClr val="000000"/>
      </a:dk1>
      <a:lt1>
        <a:srgbClr val="FFFFFF"/>
      </a:lt1>
      <a:dk2>
        <a:srgbClr val="412D24"/>
      </a:dk2>
      <a:lt2>
        <a:srgbClr val="E2E8E7"/>
      </a:lt2>
      <a:accent1>
        <a:srgbClr val="E72941"/>
      </a:accent1>
      <a:accent2>
        <a:srgbClr val="D54F17"/>
      </a:accent2>
      <a:accent3>
        <a:srgbClr val="CD9C24"/>
      </a:accent3>
      <a:accent4>
        <a:srgbClr val="9AAD13"/>
      </a:accent4>
      <a:accent5>
        <a:srgbClr val="66B721"/>
      </a:accent5>
      <a:accent6>
        <a:srgbClr val="1BBD15"/>
      </a:accent6>
      <a:hlink>
        <a:srgbClr val="309286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206</Words>
  <Application>Microsoft Office PowerPoint</Application>
  <PresentationFormat>Widescreen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Bahnschrift</vt:lpstr>
      <vt:lpstr>MatrixVTI</vt:lpstr>
      <vt:lpstr>Geospatial Database Using MongoDB</vt:lpstr>
      <vt:lpstr>Introduction to Geospatial Databases</vt:lpstr>
      <vt:lpstr>MongoDB Geospatial Features</vt:lpstr>
      <vt:lpstr>Sample MongoDB Geospatial Dataset</vt:lpstr>
      <vt:lpstr>Creating the Sample Database</vt:lpstr>
      <vt:lpstr>Inserting a sample document</vt:lpstr>
      <vt:lpstr>Creating a Geospatial Index</vt:lpstr>
      <vt:lpstr>Querying Geospatial Data - $near</vt:lpstr>
      <vt:lpstr>Querying Geospatial Data - $geoWithin</vt:lpstr>
      <vt:lpstr>Querying Geospatial Data - $geoIntersects</vt:lpstr>
      <vt:lpstr>Updating Geospatial Data</vt:lpstr>
      <vt:lpstr>Real-World Applications</vt:lpstr>
      <vt:lpstr>Advantages of Using MongoDB for Geospatial Data</vt:lpstr>
      <vt:lpstr>Quetions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26</cp:revision>
  <dcterms:created xsi:type="dcterms:W3CDTF">2024-12-30T10:44:15Z</dcterms:created>
  <dcterms:modified xsi:type="dcterms:W3CDTF">2024-12-31T05:08:02Z</dcterms:modified>
</cp:coreProperties>
</file>