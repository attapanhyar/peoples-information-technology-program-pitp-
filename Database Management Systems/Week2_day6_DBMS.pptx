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299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25/11/2024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2, Day 6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MySQL—A RDBMS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9080C-E487-09C7-B925-E7803579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RECAP</a:t>
            </a:r>
            <a:endParaRPr lang="en-PK" sz="3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C71C5-A101-D27E-BE05-22CAB4A49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Having Clause</a:t>
            </a:r>
          </a:p>
          <a:p>
            <a:r>
              <a:rPr lang="en-US" sz="2000" dirty="0"/>
              <a:t>Inner Join</a:t>
            </a:r>
          </a:p>
          <a:p>
            <a:r>
              <a:rPr lang="en-US" sz="2000" dirty="0"/>
              <a:t>LEFT/RIGHT JOIN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14FC8-8FAD-422C-5CC2-BF8B86A5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351" y="6356350"/>
            <a:ext cx="211469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11/25/2024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 descr="Blue push pin surrounded by circle of red push pins">
            <a:extLst>
              <a:ext uri="{FF2B5EF4-FFF2-40B4-BE49-F238E27FC236}">
                <a16:creationId xmlns:a16="http://schemas.microsoft.com/office/drawing/2014/main" id="{C5D235F2-4B8F-ABCE-14EF-0FF50B20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86" r="27763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8ED24-8B7D-EDF2-25B9-242C4222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8554" y="6356350"/>
            <a:ext cx="2477574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A6DE6-5289-5190-0FDF-362DFE43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9390" y="6356350"/>
            <a:ext cx="24003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7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AA27-28A2-F442-9636-8CEAB095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EXISTS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Operator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4CA54-42A0-8287-4B4A-3DF25037B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EXISTS</a:t>
            </a:r>
            <a:r>
              <a:rPr lang="en-GB" dirty="0"/>
              <a:t> operator is used to test for the existence of any record in a subquery.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EXISTS</a:t>
            </a:r>
            <a:r>
              <a:rPr lang="en-GB" dirty="0"/>
              <a:t> operator returns </a:t>
            </a:r>
            <a:r>
              <a:rPr lang="en-GB" dirty="0">
                <a:solidFill>
                  <a:srgbClr val="FF0000"/>
                </a:solidFill>
              </a:rPr>
              <a:t>TRUE</a:t>
            </a:r>
            <a:r>
              <a:rPr lang="en-GB" dirty="0"/>
              <a:t> if the subquery returns one or more records.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E9432-6398-5230-CD80-788EA95B6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E7451-82D6-646F-3B2F-9BCD00E4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387EA-49EB-B2BB-C5B8-12D9D3C8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0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123A8-E32D-4855-1EC6-208307A85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EXISTS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A45915D-7B96-8668-FEC8-79C19A820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272" y="1675227"/>
            <a:ext cx="7989455" cy="43941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7DD1-B698-1D8B-ECF2-D4ADFAF2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AB14E-62EB-626C-4A58-F9B3C613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748F3-DD8D-5C4D-15B9-3156588EF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7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CA91-DB07-2DB2-2D10-720AC7AA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CASE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4B6E-E605-85C2-F3B8-68BCBE58D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CASE</a:t>
            </a:r>
            <a:r>
              <a:rPr lang="en-GB" dirty="0"/>
              <a:t> statement goes through conditions and returns a value when the first condition is met (like an if-then-else statement). </a:t>
            </a:r>
          </a:p>
          <a:p>
            <a:r>
              <a:rPr lang="en-GB" dirty="0"/>
              <a:t>So, once a condition is true, it will stop reading and return the result. </a:t>
            </a:r>
          </a:p>
          <a:p>
            <a:r>
              <a:rPr lang="en-GB" dirty="0"/>
              <a:t>If no conditions are true, it returns the value in the </a:t>
            </a:r>
            <a:r>
              <a:rPr lang="en-GB" dirty="0">
                <a:solidFill>
                  <a:srgbClr val="FF0000"/>
                </a:solidFill>
              </a:rPr>
              <a:t>ELSE</a:t>
            </a:r>
            <a:r>
              <a:rPr lang="en-GB" dirty="0"/>
              <a:t> clause.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D3E51-1C1F-AB20-D318-BC354CA1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2A696-6231-78EA-A70B-D636EB153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D1D57-544B-5F0F-7ABF-4FC8A24C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0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1E0A5-7E79-E125-B9D3-2F8A4890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CASE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–Example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5CA7F989-AB56-A774-E3F8-B78458E52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957" y="1675227"/>
            <a:ext cx="7642084" cy="43941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08A9-B17B-918C-51C7-25E1E803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2AC6D-8497-1534-974B-9906641D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BDC4-F68F-037A-1E2D-C495B1C8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6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B85FD-5499-7A8C-A860-D7FD7DFF6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CASE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–Example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52BE567-44DB-8400-F82A-0F683057E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917" y="1675227"/>
            <a:ext cx="5360164" cy="43941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6A5FE-B3A4-FE5C-8825-30B19FA2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E328D-DF7E-E90E-0F48-1E66147B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58AD-5602-FE58-F283-6C40EA9B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3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6F8D-3302-5072-0CA6-83AE2E1A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>
                <a:solidFill>
                  <a:srgbClr val="FF0000"/>
                </a:solidFill>
              </a:rPr>
              <a:t>Database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B17DA-A2C3-5FDD-4742-A9A21543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CREATE DATABASE </a:t>
            </a:r>
            <a:r>
              <a:rPr lang="en-GB" dirty="0"/>
              <a:t>statement is used to create a new SQL database.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CC825-D0E4-D43B-81BC-B5C8B739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3D8D3-0579-76BC-00F4-5B469D25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31D9B-17A3-E5DE-F64F-A6D5C987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0291E9-0D2A-2D2C-CB53-9BC291D6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29" y="3430613"/>
            <a:ext cx="6915497" cy="100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6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2636-D817-82C5-C35D-79220DCCC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998018"/>
            <a:ext cx="2986391" cy="2216513"/>
          </a:xfrm>
        </p:spPr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dirty="0">
                <a:solidFill>
                  <a:srgbClr val="FF0000"/>
                </a:solidFill>
              </a:rPr>
              <a:t>DATABASE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E0296F-BC4E-258B-9C62-44F6C5A3D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35" y="1398406"/>
            <a:ext cx="8154129" cy="1569668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B568532-ECCC-C707-FF84-658941934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126" y="3998019"/>
            <a:ext cx="4787224" cy="2216512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B535D-1E9A-1F57-94CE-1C76CCBE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D2E14-5EE3-E516-E4AF-8EB15B37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5E90F-096B-8E64-4C51-8193C087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0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34342-9799-11E2-E304-DB2BAF6C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2459B44-1E76-6FA8-6574-0B534E3C0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71235-E557-D90B-576C-88FD4B91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998018"/>
            <a:ext cx="2986391" cy="2216513"/>
          </a:xfrm>
        </p:spPr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dirty="0">
                <a:solidFill>
                  <a:srgbClr val="FF0000"/>
                </a:solidFill>
              </a:rPr>
              <a:t>DATABASE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0137717-8C54-9943-0E12-EEBAF5CD7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8C009-C502-D140-2662-07305714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B42E-EC5B-D675-83E0-24C8EC51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3BD5B-808A-222B-91AD-32A19652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441891-B99C-3E31-659E-AAE2FB209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064"/>
            <a:ext cx="9144000" cy="481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78168-C351-AA53-A8FB-5A06CACD8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BCF6E4F-2073-1067-D452-2434AE993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E3DBB3-82D5-EF96-143A-48F3D1D2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998018"/>
            <a:ext cx="2986391" cy="2216513"/>
          </a:xfrm>
        </p:spPr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dirty="0">
                <a:solidFill>
                  <a:srgbClr val="FF0000"/>
                </a:solidFill>
              </a:rPr>
              <a:t>DATABASE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1139905A-5A3A-B319-E976-21AFB87E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D03C4-9F22-CD3C-3084-F0D9EC63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11D3-8896-814D-99A5-31AF0461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14F68-D67A-D1F2-6BC8-7B7C8E65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EA81BE-7636-937D-09B9-338B43F1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064"/>
            <a:ext cx="9144000" cy="481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6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B42BC4-A74A-BC5C-5A27-9CBBB3BD7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34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75ADE-6B8A-BE35-0E0E-72E4A791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11/25/2024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DBD64-C0CB-158E-05B9-D9B479F5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05FEE-1382-6CA4-559B-6BB7FC43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4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F614D6A-C00B-12D0-9656-8E2B48AD1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1987" b="-1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6AE08-5CD2-90D4-389A-4D10A28C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11/25/2024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4A0B3-EB15-BDC2-5F2E-DB78FABE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1ED5D-804D-D917-46D9-2EDAD02B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63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58FE31-33F2-3BE6-6020-B4A44CCD0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99803"/>
            <a:ext cx="8178799" cy="51432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D8BF2-E473-A583-3053-443929A8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8BB2F-C674-A0EF-1267-CC46A325F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7E513-B17D-5C60-E455-F03D2805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5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AD3FAF-BDFD-462D-DD72-72CF12441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1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727E4-C139-604F-835C-9348A030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11/25/2024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73D1D-AC1F-5519-EC0F-E75DF266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46DBC-C516-5D47-B6D4-ADD53488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22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A48811-DD64-9C7A-5308-C753A4E47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48" b="-1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97C5-13CF-42DF-6E86-5D862024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11/25/2024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177BE-44F4-9128-D52C-D91797871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77FCB-B70B-501F-0C27-D6879FA3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9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7CC3-DD48-05E6-D3E5-D67B583E6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DROP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DATABASE</a:t>
            </a:r>
            <a:r>
              <a:rPr lang="en-US" dirty="0"/>
              <a:t> Statement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6A0A5-605B-23DA-F5C0-560022CAF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EB4AD-1209-348B-D1B3-04D87D13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DE3BE-1D47-BD76-F203-0A3D0C4B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44D02-9C08-04F9-BE8E-DAD9FB50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454A5-4E8A-0335-6775-C36A1463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02" y="2962210"/>
            <a:ext cx="4086795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5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5800-60C7-0954-36CC-86B3E76D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ALTER TABLE 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Statement</a:t>
            </a:r>
            <a:b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1E742-7CA2-F4D0-5BB0-29C467365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ALTER TABLE </a:t>
            </a:r>
            <a:r>
              <a:rPr lang="en-GB" dirty="0"/>
              <a:t>statement is used to add, delete, or modify columns in an existing table.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ALTER TABLE </a:t>
            </a:r>
            <a:r>
              <a:rPr lang="en-GB" dirty="0"/>
              <a:t>statement is also used to add and drop various constraints on an existing table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C96C8-1183-B327-8865-4639504A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0A681-ADF4-C459-608E-C0F19355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C9E56-846B-556A-7B46-0C75597E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8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2B4437-BFBC-62BD-5412-4BD8A5E8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3399769"/>
            <a:ext cx="7980565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ALTER TABLE –Example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257560" y="0"/>
            <a:ext cx="1886211" cy="2174333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D2E815-B31A-6DAF-CEE3-86B539D55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56" y="443894"/>
            <a:ext cx="8644398" cy="258924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765D4-9879-4654-76B2-5DB68EFC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11/25/2024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228" y="4322879"/>
            <a:ext cx="2533818" cy="2535121"/>
            <a:chOff x="-305" y="-1"/>
            <a:chExt cx="3832880" cy="287613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4FB42-025A-84DB-35B6-B416FAFE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17C3-F03A-6824-E4AA-DD25CFE3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4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07BE-F05F-DABE-1258-19C06D0D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ALTER TABLE 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 </a:t>
            </a:r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DROP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COLUMN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82646-4DBB-2DCD-A503-48658918D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delete a column in a table, use the following syntax (notice that some database systems don't allow deleting a column):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F5583-769D-7913-9C28-C34CFC33D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512CA-F4A9-B9C7-FD7B-CDCCC171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84FC5-605B-CF4E-587B-E3073C22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6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28B4F7-B269-C4B6-43EB-531BCF96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3399769"/>
            <a:ext cx="7980565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ALTER TABLE </a:t>
            </a:r>
            <a:r>
              <a:rPr lang="en-US" sz="3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–DROP COLUMN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257560" y="0"/>
            <a:ext cx="1886211" cy="2174333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938A7E-64D7-F509-3FA6-AEB38F6D2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56" y="690381"/>
            <a:ext cx="8644398" cy="20962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7C82F-1CC1-E438-FE56-EFA3EA44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11/25/2024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228" y="4322879"/>
            <a:ext cx="2533818" cy="2535121"/>
            <a:chOff x="-305" y="-1"/>
            <a:chExt cx="3832880" cy="287613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18916-A5E5-A51C-BA09-8BDBA94D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2D5C1-B1C1-F19B-1590-643B2A09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0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7ECD-BE63-F8A9-7500-9F0410F6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ALTER TABLE 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 </a:t>
            </a:r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MODIFY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COLUMN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7A0C4-F0A3-B936-B48D-B23D9C785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change the data type of a column in a table, use the following syntax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44576-8749-1E7D-322C-64248C910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64871-DE90-F198-E9A3-989698E00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5D578-CF5F-7452-44DB-67CC16BD2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B14033-0C5E-7335-4CEE-E7786E4D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3399769"/>
            <a:ext cx="7980565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MODIFY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257560" y="0"/>
            <a:ext cx="1886211" cy="2174333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Content Placeholder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D99A74A-5FBE-44F3-67F9-93D71154D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337" y="320231"/>
            <a:ext cx="7361235" cy="28365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2CFB8-198B-CD7A-BCA3-C62BFED1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11/25/2024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228" y="4322879"/>
            <a:ext cx="2533818" cy="2535121"/>
            <a:chOff x="-305" y="-1"/>
            <a:chExt cx="3832880" cy="287613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67792-EFD1-70ED-A81A-669AE265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E6FE3-F637-FE2B-EDEC-0C9CA5EF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1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C33F-7ABD-342F-A935-B7FDE9BB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Constraints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518C-6115-21D1-8C17-EE1844298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constraints are used to specify rules for data in a table.</a:t>
            </a:r>
          </a:p>
          <a:p>
            <a:r>
              <a:rPr lang="en-GB" dirty="0"/>
              <a:t>Constraints can be specified when the table is created with the </a:t>
            </a:r>
            <a:r>
              <a:rPr lang="en-GB" dirty="0">
                <a:solidFill>
                  <a:srgbClr val="FF0000"/>
                </a:solidFill>
              </a:rPr>
              <a:t>CREATE TABLE </a:t>
            </a:r>
            <a:r>
              <a:rPr lang="en-GB" dirty="0"/>
              <a:t>statement, or after the table is created with the </a:t>
            </a:r>
            <a:r>
              <a:rPr lang="en-GB" dirty="0">
                <a:solidFill>
                  <a:srgbClr val="FF0000"/>
                </a:solidFill>
              </a:rPr>
              <a:t>ALTER TABLE </a:t>
            </a:r>
            <a:r>
              <a:rPr lang="en-GB" dirty="0"/>
              <a:t>statement.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794A-00E5-4CBE-B2AC-40D33441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6C1E8-BA35-BEDE-CD47-C0C9FCEB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C6589-1A12-C3CF-B745-C55275FC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8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87C7-B4EC-0B56-4287-C86AFC38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Constraints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506E-6288-EC3F-9C92-0213B2D02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Constraints are used to limit the type of data that can go into a table. </a:t>
            </a:r>
          </a:p>
          <a:p>
            <a:r>
              <a:rPr lang="en-GB" dirty="0"/>
              <a:t>This ensures the accuracy and reliability of the data in the table. </a:t>
            </a:r>
          </a:p>
          <a:p>
            <a:r>
              <a:rPr lang="en-GB" dirty="0"/>
              <a:t>If there is any violation between the constraint and the data action, the action is aborted.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FA6B3-8875-34EE-E7BF-2C0A3FD3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3EBDF-44E3-A041-9A0A-EB40A5FEE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A627A-9778-1BEE-630D-0C247083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5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51BAF-B5B5-9EB2-4633-194144F52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Constraints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01D24-99C2-B873-4300-08396E839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Constraints can be </a:t>
            </a:r>
            <a:r>
              <a:rPr lang="en-GB" dirty="0">
                <a:solidFill>
                  <a:srgbClr val="FF0000"/>
                </a:solidFill>
              </a:rPr>
              <a:t>column level</a:t>
            </a:r>
            <a:r>
              <a:rPr lang="en-GB" dirty="0"/>
              <a:t> or </a:t>
            </a:r>
            <a:r>
              <a:rPr lang="en-GB" dirty="0">
                <a:solidFill>
                  <a:srgbClr val="FF0000"/>
                </a:solidFill>
              </a:rPr>
              <a:t>table level</a:t>
            </a:r>
            <a:r>
              <a:rPr lang="en-GB" dirty="0"/>
              <a:t>. </a:t>
            </a:r>
          </a:p>
          <a:p>
            <a:r>
              <a:rPr lang="en-GB" dirty="0">
                <a:solidFill>
                  <a:srgbClr val="FF0000"/>
                </a:solidFill>
              </a:rPr>
              <a:t>Column level </a:t>
            </a:r>
            <a:r>
              <a:rPr lang="en-GB" dirty="0"/>
              <a:t>constraints apply to a column, and </a:t>
            </a:r>
            <a:r>
              <a:rPr lang="en-GB" dirty="0">
                <a:solidFill>
                  <a:srgbClr val="FF0000"/>
                </a:solidFill>
              </a:rPr>
              <a:t>table level </a:t>
            </a:r>
            <a:r>
              <a:rPr lang="en-GB" dirty="0"/>
              <a:t>constraints apply to the whole table.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27DD-C652-8D03-B9A5-58EE6DFF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E2BA2-8F20-3957-E596-90A3B163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6811-9E2E-B4BF-D88C-FB1C1B19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2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EAB7-31AB-3C10-A57A-91A82284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Constraints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0297-6B36-5026-6A31-1C7C2EF7C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NOT NULL </a:t>
            </a:r>
            <a:r>
              <a:rPr lang="en-GB" dirty="0"/>
              <a:t>- Ensures that a column cannot have a NULL value</a:t>
            </a:r>
          </a:p>
          <a:p>
            <a:r>
              <a:rPr lang="en-GB" dirty="0">
                <a:solidFill>
                  <a:srgbClr val="FF0000"/>
                </a:solidFill>
              </a:rPr>
              <a:t>UNIQUE </a:t>
            </a:r>
            <a:r>
              <a:rPr lang="en-GB" dirty="0"/>
              <a:t>- Ensures that all values in a column are different</a:t>
            </a:r>
          </a:p>
          <a:p>
            <a:r>
              <a:rPr lang="en-GB" dirty="0">
                <a:solidFill>
                  <a:srgbClr val="FF0000"/>
                </a:solidFill>
              </a:rPr>
              <a:t>PRIMARY KEY </a:t>
            </a:r>
            <a:r>
              <a:rPr lang="en-GB" dirty="0"/>
              <a:t>- A combination of a NOT NULL and UNIQUE. Uniquely identifies each row in a table</a:t>
            </a:r>
          </a:p>
          <a:p>
            <a:r>
              <a:rPr lang="en-GB" dirty="0">
                <a:solidFill>
                  <a:srgbClr val="FF0000"/>
                </a:solidFill>
              </a:rPr>
              <a:t>FOREIGN KEY </a:t>
            </a:r>
            <a:r>
              <a:rPr lang="en-GB" dirty="0"/>
              <a:t>- Prevents actions that would destroy links between tables</a:t>
            </a:r>
          </a:p>
          <a:p>
            <a:r>
              <a:rPr lang="en-GB" dirty="0">
                <a:solidFill>
                  <a:srgbClr val="FF0000"/>
                </a:solidFill>
              </a:rPr>
              <a:t>CHECK</a:t>
            </a:r>
            <a:r>
              <a:rPr lang="en-GB" dirty="0"/>
              <a:t> - Ensures that the values in a column satisfies a specific condition</a:t>
            </a:r>
          </a:p>
          <a:p>
            <a:r>
              <a:rPr lang="en-GB" dirty="0">
                <a:solidFill>
                  <a:srgbClr val="FF0000"/>
                </a:solidFill>
              </a:rPr>
              <a:t>DEFAULT</a:t>
            </a:r>
            <a:r>
              <a:rPr lang="en-GB" dirty="0"/>
              <a:t> - Sets a default value for a column if no value is specified</a:t>
            </a:r>
          </a:p>
          <a:p>
            <a:r>
              <a:rPr lang="en-GB" dirty="0">
                <a:solidFill>
                  <a:srgbClr val="FF0000"/>
                </a:solidFill>
              </a:rPr>
              <a:t>CREATE INDEX </a:t>
            </a:r>
            <a:r>
              <a:rPr lang="en-GB" dirty="0"/>
              <a:t>- Used to create and retrieve data from the database very quickly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F5BEB-D7A6-2E15-50F1-3F48C562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4837-69F6-E94F-FE93-ADD4172C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B7067-DB87-E9E2-9381-1616AB6B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3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6C3F-C21B-398F-40D0-129483B4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NOT NULL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Constraint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00595-1A58-4E09-F602-50DA545C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By default, a column can hold </a:t>
            </a:r>
            <a:r>
              <a:rPr lang="en-GB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NULL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values.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NOT NULL </a:t>
            </a:r>
            <a:r>
              <a:rPr lang="en-GB" dirty="0"/>
              <a:t>constraint enforces a column to NOT accept NULL values.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D4D4B-62BC-62F7-6DAA-DAFD01E6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7D44D-E8F9-0D46-99DD-ED285A89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6A198-416F-2031-C042-1152CE6C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1DADC9-8C43-8209-F4AE-05B57EE62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93" y="3863181"/>
            <a:ext cx="4639322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8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ABBC-9A2C-1DA5-914B-F755C956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on </a:t>
            </a:r>
            <a:r>
              <a:rPr lang="en-US" dirty="0">
                <a:solidFill>
                  <a:srgbClr val="FF0000"/>
                </a:solidFill>
              </a:rPr>
              <a:t>ALTER TABLE</a:t>
            </a:r>
            <a:endParaRPr lang="en-PK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4E72EFE-EEC8-6550-19AA-FD5AA10AD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419" y="3482128"/>
            <a:ext cx="2953162" cy="76210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32925-C62A-9991-8F60-D856143C5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EB215-DAEF-690A-A990-82A51583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77C92-006E-A4EC-AA96-6AEAB029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9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98D1-E6B5-C0FD-BB44-8599056B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UNIQUE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Constraint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8BA1-CF70-9C56-9B91-A0BE8F8E0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UNIQUE</a:t>
            </a:r>
            <a:r>
              <a:rPr lang="en-GB" dirty="0"/>
              <a:t> constraint ensures that all values in a column are different.</a:t>
            </a:r>
          </a:p>
          <a:p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PRIMARY KEY </a:t>
            </a:r>
            <a:r>
              <a:rPr lang="en-GB" dirty="0"/>
              <a:t>constraint automatically has a </a:t>
            </a:r>
            <a:r>
              <a:rPr lang="en-GB" dirty="0">
                <a:solidFill>
                  <a:srgbClr val="FF0000"/>
                </a:solidFill>
              </a:rPr>
              <a:t>UNIQUE</a:t>
            </a:r>
            <a:r>
              <a:rPr lang="en-GB" dirty="0"/>
              <a:t> constraint.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758AD-F3F6-695C-EB40-A6166409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93498-94A1-3567-E019-7C7969EF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5D8D4-E38D-EC98-CC5F-AF7725E2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2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611F-E0BE-A228-6584-F11C5FEC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6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UNIQUE</a:t>
            </a:r>
            <a:r>
              <a:rPr lang="it-IT" sz="3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it-IT" sz="36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Constraint</a:t>
            </a:r>
            <a:r>
              <a:rPr lang="it-IT" sz="3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on </a:t>
            </a:r>
            <a:r>
              <a:rPr lang="it-IT" sz="36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CREATE TABLE</a:t>
            </a:r>
            <a:endParaRPr lang="en-PK" sz="3600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3BF276-4483-4002-CFB6-44ABE103A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2036" y="2409682"/>
            <a:ext cx="4401164" cy="203863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48764-6658-1D4B-404E-5CE06029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BE92B-4F98-7D46-FEB0-57E94DE4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909BF-BDD7-0B96-CB74-1C5335169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1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15E5-E8D3-E6F6-8A46-99A625D9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Graphically</a:t>
            </a:r>
            <a:r>
              <a:rPr lang="en-US" dirty="0"/>
              <a:t>…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C631E1-2CAB-69A2-A249-FE8DA5B31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27039"/>
            <a:ext cx="8229600" cy="307228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D823-F6EE-9919-9AED-94A88405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C26F6-D961-F368-661E-3F4462F0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F3D85-3C24-7C0D-4037-ACDF63B7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2809-08A7-A42E-D8FC-5862AEE0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PRIMARY KEY 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Constraint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33553-FFFD-DD68-3044-6443717B3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PRIMARY KEY </a:t>
            </a:r>
            <a:r>
              <a:rPr lang="en-GB" dirty="0"/>
              <a:t>constraint uniquely identifies each record in a table.</a:t>
            </a:r>
          </a:p>
          <a:p>
            <a:r>
              <a:rPr lang="en-GB" dirty="0"/>
              <a:t>Primary keys must contain </a:t>
            </a:r>
            <a:r>
              <a:rPr lang="en-GB" dirty="0">
                <a:solidFill>
                  <a:srgbClr val="FF0000"/>
                </a:solidFill>
              </a:rPr>
              <a:t>UNIQUE</a:t>
            </a:r>
            <a:r>
              <a:rPr lang="en-GB" dirty="0"/>
              <a:t> values and cannot contain </a:t>
            </a:r>
            <a:r>
              <a:rPr lang="en-GB" dirty="0">
                <a:solidFill>
                  <a:srgbClr val="FF0000"/>
                </a:solidFill>
              </a:rPr>
              <a:t>NULL</a:t>
            </a:r>
            <a:r>
              <a:rPr lang="en-GB" dirty="0"/>
              <a:t> values.</a:t>
            </a:r>
          </a:p>
          <a:p>
            <a:r>
              <a:rPr lang="en-GB" dirty="0"/>
              <a:t>A table can have only ONE primary key; and in the table, this primary key can consist of single or multiple columns (fields)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D577C-0D26-EE46-70F4-C8E44A5A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50AC2-1465-9C14-1492-1CEAA979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B80C6-C073-29B5-538A-2B705FEB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3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2B95-0693-3E66-81C5-412BA90C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FOREIGN KEY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Constraint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6DE47-27CD-61AD-4D1D-CCD93BE80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FOREIGN KEY </a:t>
            </a:r>
            <a:r>
              <a:rPr lang="en-GB" dirty="0"/>
              <a:t>constraint is used to prevent actions that would destroy links between tables.</a:t>
            </a:r>
          </a:p>
          <a:p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FOREIGN KEY </a:t>
            </a:r>
            <a:r>
              <a:rPr lang="en-GB" dirty="0"/>
              <a:t>is a field (or collection of fields) in one table, that refers to the </a:t>
            </a:r>
            <a:r>
              <a:rPr lang="en-GB" dirty="0">
                <a:solidFill>
                  <a:srgbClr val="FF0000"/>
                </a:solidFill>
              </a:rPr>
              <a:t>PRIMARY KEY </a:t>
            </a:r>
            <a:r>
              <a:rPr lang="en-GB" dirty="0"/>
              <a:t>in another table.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4B89F-579A-9FA3-CF18-EA4D44CC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93D95-C705-37A1-251C-69E35329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C88B9-B70F-3DBB-292B-6EC73067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9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75BF-6838-6DF1-E840-66CDEDEA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FOREIGN KEY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846CCE-3FAE-DF92-8D39-7826F6E0E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7284" y="2834338"/>
            <a:ext cx="6849431" cy="205768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F8FD6-885B-AA07-9D33-0B92231A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DADC6-E9FC-C545-AEEB-72A6E0E1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5FB8C-3D2B-4469-8E51-55254C54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2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11/25/2024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1725</TotalTime>
  <Words>809</Words>
  <Application>Microsoft Office PowerPoint</Application>
  <PresentationFormat>On-screen Show (4:3)</PresentationFormat>
  <Paragraphs>179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Segoe UI</vt:lpstr>
      <vt:lpstr>Verdana</vt:lpstr>
      <vt:lpstr>Office Theme</vt:lpstr>
      <vt:lpstr>PowerPoint Presentation</vt:lpstr>
      <vt:lpstr>Database Management Systems</vt:lpstr>
      <vt:lpstr>RECAP</vt:lpstr>
      <vt:lpstr>EXISTS Operator</vt:lpstr>
      <vt:lpstr>EXISTS Example</vt:lpstr>
      <vt:lpstr>CASE</vt:lpstr>
      <vt:lpstr>CASE –Example</vt:lpstr>
      <vt:lpstr>CASE –Example</vt:lpstr>
      <vt:lpstr>Create a Database</vt:lpstr>
      <vt:lpstr>CREATE a DATABASE</vt:lpstr>
      <vt:lpstr>CREATE a DATABASE</vt:lpstr>
      <vt:lpstr>CREATE a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DROP DATABASE Statement</vt:lpstr>
      <vt:lpstr>ALTER TABLE Statement </vt:lpstr>
      <vt:lpstr>ALTER TABLE –Example</vt:lpstr>
      <vt:lpstr>ALTER TABLE - DROP COLUMN</vt:lpstr>
      <vt:lpstr>ALTER TABLE –DROP COLUMN</vt:lpstr>
      <vt:lpstr>ALTER TABLE - MODIFY COLUMN</vt:lpstr>
      <vt:lpstr>MODIFY</vt:lpstr>
      <vt:lpstr>Constraints</vt:lpstr>
      <vt:lpstr>Constraints</vt:lpstr>
      <vt:lpstr>Constraints</vt:lpstr>
      <vt:lpstr>Common Constraints</vt:lpstr>
      <vt:lpstr>NOT NULL Constraint</vt:lpstr>
      <vt:lpstr>Constraints on ALTER TABLE</vt:lpstr>
      <vt:lpstr>UNIQUE Constraint</vt:lpstr>
      <vt:lpstr>UNIQUE Constraint on CREATE TABLE</vt:lpstr>
      <vt:lpstr>Graphically…</vt:lpstr>
      <vt:lpstr>PRIMARY KEY Constraint</vt:lpstr>
      <vt:lpstr>FOREIGN KEY Constraint</vt:lpstr>
      <vt:lpstr>FOREIGN KEY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355</cp:revision>
  <dcterms:created xsi:type="dcterms:W3CDTF">2013-01-27T09:14:16Z</dcterms:created>
  <dcterms:modified xsi:type="dcterms:W3CDTF">2024-11-25T08:12:02Z</dcterms:modified>
  <cp:category/>
</cp:coreProperties>
</file>