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87" r:id="rId2"/>
    <p:sldId id="256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29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AC494-0A80-4064-A01B-9A6E4C369D31}" type="datetimeFigureOut">
              <a:rPr lang="en-PK" smtClean="0"/>
              <a:t>20/11/2024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9CAA9-D0B1-4253-95AF-C412DFC374A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197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59F27-DF0E-4232-B62C-DB27033F866A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373C-6796-4986-B8FF-7527357BEF77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B79-4D5B-44C0-8AFE-677DAC1BBD28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B559D-834D-48B1-8EAA-F03DE93BD21C}" type="datetime1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D6FB0-A115-4295-95B9-E3D4E4B5D7BB}" type="datetime1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5639-8631-4F17-AB79-0A320067A1C4}" type="datetime1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AE89B-5AF3-4D70-8B46-3C9D52C877BD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8BA62-26EF-421E-AC5E-6A22283FDF42}" type="datetime1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2EAB-F417-4892-ADCC-F99592DD1689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490D4-6840-4BBF-80E8-CC69AFA30F8F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B5E4-E59A-491F-BD64-F0ABF557BE8D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858414"/>
            <a:ext cx="8980197" cy="5142336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737" y="5519152"/>
            <a:ext cx="734363" cy="312845"/>
          </a:xfrm>
        </p:spPr>
        <p:txBody>
          <a:bodyPr>
            <a:normAutofit/>
          </a:bodyPr>
          <a:lstStyle/>
          <a:p>
            <a:pPr>
              <a:spcAft>
                <a:spcPts val="45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45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63115" y="741391"/>
            <a:ext cx="502890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Database Management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063115" y="2533476"/>
            <a:ext cx="5028904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Week 1, Day 3</a:t>
            </a:r>
          </a:p>
          <a:p>
            <a:pPr defTabSz="914400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MySQL—A RDBMS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 Muhammad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+92-333-1971110</a:t>
            </a:r>
          </a:p>
          <a:p>
            <a:pPr defTabSz="914400">
              <a:lnSpc>
                <a:spcPct val="90000"/>
              </a:lnSpc>
            </a:pPr>
            <a:r>
              <a:rPr lang="en-US" sz="2400" b="1" dirty="0">
                <a:solidFill>
                  <a:schemeClr val="tx1"/>
                </a:solidFill>
              </a:rPr>
              <a:t>attapanhyar@quest.edu.pk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042CA-1AB3-5530-1155-8018D6D6A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12250" y="2221700"/>
            <a:ext cx="123362" cy="9155399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D5A982-4141-9143-22DC-C0713B397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157616" y="4576333"/>
            <a:ext cx="123362" cy="4446132"/>
          </a:xfrm>
          <a:prstGeom prst="rect">
            <a:avLst/>
          </a:prstGeom>
          <a:gradFill>
            <a:gsLst>
              <a:gs pos="19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819E-2401-730E-1B6A-5587DA20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US" sz="2800"/>
              <a:t>Introduction</a:t>
            </a:r>
            <a:endParaRPr lang="en-PK" sz="2800"/>
          </a:p>
        </p:txBody>
      </p:sp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75A480F5-6C04-F466-0288-9003B7C766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12" r="51085" b="-1"/>
          <a:stretch/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2E11F-C1B6-080A-C0A3-4AE1587CE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GB" sz="2000" dirty="0"/>
              <a:t>SQL is the standard language for dealing with </a:t>
            </a:r>
            <a:r>
              <a:rPr lang="en-GB" sz="2000" b="1" dirty="0"/>
              <a:t>Relational Databases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r>
              <a:rPr lang="en-GB" sz="2000" dirty="0"/>
              <a:t>SQL is used to insert, search, update, and delete database records.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75BAD-D185-1691-60B7-A38DC696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11/20/2024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AA479-6853-2661-3BA3-3CD47F0EE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16698" y="6356350"/>
            <a:ext cx="2440767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4E9D7-ED08-E67A-4640-C1887E7D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11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39D9E-46F0-67F6-4B04-B96B7A3E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57" y="2960716"/>
            <a:ext cx="3027251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Your first Query 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0265-A85B-E3C6-0A53-EC819B9B1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356" y="953037"/>
            <a:ext cx="3027250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7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following SQL statement selects all the records in the "Customers" table:</a:t>
            </a:r>
            <a:endParaRPr lang="en-US" sz="17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984992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391886"/>
            <a:ext cx="4507025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BBDC96-4063-339D-0698-ED3962C3D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69" y="2133264"/>
            <a:ext cx="4152000" cy="253271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0DDC8-3D04-1381-9094-56448DBC0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356" y="6492240"/>
            <a:ext cx="28243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A3544-ED92-A2AB-2F4D-3F1ED8D315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41869" y="649224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/>
              <a:pPr defTabSz="914400">
                <a:spcAft>
                  <a:spcPts val="600"/>
                </a:spcAft>
              </a:pPr>
              <a:t>11/20/2024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71B30-28B6-DD0C-7534-BF4D751D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92240"/>
            <a:ext cx="140381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96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3457-5208-8BF3-447F-F54CA907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Keep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in Mind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That</a:t>
            </a:r>
            <a:b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🤷‍♀️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D3265-CA56-8161-1E0F-27F4ACD3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SQL keywords are NOT case sensitive: </a:t>
            </a:r>
            <a:r>
              <a:rPr lang="en-GB" dirty="0">
                <a:solidFill>
                  <a:srgbClr val="FF0000"/>
                </a:solidFill>
              </a:rPr>
              <a:t>select</a:t>
            </a:r>
            <a:r>
              <a:rPr lang="en-GB" dirty="0"/>
              <a:t> is the same as </a:t>
            </a:r>
            <a:r>
              <a:rPr lang="en-GB" dirty="0">
                <a:solidFill>
                  <a:srgbClr val="FF0000"/>
                </a:solidFill>
              </a:rPr>
              <a:t>SELECT</a:t>
            </a:r>
            <a:endParaRPr lang="en-PK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9CD1E-DDA6-5743-1B4D-29401109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25721-7C1E-1EAF-8C95-F7885524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24C62-05FE-6BF2-ED0D-19F04806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23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0FBA9-A034-4786-7C97-4CCD6D97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78" y="3415754"/>
            <a:ext cx="7103967" cy="113711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4000" b="0" i="0">
                <a:effectLst/>
                <a:latin typeface="Segoe UI" panose="020B0502040204020203" pitchFamily="34" charset="0"/>
              </a:rPr>
              <a:t>The MySQL SELECT Statement</a:t>
            </a:r>
            <a:endParaRPr lang="en-PK" sz="40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BB89-2B47-5BF0-A03A-DA22A570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1124" y="3246436"/>
            <a:ext cx="4205910" cy="365125"/>
          </a:xfrm>
        </p:spPr>
        <p:txBody>
          <a:bodyPr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</a:rPr>
              <a:t>Atta Muhamamd Panhyar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4C631D-3192-FBAC-47EA-E4EB98099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978" y="1679161"/>
            <a:ext cx="5809476" cy="10550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54C2F-94B5-A0F3-36E2-F21B2E7E7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978" y="4612943"/>
            <a:ext cx="5809476" cy="140822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 dirty="0"/>
              <a:t>The SELECT statement is used to select data from a database.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The data returned is stored in a result table, called the result-set.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17CF3-0FF5-7052-3394-00CF633F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8741" y="5769864"/>
            <a:ext cx="1736608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rgbClr val="FFFFFF"/>
                </a:solidFill>
              </a:rPr>
              <a:pPr algn="r">
                <a:spcAft>
                  <a:spcPts val="600"/>
                </a:spcAft>
              </a:pPr>
              <a:t>11/20/2024</a:t>
            </a:fld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AAF2F-6D47-51CA-33E6-A0AD6C02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2622" y="4892040"/>
            <a:ext cx="1255014" cy="100584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57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5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891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BFE9-0871-228F-09D5-8CF22061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SLELECT EXAMPLE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9CDC25-4856-E827-E8B6-44FE65919A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104" y="1600200"/>
            <a:ext cx="7993792" cy="452596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8D3A0-23EB-1087-1CA3-4DBA743F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03540-EADD-E703-6CC8-AB6F0C42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F8B1F-09BC-1441-6B78-AB214EA8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94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65C7-D75A-DD1F-295B-A83C0A77F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SELECT </a:t>
            </a:r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DISTINCT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Statement</a:t>
            </a:r>
            <a:b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4EC31-10CE-1350-707F-603DE6D2D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SELECT DISTINCT </a:t>
            </a:r>
            <a:r>
              <a:rPr lang="en-GB" dirty="0"/>
              <a:t>statement is used to return only distinct (different) values.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2AC2-45DC-6BF6-D71E-660533CF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64F51-DF24-07A5-9EA5-6CBF9173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2AB3-8CE7-EFC6-A890-9101865E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81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7711" y="221673"/>
            <a:ext cx="6288577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920A1-EC74-4AFA-F956-DE52F97A5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340" y="310343"/>
            <a:ext cx="5989320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/>
              <a:t>SELECT DISTINCT Statment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2332" y="1211407"/>
            <a:ext cx="5419335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3BAF6B-9EE0-81DE-DA73-C60E55E1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9" y="2277571"/>
            <a:ext cx="4197096" cy="38203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AB1F8E-5DC6-5AF4-E46B-AA628179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6" y="2277571"/>
            <a:ext cx="4197096" cy="38203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B0A0F-81DA-82A1-581D-499E1C17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11/20/2024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053ED-4010-59EE-EEEB-746B1094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8FA68-2277-0664-4935-57721AE0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78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52C5-8E91-6B51-3114-7FAB2844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many countries have our customers?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D0BE0-63CF-FA81-845E-46E56F2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4A3B5-665C-A62D-8A73-AFF7FE4A7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AFC3-46E5-3CC4-A8AF-2950DF96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CB2B78-524F-833C-D41B-AF025CAA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351"/>
            <a:ext cx="9144000" cy="435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43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5EA4-4D2E-CA03-35DC-0955B151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WHERE</a:t>
            </a:r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Clause</a:t>
            </a:r>
            <a:b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5ADEF-E76F-15BE-5642-DF859793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WHERE</a:t>
            </a:r>
            <a:r>
              <a:rPr lang="en-GB" dirty="0"/>
              <a:t> clause is used to filter records.</a:t>
            </a:r>
          </a:p>
          <a:p>
            <a:r>
              <a:rPr lang="en-GB" dirty="0"/>
              <a:t>It is used to extract only those records that fulfil a specified condition.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C9FD-32FB-2ACA-F30D-DA97AFD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46EB4-C706-109E-C7E8-1E9C0AB1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A6D79-6052-0249-271B-7D7CC3E6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EF9DDB-453B-845B-ABC0-2B144CA83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760" y="3748705"/>
            <a:ext cx="433448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96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2371-5128-20A2-BA0F-F6DCD0DB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D2D0-FEC8-A176-4AF8-9DABEF83E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98D2-6E06-8B6A-C75C-CB5C9AFD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0B84F-A251-59B2-F1AE-4C0E0496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7A410-CCE0-549B-BF50-8C5ED25B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A51DD-7071-23A5-1A1D-FFA308F36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7825"/>
            <a:ext cx="9144000" cy="413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1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0165-094B-9DC7-6633-85EF4227C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Operators in The </a:t>
            </a:r>
            <a:r>
              <a:rPr lang="en-GB" b="0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WHERE</a:t>
            </a:r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Clause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B80A0-A0EA-9513-1EE2-3F01A5FC6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EQUAL (=)</a:t>
            </a:r>
          </a:p>
          <a:p>
            <a:r>
              <a:rPr lang="en-US" dirty="0"/>
              <a:t>GREATER (&gt;)</a:t>
            </a:r>
          </a:p>
          <a:p>
            <a:r>
              <a:rPr lang="en-US" dirty="0"/>
              <a:t>LESS (&lt;)</a:t>
            </a:r>
          </a:p>
          <a:p>
            <a:r>
              <a:rPr lang="en-US" dirty="0"/>
              <a:t>NOT EQUAL TO (&lt;&gt;)</a:t>
            </a:r>
          </a:p>
          <a:p>
            <a:r>
              <a:rPr lang="en-US" dirty="0"/>
              <a:t>BETWEEN ( RANGE)</a:t>
            </a:r>
          </a:p>
          <a:p>
            <a:r>
              <a:rPr lang="en-US" dirty="0"/>
              <a:t>LIKE (Search pattern)</a:t>
            </a:r>
          </a:p>
          <a:p>
            <a:r>
              <a:rPr lang="en-US" dirty="0"/>
              <a:t>IN ( TO SPECIFY multiple values)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15C95-399E-2211-EEC9-BE88279F5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38349-F885-137E-2671-64ADE44E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0D126-0D40-FCE6-01FE-850E82E6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48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EFE41-65D8-DEDC-38C4-4F0164F6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anchor="ctr">
            <a:normAutofit/>
          </a:bodyPr>
          <a:lstStyle/>
          <a:p>
            <a:r>
              <a:rPr lang="en-US" sz="4200"/>
              <a:t>EQUAL</a:t>
            </a:r>
            <a:endParaRPr lang="en-PK" sz="42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C7C80C4-AF86-EA80-CA3A-86F329130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/>
          </a:bodyPr>
          <a:lstStyle/>
          <a:p>
            <a:endParaRPr lang="en-US" sz="19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4ED8AC-394B-294E-218A-3BEBEB606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2336091"/>
            <a:ext cx="8188452" cy="38690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6A401-8765-C99A-3B3B-8AE2F96CAA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mtClean="0"/>
              <a:pPr>
                <a:spcAft>
                  <a:spcPts val="600"/>
                </a:spcAft>
              </a:pPr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1DA04-427D-E749-08BB-19F88BDA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2AAE1-68D2-DC3B-FF84-DE0C1E2C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11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4CCA4-5D7B-0A48-F031-DF596327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GREATER THAN (&gt;)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0994B6-3B41-CF14-4072-ADB7550DC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925" y="2404398"/>
            <a:ext cx="8058150" cy="38477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63A7B-A603-7AD1-4012-18A197A4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11/20/2024</a:t>
            </a:fld>
            <a:endParaRPr lang="en-US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62DB9-A21A-C497-DF28-1CF73A04D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FC92B-F3AA-A5F2-6DA0-03A85C38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15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08973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63A7D-CDC5-4729-06E0-C2B44821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LESS THAN (&lt;)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FEEDCA-717B-4779-F897-9C9600575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479" y="2137864"/>
            <a:ext cx="8076135" cy="399768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BED78-F830-8E7A-C1D8-8D5075EF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900"/>
              <a:pPr defTabSz="914400">
                <a:spcAft>
                  <a:spcPts val="600"/>
                </a:spcAft>
              </a:pPr>
              <a:t>11/20/2024</a:t>
            </a:fld>
            <a:endParaRPr lang="en-US" sz="9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F8E78-0600-52D6-2757-8C2E67AF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C57A7-B3A2-DE42-2A75-FE4C3170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900"/>
              <a:pPr defTabSz="914400">
                <a:spcAft>
                  <a:spcPts val="600"/>
                </a:spcAft>
              </a:pPr>
              <a:t>16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635367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26334-9C8D-4DC0-0B04-27E9F8FCA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 dirty="0"/>
              <a:t>NOT EQUAL TO (&lt;&gt;)</a:t>
            </a:r>
            <a:endParaRPr lang="en-PK" sz="28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5E83F1-0994-BE4A-1503-A200D89BC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endParaRPr lang="en-US" sz="16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AB60CD-77F5-4328-AE6B-E6AA88877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22" y="2734056"/>
            <a:ext cx="7334449" cy="348386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18D86-80F1-D7DA-C8DC-B54A76B4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11/20/2024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74E31-B51F-0661-93A0-4F9DBD99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2C9FD-7883-435E-FB46-3CB1487C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631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04E16-47BD-0F46-28DC-5D2E3707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 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E7B2178-61CC-5B4C-8ED2-CA1DE174D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96141"/>
            <a:ext cx="8229600" cy="353408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A54D9-47DD-DB3B-EEBF-8E7AD8A9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A3B6E-B9C5-2501-42A9-89B65BA6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5ED4-6584-4F1A-E40C-6CDDFEBA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45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664" y="304802"/>
            <a:ext cx="8323012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9D496-5CEE-0397-77F6-7604A149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67" y="405575"/>
            <a:ext cx="4822811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088" y="76442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216842" y="1069550"/>
            <a:ext cx="1021458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A3778A-C4B9-927E-BFEE-82283C95C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93" y="2207096"/>
            <a:ext cx="8323012" cy="39742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6D48-DB3B-7E49-342F-21860994BF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9CF85CA7-A304-4E2C-BEBA-D86A957ACC28}" type="datetime1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11/20/2024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2D381-DE95-9D97-5DE9-E055AAD6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10917-95EF-E5AE-683C-217CE099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19</a:t>
            </a:fld>
            <a:endParaRPr 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048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12E35-0844-6C93-AD39-0F1DC616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AND, OR and NOT Operators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B9932-B259-5BFC-AF53-9E91C4048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WHERE clause can be combined with AND, OR, and NOT operators.</a:t>
            </a:r>
          </a:p>
          <a:p>
            <a:endParaRPr lang="en-GB" dirty="0"/>
          </a:p>
          <a:p>
            <a:r>
              <a:rPr lang="en-GB" dirty="0"/>
              <a:t>The AND </a:t>
            </a:r>
            <a:r>
              <a:rPr lang="en-GB" dirty="0" err="1"/>
              <a:t>and</a:t>
            </a:r>
            <a:r>
              <a:rPr lang="en-GB" dirty="0"/>
              <a:t> OR operators are used to filter records based on more than one condition:</a:t>
            </a:r>
          </a:p>
          <a:p>
            <a:endParaRPr lang="en-GB" dirty="0"/>
          </a:p>
          <a:p>
            <a:r>
              <a:rPr lang="en-GB" dirty="0"/>
              <a:t>The AND operator displays a record if all the conditions separated by AND are TRUE.</a:t>
            </a:r>
          </a:p>
          <a:p>
            <a:r>
              <a:rPr lang="en-GB" dirty="0"/>
              <a:t>The OR operator displays a record if any of the conditions separated by OR is TRUE.</a:t>
            </a:r>
          </a:p>
          <a:p>
            <a:r>
              <a:rPr lang="en-GB" dirty="0"/>
              <a:t>The NOT operator displays a record if the condition(s) is NOT TRUE.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211D5-B6A3-37F0-D368-42B1B4D60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C1436-A59B-D014-5122-FEF1C8977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FD7BC-74DD-B52C-5252-004D633C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16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8C17-3690-27A7-F5D5-AE56383CB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9A11FD-1475-57B4-5DA5-8B07566A9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3440"/>
            <a:ext cx="8229600" cy="375948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3E5BC-6D5A-DAA3-4D62-6EF2D7B8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175F2-46D7-0EF6-E52B-6E9D6449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E5916-F9D8-0458-5572-9E3AF66D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16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5789-8AA6-876D-1AEC-C8682510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 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E7283D-6EFC-B1F3-9224-643A7854B1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07487"/>
            <a:ext cx="8229600" cy="371138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F921A-AB85-8F83-217F-2B95B49CF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8182B-0954-775F-54D0-C01F72C7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12841-2B3A-F84A-5E19-17AC78AE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1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D051-CCC2-0885-2FF5-9B0BDAA1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A0FBF2-F603-AB5D-4951-159D7E1F8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93876"/>
            <a:ext cx="8229600" cy="373861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A3265-653B-5E26-19BD-C9361DC8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85CA7-A304-4E2C-BEBA-D86A957ACC28}" type="datetime1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23C4A-FA23-46CC-2841-0A6F55B0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CBE00-ACFD-E534-9578-A9CE5D04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34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D91E30-AE4B-65F9-8746-9396AA7FC8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r>
              <a:rPr lang="en-US" sz="6300"/>
              <a:t>Question</a:t>
            </a:r>
            <a:endParaRPr lang="en-PK" sz="63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525ED-032C-74B4-3F10-7F864CAC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5622" y="6356350"/>
            <a:ext cx="8745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CF85CA7-A304-4E2C-BEBA-D86A957ACC28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11/20/2024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6D5-9753-F2C5-F571-AA7B12AF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Atta Muhamamd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3268-48D8-2730-2B06-55F14882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08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90709C-0071-4279-89D3-164CB7794B27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423</Words>
  <Application>Microsoft Office PowerPoint</Application>
  <PresentationFormat>On-screen Show (4:3)</PresentationFormat>
  <Paragraphs>119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Avenir Next LT Pro</vt:lpstr>
      <vt:lpstr>Calibri</vt:lpstr>
      <vt:lpstr>Segoe UI</vt:lpstr>
      <vt:lpstr>Office Theme</vt:lpstr>
      <vt:lpstr>PowerPoint Presentation</vt:lpstr>
      <vt:lpstr>Database Management Systems</vt:lpstr>
      <vt:lpstr>Introduction</vt:lpstr>
      <vt:lpstr>Your first Query 🤗</vt:lpstr>
      <vt:lpstr>Keep in Mind That 🤷‍♀️</vt:lpstr>
      <vt:lpstr>The MySQL SELECT Statement</vt:lpstr>
      <vt:lpstr>SLELECT EXAMPLE</vt:lpstr>
      <vt:lpstr>SELECT DISTINCT Statement </vt:lpstr>
      <vt:lpstr>SELECT DISTINCT Statment</vt:lpstr>
      <vt:lpstr>How many countries have our customers?</vt:lpstr>
      <vt:lpstr>WHERE Clause </vt:lpstr>
      <vt:lpstr>WHERE CLAUSE</vt:lpstr>
      <vt:lpstr>Operators in The WHERE Clause</vt:lpstr>
      <vt:lpstr>EQUAL</vt:lpstr>
      <vt:lpstr>GREATER THAN (&gt;)</vt:lpstr>
      <vt:lpstr>LESS THAN (&lt;)</vt:lpstr>
      <vt:lpstr>NOT EQUAL TO (&lt;&gt;)</vt:lpstr>
      <vt:lpstr>BETWEEN </vt:lpstr>
      <vt:lpstr>IN </vt:lpstr>
      <vt:lpstr>AND, OR and NOT Operators</vt:lpstr>
      <vt:lpstr>AND</vt:lpstr>
      <vt:lpstr>OR </vt:lpstr>
      <vt:lpstr>NOT</vt:lpstr>
      <vt:lpstr>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Atta Muhammad</cp:lastModifiedBy>
  <cp:revision>149</cp:revision>
  <dcterms:created xsi:type="dcterms:W3CDTF">2013-01-27T09:14:16Z</dcterms:created>
  <dcterms:modified xsi:type="dcterms:W3CDTF">2024-11-20T08:12:20Z</dcterms:modified>
  <cp:category/>
</cp:coreProperties>
</file>