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29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0D2F2B-D8F0-4DE2-86FA-B1504E1527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435832-F563-4A92-A88E-AA500CE53C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If you are adding values for </a:t>
          </a:r>
          <a:r>
            <a:rPr lang="en-GB" dirty="0">
              <a:solidFill>
                <a:srgbClr val="FF0000"/>
              </a:solidFill>
            </a:rPr>
            <a:t>all the columns </a:t>
          </a:r>
          <a:r>
            <a:rPr lang="en-GB" dirty="0"/>
            <a:t>of the </a:t>
          </a:r>
          <a:r>
            <a:rPr lang="en-GB" dirty="0">
              <a:solidFill>
                <a:srgbClr val="FF0000"/>
              </a:solidFill>
            </a:rPr>
            <a:t>table</a:t>
          </a:r>
          <a:r>
            <a:rPr lang="en-GB" dirty="0"/>
            <a:t>, you do not need to specify the column names in the SQL query. </a:t>
          </a:r>
          <a:endParaRPr lang="en-US" dirty="0"/>
        </a:p>
      </dgm:t>
    </dgm:pt>
    <dgm:pt modelId="{BF8DF69E-0892-4231-928E-66905EF3F1C7}" type="parTrans" cxnId="{41021F7A-5F44-4BA4-8726-966C532744E8}">
      <dgm:prSet/>
      <dgm:spPr/>
      <dgm:t>
        <a:bodyPr/>
        <a:lstStyle/>
        <a:p>
          <a:endParaRPr lang="en-US"/>
        </a:p>
      </dgm:t>
    </dgm:pt>
    <dgm:pt modelId="{DA38751E-12B7-415F-A92A-1169AC398E94}" type="sibTrans" cxnId="{41021F7A-5F44-4BA4-8726-966C532744E8}">
      <dgm:prSet/>
      <dgm:spPr/>
      <dgm:t>
        <a:bodyPr/>
        <a:lstStyle/>
        <a:p>
          <a:endParaRPr lang="en-US"/>
        </a:p>
      </dgm:t>
    </dgm:pt>
    <dgm:pt modelId="{B7E55128-D544-4226-9C9E-2FAAC5D943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However, make sure </a:t>
          </a:r>
          <a:r>
            <a:rPr lang="en-GB" b="0" i="0" dirty="0">
              <a:solidFill>
                <a:srgbClr val="FF0000"/>
              </a:solidFill>
            </a:rPr>
            <a:t>the order of the values </a:t>
          </a:r>
          <a:r>
            <a:rPr lang="en-GB" b="0" i="0" dirty="0"/>
            <a:t>is in the same order as the columns in the table</a:t>
          </a:r>
          <a:endParaRPr lang="en-US" dirty="0"/>
        </a:p>
      </dgm:t>
    </dgm:pt>
    <dgm:pt modelId="{BC597E54-8E25-4D06-9D13-C0396DDB1475}" type="parTrans" cxnId="{E15BB1FE-2DCF-4617-A976-CF6761670615}">
      <dgm:prSet/>
      <dgm:spPr/>
      <dgm:t>
        <a:bodyPr/>
        <a:lstStyle/>
        <a:p>
          <a:endParaRPr lang="en-US"/>
        </a:p>
      </dgm:t>
    </dgm:pt>
    <dgm:pt modelId="{3E0C20C0-98C8-457E-9883-D57920A254F2}" type="sibTrans" cxnId="{E15BB1FE-2DCF-4617-A976-CF6761670615}">
      <dgm:prSet/>
      <dgm:spPr/>
      <dgm:t>
        <a:bodyPr/>
        <a:lstStyle/>
        <a:p>
          <a:endParaRPr lang="en-US"/>
        </a:p>
      </dgm:t>
    </dgm:pt>
    <dgm:pt modelId="{12795465-9620-442B-9CD1-07D8B208723C}" type="pres">
      <dgm:prSet presAssocID="{510D2F2B-D8F0-4DE2-86FA-B1504E1527F7}" presName="root" presStyleCnt="0">
        <dgm:presLayoutVars>
          <dgm:dir/>
          <dgm:resizeHandles val="exact"/>
        </dgm:presLayoutVars>
      </dgm:prSet>
      <dgm:spPr/>
    </dgm:pt>
    <dgm:pt modelId="{2E792226-4F7D-4783-9DBD-AE4CB4E0E193}" type="pres">
      <dgm:prSet presAssocID="{D4435832-F563-4A92-A88E-AA500CE53C63}" presName="compNode" presStyleCnt="0"/>
      <dgm:spPr/>
    </dgm:pt>
    <dgm:pt modelId="{5E8F5B22-95ED-4DBE-8417-FC992286B9B5}" type="pres">
      <dgm:prSet presAssocID="{D4435832-F563-4A92-A88E-AA500CE53C63}" presName="bgRect" presStyleLbl="bgShp" presStyleIdx="0" presStyleCnt="2"/>
      <dgm:spPr/>
    </dgm:pt>
    <dgm:pt modelId="{6E9D9D0E-2D55-494A-822B-4065B76441FD}" type="pres">
      <dgm:prSet presAssocID="{D4435832-F563-4A92-A88E-AA500CE53C6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9387948-20BB-4962-8D0E-25F472268324}" type="pres">
      <dgm:prSet presAssocID="{D4435832-F563-4A92-A88E-AA500CE53C63}" presName="spaceRect" presStyleCnt="0"/>
      <dgm:spPr/>
    </dgm:pt>
    <dgm:pt modelId="{33CDD840-EE2D-4F08-AEC9-F178A52EC2D1}" type="pres">
      <dgm:prSet presAssocID="{D4435832-F563-4A92-A88E-AA500CE53C63}" presName="parTx" presStyleLbl="revTx" presStyleIdx="0" presStyleCnt="2">
        <dgm:presLayoutVars>
          <dgm:chMax val="0"/>
          <dgm:chPref val="0"/>
        </dgm:presLayoutVars>
      </dgm:prSet>
      <dgm:spPr/>
    </dgm:pt>
    <dgm:pt modelId="{46FADF89-EE93-4EB8-B564-321DAE5554CD}" type="pres">
      <dgm:prSet presAssocID="{DA38751E-12B7-415F-A92A-1169AC398E94}" presName="sibTrans" presStyleCnt="0"/>
      <dgm:spPr/>
    </dgm:pt>
    <dgm:pt modelId="{9FD6B827-BBDD-41AD-BD72-AAB12AA4A1E2}" type="pres">
      <dgm:prSet presAssocID="{B7E55128-D544-4226-9C9E-2FAAC5D94379}" presName="compNode" presStyleCnt="0"/>
      <dgm:spPr/>
    </dgm:pt>
    <dgm:pt modelId="{F54531CB-22C1-4E3A-9EB3-ECDCB130640C}" type="pres">
      <dgm:prSet presAssocID="{B7E55128-D544-4226-9C9E-2FAAC5D94379}" presName="bgRect" presStyleLbl="bgShp" presStyleIdx="1" presStyleCnt="2"/>
      <dgm:spPr/>
    </dgm:pt>
    <dgm:pt modelId="{004F4107-2501-4304-8097-E53B8CD0EA77}" type="pres">
      <dgm:prSet presAssocID="{B7E55128-D544-4226-9C9E-2FAAC5D943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ECBC729-0104-40F7-A93C-FF651D76BCB3}" type="pres">
      <dgm:prSet presAssocID="{B7E55128-D544-4226-9C9E-2FAAC5D94379}" presName="spaceRect" presStyleCnt="0"/>
      <dgm:spPr/>
    </dgm:pt>
    <dgm:pt modelId="{20128529-C4D9-47D7-8806-108807FFB865}" type="pres">
      <dgm:prSet presAssocID="{B7E55128-D544-4226-9C9E-2FAAC5D9437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1021F7A-5F44-4BA4-8726-966C532744E8}" srcId="{510D2F2B-D8F0-4DE2-86FA-B1504E1527F7}" destId="{D4435832-F563-4A92-A88E-AA500CE53C63}" srcOrd="0" destOrd="0" parTransId="{BF8DF69E-0892-4231-928E-66905EF3F1C7}" sibTransId="{DA38751E-12B7-415F-A92A-1169AC398E94}"/>
    <dgm:cxn modelId="{6C76A2BC-2703-4430-B61C-5C4EFD420F9B}" type="presOf" srcId="{B7E55128-D544-4226-9C9E-2FAAC5D94379}" destId="{20128529-C4D9-47D7-8806-108807FFB865}" srcOrd="0" destOrd="0" presId="urn:microsoft.com/office/officeart/2018/2/layout/IconVerticalSolidList"/>
    <dgm:cxn modelId="{1DF00EC8-69AC-4C04-BB46-986894464516}" type="presOf" srcId="{510D2F2B-D8F0-4DE2-86FA-B1504E1527F7}" destId="{12795465-9620-442B-9CD1-07D8B208723C}" srcOrd="0" destOrd="0" presId="urn:microsoft.com/office/officeart/2018/2/layout/IconVerticalSolidList"/>
    <dgm:cxn modelId="{DE8156C8-90F5-4CB9-99E6-338C25C19318}" type="presOf" srcId="{D4435832-F563-4A92-A88E-AA500CE53C63}" destId="{33CDD840-EE2D-4F08-AEC9-F178A52EC2D1}" srcOrd="0" destOrd="0" presId="urn:microsoft.com/office/officeart/2018/2/layout/IconVerticalSolidList"/>
    <dgm:cxn modelId="{E15BB1FE-2DCF-4617-A976-CF6761670615}" srcId="{510D2F2B-D8F0-4DE2-86FA-B1504E1527F7}" destId="{B7E55128-D544-4226-9C9E-2FAAC5D94379}" srcOrd="1" destOrd="0" parTransId="{BC597E54-8E25-4D06-9D13-C0396DDB1475}" sibTransId="{3E0C20C0-98C8-457E-9883-D57920A254F2}"/>
    <dgm:cxn modelId="{2C3EDB0E-76BE-4BE7-A3BE-319947C8D1F2}" type="presParOf" srcId="{12795465-9620-442B-9CD1-07D8B208723C}" destId="{2E792226-4F7D-4783-9DBD-AE4CB4E0E193}" srcOrd="0" destOrd="0" presId="urn:microsoft.com/office/officeart/2018/2/layout/IconVerticalSolidList"/>
    <dgm:cxn modelId="{70B1BF58-5CA1-4250-AE2C-C135C74749A6}" type="presParOf" srcId="{2E792226-4F7D-4783-9DBD-AE4CB4E0E193}" destId="{5E8F5B22-95ED-4DBE-8417-FC992286B9B5}" srcOrd="0" destOrd="0" presId="urn:microsoft.com/office/officeart/2018/2/layout/IconVerticalSolidList"/>
    <dgm:cxn modelId="{B94B8236-C0E5-478A-92AF-3D492285F9F2}" type="presParOf" srcId="{2E792226-4F7D-4783-9DBD-AE4CB4E0E193}" destId="{6E9D9D0E-2D55-494A-822B-4065B76441FD}" srcOrd="1" destOrd="0" presId="urn:microsoft.com/office/officeart/2018/2/layout/IconVerticalSolidList"/>
    <dgm:cxn modelId="{3DEC348C-43B1-45CC-A5CB-F98CEE1EF426}" type="presParOf" srcId="{2E792226-4F7D-4783-9DBD-AE4CB4E0E193}" destId="{E9387948-20BB-4962-8D0E-25F472268324}" srcOrd="2" destOrd="0" presId="urn:microsoft.com/office/officeart/2018/2/layout/IconVerticalSolidList"/>
    <dgm:cxn modelId="{D6C61BF8-5D32-4D37-8A30-63499854C9CC}" type="presParOf" srcId="{2E792226-4F7D-4783-9DBD-AE4CB4E0E193}" destId="{33CDD840-EE2D-4F08-AEC9-F178A52EC2D1}" srcOrd="3" destOrd="0" presId="urn:microsoft.com/office/officeart/2018/2/layout/IconVerticalSolidList"/>
    <dgm:cxn modelId="{3BBF98A2-BC9E-47A6-A8C5-B06539DD48C4}" type="presParOf" srcId="{12795465-9620-442B-9CD1-07D8B208723C}" destId="{46FADF89-EE93-4EB8-B564-321DAE5554CD}" srcOrd="1" destOrd="0" presId="urn:microsoft.com/office/officeart/2018/2/layout/IconVerticalSolidList"/>
    <dgm:cxn modelId="{24060188-E566-4693-991A-E38B23532044}" type="presParOf" srcId="{12795465-9620-442B-9CD1-07D8B208723C}" destId="{9FD6B827-BBDD-41AD-BD72-AAB12AA4A1E2}" srcOrd="2" destOrd="0" presId="urn:microsoft.com/office/officeart/2018/2/layout/IconVerticalSolidList"/>
    <dgm:cxn modelId="{65D3B2FF-9D4F-4B85-8E56-162157D95017}" type="presParOf" srcId="{9FD6B827-BBDD-41AD-BD72-AAB12AA4A1E2}" destId="{F54531CB-22C1-4E3A-9EB3-ECDCB130640C}" srcOrd="0" destOrd="0" presId="urn:microsoft.com/office/officeart/2018/2/layout/IconVerticalSolidList"/>
    <dgm:cxn modelId="{53DCEE4D-E0A3-4D77-8926-37DABAA59019}" type="presParOf" srcId="{9FD6B827-BBDD-41AD-BD72-AAB12AA4A1E2}" destId="{004F4107-2501-4304-8097-E53B8CD0EA77}" srcOrd="1" destOrd="0" presId="urn:microsoft.com/office/officeart/2018/2/layout/IconVerticalSolidList"/>
    <dgm:cxn modelId="{188BD1A2-E1E3-41D4-B11D-976D9EE916EC}" type="presParOf" srcId="{9FD6B827-BBDD-41AD-BD72-AAB12AA4A1E2}" destId="{FECBC729-0104-40F7-A93C-FF651D76BCB3}" srcOrd="2" destOrd="0" presId="urn:microsoft.com/office/officeart/2018/2/layout/IconVerticalSolidList"/>
    <dgm:cxn modelId="{5D6377A7-FA8E-4089-ADE7-9606513D793A}" type="presParOf" srcId="{9FD6B827-BBDD-41AD-BD72-AAB12AA4A1E2}" destId="{20128529-C4D9-47D7-8806-108807FFB8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F5B22-95ED-4DBE-8417-FC992286B9B5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D9D0E-2D55-494A-822B-4065B76441FD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DD840-EE2D-4F08-AEC9-F178A52EC2D1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If you are adding values for </a:t>
          </a:r>
          <a:r>
            <a:rPr lang="en-GB" sz="2300" kern="1200" dirty="0">
              <a:solidFill>
                <a:srgbClr val="FF0000"/>
              </a:solidFill>
            </a:rPr>
            <a:t>all the columns </a:t>
          </a:r>
          <a:r>
            <a:rPr lang="en-GB" sz="2300" kern="1200" dirty="0"/>
            <a:t>of the </a:t>
          </a:r>
          <a:r>
            <a:rPr lang="en-GB" sz="2300" kern="1200" dirty="0">
              <a:solidFill>
                <a:srgbClr val="FF0000"/>
              </a:solidFill>
            </a:rPr>
            <a:t>table</a:t>
          </a:r>
          <a:r>
            <a:rPr lang="en-GB" sz="2300" kern="1200" dirty="0"/>
            <a:t>, you do not need to specify the column names in the SQL query. </a:t>
          </a:r>
          <a:endParaRPr lang="en-US" sz="2300" kern="1200" dirty="0"/>
        </a:p>
      </dsp:txBody>
      <dsp:txXfrm>
        <a:off x="1568246" y="735468"/>
        <a:ext cx="6661353" cy="1357788"/>
      </dsp:txXfrm>
    </dsp:sp>
    <dsp:sp modelId="{F54531CB-22C1-4E3A-9EB3-ECDCB130640C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F4107-2501-4304-8097-E53B8CD0EA77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28529-C4D9-47D7-8806-108807FFB865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 dirty="0"/>
            <a:t>However, make sure </a:t>
          </a:r>
          <a:r>
            <a:rPr lang="en-GB" sz="2300" b="0" i="0" kern="1200" dirty="0">
              <a:solidFill>
                <a:srgbClr val="FF0000"/>
              </a:solidFill>
            </a:rPr>
            <a:t>the order of the values </a:t>
          </a:r>
          <a:r>
            <a:rPr lang="en-GB" sz="2300" b="0" i="0" kern="1200" dirty="0"/>
            <a:t>is in the same order as the columns in the table</a:t>
          </a:r>
          <a:endParaRPr lang="en-US" sz="2300" kern="1200" dirty="0"/>
        </a:p>
      </dsp:txBody>
      <dsp:txXfrm>
        <a:off x="1568246" y="2432705"/>
        <a:ext cx="6661353" cy="135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21/11/2024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1, Day 4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MySQL—A RDBMS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080C-E487-09C7-B925-E7803579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RECAP</a:t>
            </a:r>
            <a:endParaRPr lang="en-PK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C71C5-A101-D27E-BE05-22CAB4A4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SELECT</a:t>
            </a:r>
          </a:p>
          <a:p>
            <a:r>
              <a:rPr lang="en-US" sz="2000" dirty="0"/>
              <a:t>DISTINCT</a:t>
            </a:r>
          </a:p>
          <a:p>
            <a:r>
              <a:rPr lang="en-US" sz="2000" dirty="0"/>
              <a:t>WHERE</a:t>
            </a:r>
          </a:p>
          <a:p>
            <a:r>
              <a:rPr lang="en-US" sz="2000" dirty="0"/>
              <a:t>BETWEEN</a:t>
            </a:r>
          </a:p>
          <a:p>
            <a:r>
              <a:rPr lang="en-US" sz="2000" dirty="0"/>
              <a:t>IN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4FC8-8FAD-422C-5CC2-BF8B86A5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51" y="6356350"/>
            <a:ext cx="21146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11/21/2024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Blue push pin surrounded by circle of red push pins">
            <a:extLst>
              <a:ext uri="{FF2B5EF4-FFF2-40B4-BE49-F238E27FC236}">
                <a16:creationId xmlns:a16="http://schemas.microsoft.com/office/drawing/2014/main" id="{C5D235F2-4B8F-ABCE-14EF-0FF50B20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6" r="27763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ED24-8B7D-EDF2-25B9-242C4222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8554" y="6356350"/>
            <a:ext cx="247757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A6DE6-5289-5190-0FDF-362DFE43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A332-31BB-0A39-808C-A6182FFA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ORDER BY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399CF-6D0E-E843-1A6B-C834DCD08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0431"/>
            <a:ext cx="8229600" cy="45259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ORDER BY </a:t>
            </a:r>
            <a:r>
              <a:rPr lang="en-GB" dirty="0"/>
              <a:t>keyword is used to sort the result-set in ascending or descending order.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32A6B-F054-366A-32D1-EEA71F6B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08310-6105-B0EC-AE31-75DEB6FF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C65B5-B746-A0A9-2DAC-DE755106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BC5663-6BAE-1DC2-2A01-66F29511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7549"/>
            <a:ext cx="9144000" cy="41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2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172F-475C-3C3C-8130-19A969F2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 (</a:t>
            </a:r>
            <a:r>
              <a:rPr lang="en-US" dirty="0">
                <a:solidFill>
                  <a:srgbClr val="FF0000"/>
                </a:solidFill>
              </a:rPr>
              <a:t>ASC/DESC</a:t>
            </a:r>
            <a:r>
              <a:rPr lang="en-US" dirty="0"/>
              <a:t>)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8C1CF2-C606-9E9C-9FC0-4E88DFE80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671" y="1600200"/>
            <a:ext cx="8026657" cy="45259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FAEA-B1C4-8443-3A39-0BE10A70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967E-48B9-D660-A05D-117F3B9E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BC73D-6596-6F42-D31A-59E74429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9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3FB54-71CD-D872-1B21-2DFF39A7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 several columns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6B2671E-0294-6F7C-0D3E-7DD9F6110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646" y="1675227"/>
            <a:ext cx="7002707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DB00-BF85-CCD7-4CC3-29D37E23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08BDE-3052-62A0-A7EE-585542AC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24D9-42CC-9506-7C5F-74CFBC23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8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69B1-98A1-D139-FC01-36C6A50B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INSERT INTO 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DFB65-2B43-7025-F57C-228ADA0FA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INSERT INTO </a:t>
            </a:r>
            <a:r>
              <a:rPr lang="en-GB" dirty="0"/>
              <a:t>statement is used to insert new records in a table.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38EF-DB5D-DB98-8C21-CCA5E535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19276-1607-3356-4B84-2C962087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8499A-0F13-ACB1-3932-13AD2269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B82B0-30FE-EE28-92D1-38D9C54A1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3795763"/>
            <a:ext cx="7954485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0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57E4-4994-7646-49AB-0EE64BA2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in Mind 😶‍🌫️</a:t>
            </a:r>
            <a:endParaRPr lang="en-PK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08A0292-4EDA-3F5E-20B5-7FD607475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50641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5B253-4CBB-CC67-3781-D6D52A54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DA8DF-C175-B185-F139-A598CC36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8CD1C-A683-CB00-2CBD-EDC79082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58DE-B148-2930-A2F7-BC71DA55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 INTO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51B9AD-9EB4-6914-7036-CBAB0A493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51112"/>
            <a:ext cx="8229600" cy="202413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E230-43F3-9744-AEBE-AEFAA41C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BA84-FFAD-EA12-5AB0-ED681E5C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132FC-FCDD-53BF-275C-EA3C31CC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7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3DB2-16B1-E9F8-6D4D-954A48B9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141712"/>
            <a:ext cx="5942861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INSERT INTO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BCDB21-0013-870A-A7D6-C9512D5A1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854" y="3993214"/>
            <a:ext cx="7859041" cy="78590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6672" y="5231580"/>
            <a:ext cx="784436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378F-8F73-2CC9-C7D0-977A0181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884A2-3777-D8FA-F44F-6D27F311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16E62-2BFF-289E-3B72-C73254CB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4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D1DB-D587-368D-A5C8-719A7BB3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NULL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41138-5D88-1B87-3285-ACEB795D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have to use the </a:t>
            </a:r>
            <a:r>
              <a:rPr lang="en-GB" dirty="0">
                <a:solidFill>
                  <a:srgbClr val="FF0000"/>
                </a:solidFill>
              </a:rPr>
              <a:t>IS NULL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IS NOT NULL </a:t>
            </a:r>
            <a:r>
              <a:rPr lang="en-GB" dirty="0"/>
              <a:t>operators instead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2239F-5909-37A3-63AF-C0FB020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A63E-7B24-6119-E63B-E7466C40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08A4-DEAA-FB7E-4D00-26F8BC8E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7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BF4E-8C9C-EAC9-782A-AB0CD6DC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NULL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13CFB6-C23C-71F4-8D4E-3D39FE041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363" y="2200837"/>
            <a:ext cx="6611273" cy="33246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2ABF-2C2D-D93A-F502-95D29479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A567E-D36F-18D4-A6F7-5EC029F9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B4428-B381-5F64-5424-E03E5B82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5D5B-6CFF-66E3-B26D-0EAD7A7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IS NOT NULL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D7A803-DE07-6003-C957-12B17B939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494" y="1810257"/>
            <a:ext cx="7421011" cy="41058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FB9B6-2F0C-6C6F-413E-BE4AD993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DC4C0-88C3-EDEC-B91D-12F1ADDA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5020-9EC5-44A8-1123-894110A7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9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45B5A-A047-55F4-168A-4171AF4D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r>
              <a:rPr lang="it-IT" sz="4700" b="0" i="0">
                <a:effectLst/>
                <a:latin typeface="Segoe UI" panose="020B0502040204020203" pitchFamily="34" charset="0"/>
              </a:rPr>
              <a:t>UPDATE Statement</a:t>
            </a:r>
            <a:endParaRPr lang="en-PK" sz="47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704ED-ACE6-775C-D245-BCC59771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3246436"/>
            <a:ext cx="4205910" cy="365125"/>
          </a:xfrm>
        </p:spPr>
        <p:txBody>
          <a:bodyPr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Atta Muhamamd Panhyar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C20D13-5785-AE4D-1145-B622D571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1836349"/>
            <a:ext cx="5809476" cy="7407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3BC7-7E2C-B177-BAB4-4D535A190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78" y="4612943"/>
            <a:ext cx="5809476" cy="1408222"/>
          </a:xfrm>
        </p:spPr>
        <p:txBody>
          <a:bodyPr anchor="t">
            <a:normAutofit/>
          </a:bodyPr>
          <a:lstStyle/>
          <a:p>
            <a:r>
              <a:rPr lang="en-GB" sz="1700"/>
              <a:t>The UPDATE statement is used to modify the existing records in a table.</a:t>
            </a:r>
          </a:p>
          <a:p>
            <a:endParaRPr lang="en-PK" sz="17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F371-CE61-7DA9-755E-3DD80E27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8741" y="5769864"/>
            <a:ext cx="1736608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11/21/2024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7C934-EBCC-E0A5-08C9-AB7BBF0A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2622" y="4892040"/>
            <a:ext cx="1255014" cy="1005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57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5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5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4841F-9E86-F8CD-C941-D11A1DE5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b="0" i="0" kern="120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UPDATE Multiple Records</a:t>
            </a:r>
            <a:endParaRPr lang="en-US" sz="35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70CAEA-418B-3529-7417-D888CF079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56" y="508185"/>
            <a:ext cx="8644398" cy="24606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11841-B923-F4B6-7011-56E74560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11/21/2024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6BA0-6E4F-FF7D-6829-FCBAEDE1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3EDAE-84C9-B07C-F729-82A74516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06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335647-E28D-7720-56E5-4AEED7B1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Beware!!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If you forget to include WHERE clause all record in the table would be update.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482CD-6898-AA66-4E5C-8574F48B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C97F6-578B-4771-1803-40BF636F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C3A92-4DDE-C356-A239-7CBD1F82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9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A27130-FAEC-6B06-5284-10950C32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DELETE Statment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07D7A-38AA-D3D6-CB03-4D3956DC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590" y="4171528"/>
            <a:ext cx="6872818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DELETE statement is used to delete existing records in a table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D1B88A2-D8C9-10D1-4CDE-71E455D0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47" y="320231"/>
            <a:ext cx="7091416" cy="28365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FC9173-E126-1143-4678-EB00C2E3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36D6FB0-A115-4295-95B9-E3D4E4B5D7BB}" type="datetime1">
              <a:rPr lang="en-US" smtClean="0"/>
              <a:pPr defTabSz="914400">
                <a:spcAft>
                  <a:spcPts val="600"/>
                </a:spcAft>
              </a:pPr>
              <a:t>11/21/2024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1F102-B98E-E6C0-A66D-9808C378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F433D-19B1-EBE6-2CB0-8B82DE6C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2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8CA3-4CAE-12A9-477B-607842C5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LIMIT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Clause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83FB-67C4-EC78-3CC9-5D49306D3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LIMIT</a:t>
            </a:r>
            <a:r>
              <a:rPr lang="en-GB" dirty="0"/>
              <a:t> clause is used to specify the number of records to return.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LIMIT</a:t>
            </a:r>
            <a:r>
              <a:rPr lang="en-GB" dirty="0"/>
              <a:t> clause is useful on large tables with thousands of records. </a:t>
            </a:r>
          </a:p>
          <a:p>
            <a:r>
              <a:rPr lang="en-GB" dirty="0"/>
              <a:t>Returning many records can impact </a:t>
            </a:r>
            <a:r>
              <a:rPr lang="en-GB" dirty="0">
                <a:solidFill>
                  <a:srgbClr val="FF0000"/>
                </a:solidFill>
              </a:rPr>
              <a:t>performance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8077-4A71-64C1-9433-A054374C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CF36C-6337-0C51-562E-83E8DDEC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629CF-0652-5C40-5F59-87B25CB1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2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1A62C-12D9-7D65-21FA-0ADDE4E4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LIMIT EXAMPLE</a:t>
            </a:r>
            <a:endParaRPr lang="en-PK" dirty="0"/>
          </a:p>
        </p:txBody>
      </p:sp>
      <p:pic>
        <p:nvPicPr>
          <p:cNvPr id="10" name="Content Placeholder 9" descr="Cow in pasture">
            <a:extLst>
              <a:ext uri="{FF2B5EF4-FFF2-40B4-BE49-F238E27FC236}">
                <a16:creationId xmlns:a16="http://schemas.microsoft.com/office/drawing/2014/main" id="{FA9A3DBD-E8B2-89F6-C1D1-45B2F5E84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3" y="2381324"/>
            <a:ext cx="2570162" cy="353362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B34D38-4F57-37A6-9CF0-C363F45D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092" y="1940370"/>
            <a:ext cx="4616356" cy="3001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E08B7-7C07-2A08-D03F-D96711F3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11/21/2024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869F-131B-29AD-5FDF-2E6D548D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A3440-BD94-EDF8-C5E8-05AF183B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48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8681-FF59-67B5-CFE2-31FD8BA9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MIN(), MAX()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B78F-3914-D396-DC18-52C8802AB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MIN() </a:t>
            </a:r>
            <a:r>
              <a:rPr lang="en-GB" dirty="0"/>
              <a:t>function returns the smallest value of the selected column.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MAX() </a:t>
            </a:r>
            <a:r>
              <a:rPr lang="en-GB" dirty="0"/>
              <a:t>function returns the largest value of the selected column.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A98D-6078-9BA4-66ED-34EC894C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2E78B-76FB-CF39-4C10-673D88C9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202F-1AE6-0343-B0F2-25BFDDC6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48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1E8018D-D29A-4B9D-BF9C-9F4D7BA1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8F0B5-F57F-D204-DF92-385993F6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4448"/>
            <a:ext cx="3161297" cy="2398713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474F9B-D635-3A99-D530-75B9758E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37174"/>
            <a:ext cx="3529491" cy="530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1B6DF8-189E-80E0-25F0-9CDB0EF4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04" y="1555902"/>
            <a:ext cx="3529491" cy="493294"/>
          </a:xfrm>
          <a:prstGeom prst="rect">
            <a:avLst/>
          </a:prstGeom>
        </p:spPr>
      </p:pic>
      <p:pic>
        <p:nvPicPr>
          <p:cNvPr id="14" name="Content Placeholder 13" descr="Stones balancing on a wood">
            <a:extLst>
              <a:ext uri="{FF2B5EF4-FFF2-40B4-BE49-F238E27FC236}">
                <a16:creationId xmlns:a16="http://schemas.microsoft.com/office/drawing/2014/main" id="{B5238A4E-CE41-32F6-0E4F-36530D125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377873" y="3884613"/>
            <a:ext cx="3988704" cy="23987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5A6F-FBC7-47C9-EA65-9C9E22FD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/>
              <a:pPr>
                <a:spcAft>
                  <a:spcPts val="600"/>
                </a:spcAft>
              </a:pPr>
              <a:t>11/21/2024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154CB-CDBD-CB40-E876-2F293BCD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CA0C3-918E-A9B5-F3F7-EF5CC8B6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21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57388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5F7D-80A0-78F5-857D-881AD57B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COUNT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(), </a:t>
            </a:r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AVG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and </a:t>
            </a:r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SUM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EFEB-55CA-8E2B-FBB3-54790B9CC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COUNT() </a:t>
            </a:r>
            <a:r>
              <a:rPr lang="en-GB" dirty="0"/>
              <a:t>function returns the number of rows that matches a specified criterion.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AVG() </a:t>
            </a:r>
            <a:r>
              <a:rPr lang="en-GB" dirty="0"/>
              <a:t>function returns the average value of a numeric column.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SUM() </a:t>
            </a:r>
            <a:r>
              <a:rPr lang="en-GB" dirty="0"/>
              <a:t>function returns the total sum of a numeric column.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03B1C-F851-6049-AD13-3F09172B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10D63-4957-E644-C830-3EFA2F98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EAC68-3722-D2D3-D3ED-F8031C39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36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0A299-0775-A6BB-DEA9-AE857158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/>
              <a:t>Count() Function 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Blue abacus">
            <a:extLst>
              <a:ext uri="{FF2B5EF4-FFF2-40B4-BE49-F238E27FC236}">
                <a16:creationId xmlns:a16="http://schemas.microsoft.com/office/drawing/2014/main" id="{4731DAA0-33EB-57F6-2AA6-BE7385DDA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" y="3182264"/>
            <a:ext cx="4210812" cy="252648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03A0FD-6A99-F158-7E12-D4241C28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491496"/>
            <a:ext cx="4210812" cy="19080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6B353-7301-D841-3A6D-E8C279BB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2AD39-141E-6210-F445-9FC6DF81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2F3AB-5424-9A92-01CB-5C5A0420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93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1E8018D-D29A-4B9D-BF9C-9F4D7BA1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645DD-5FFF-5E12-8930-6C67E5DA4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4448"/>
            <a:ext cx="3161297" cy="2398713"/>
          </a:xfrm>
        </p:spPr>
        <p:txBody>
          <a:bodyPr>
            <a:normAutofit/>
          </a:bodyPr>
          <a:lstStyle/>
          <a:p>
            <a:r>
              <a:rPr lang="en-US"/>
              <a:t>AVG() Function</a:t>
            </a:r>
            <a:endParaRPr lang="en-P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D272EE-72F2-67FB-75E0-6E894BD7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20172"/>
            <a:ext cx="3529491" cy="2164754"/>
          </a:xfrm>
          <a:prstGeom prst="rect">
            <a:avLst/>
          </a:prstGeom>
        </p:spPr>
      </p:pic>
      <p:pic>
        <p:nvPicPr>
          <p:cNvPr id="10" name="Content Placeholder 9" descr="Stock numbers on a digital display">
            <a:extLst>
              <a:ext uri="{FF2B5EF4-FFF2-40B4-BE49-F238E27FC236}">
                <a16:creationId xmlns:a16="http://schemas.microsoft.com/office/drawing/2014/main" id="{5723EAF2-A549-8D17-D4C9-400F81E64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04" y="774585"/>
            <a:ext cx="3529491" cy="2055928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7A030CF-141C-37E5-055E-F4E8E76E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779" y="3884449"/>
            <a:ext cx="4285570" cy="2398713"/>
          </a:xfrm>
        </p:spPr>
        <p:txBody>
          <a:bodyPr>
            <a:normAutofit/>
          </a:bodyPr>
          <a:lstStyle/>
          <a:p>
            <a:endParaRPr lang="en-US" sz="17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F333B-E285-BF58-63F5-E02AF3DB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/>
              <a:pPr>
                <a:spcAft>
                  <a:spcPts val="600"/>
                </a:spcAft>
              </a:pPr>
              <a:t>11/21/2024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DBFD8-BCD0-1028-5D99-A0492F2F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5041-22E7-8E34-4BAD-7743E1B7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24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7244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B1229-0985-D5D3-9071-FBAFD055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lang="en-US" dirty="0"/>
              <a:t>SUM() Function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48F701-1A2C-8567-F88B-CDD60821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42" y="553454"/>
            <a:ext cx="5165991" cy="2469279"/>
          </a:xfrm>
          <a:prstGeom prst="rect">
            <a:avLst/>
          </a:prstGeom>
        </p:spPr>
      </p:pic>
      <p:pic>
        <p:nvPicPr>
          <p:cNvPr id="10" name="Content Placeholder 9" descr="Box of fruits and vegetables">
            <a:extLst>
              <a:ext uri="{FF2B5EF4-FFF2-40B4-BE49-F238E27FC236}">
                <a16:creationId xmlns:a16="http://schemas.microsoft.com/office/drawing/2014/main" id="{A6056DE2-2575-3565-4C68-AA3A038E9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9016" y="3920673"/>
            <a:ext cx="3594080" cy="23987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2E51-C89A-74D7-5384-349FC2DC7C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/>
              <a:pPr>
                <a:spcAft>
                  <a:spcPts val="600"/>
                </a:spcAft>
              </a:pPr>
              <a:t>11/21/2024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E95F-3917-0E66-5E3B-E1AFA4C2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29278-00E0-805F-2184-E4F13D1C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25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13275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Question</a:t>
            </a:r>
            <a:endParaRPr lang="en-PK" sz="63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11/21/2024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6D5-9753-F2C5-F571-AA7B12A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451</Words>
  <Application>Microsoft Office PowerPoint</Application>
  <PresentationFormat>On-screen Show (4:3)</PresentationFormat>
  <Paragraphs>123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Segoe UI</vt:lpstr>
      <vt:lpstr>Office Theme</vt:lpstr>
      <vt:lpstr>PowerPoint Presentation</vt:lpstr>
      <vt:lpstr>Database Management Systems</vt:lpstr>
      <vt:lpstr>RECAP</vt:lpstr>
      <vt:lpstr>ORDER BY</vt:lpstr>
      <vt:lpstr>ORDER BY  (ASC/DESC)</vt:lpstr>
      <vt:lpstr>For several columns</vt:lpstr>
      <vt:lpstr>INSERT INTO Statement</vt:lpstr>
      <vt:lpstr>keep in Mind 😶‍🌫️</vt:lpstr>
      <vt:lpstr>INERT INTO</vt:lpstr>
      <vt:lpstr>INSERT INTO</vt:lpstr>
      <vt:lpstr>NULL Values</vt:lpstr>
      <vt:lpstr>IS NULL</vt:lpstr>
      <vt:lpstr>IS NOT NULL</vt:lpstr>
      <vt:lpstr>UPDATE Statement</vt:lpstr>
      <vt:lpstr>UPDATE Multiple Records</vt:lpstr>
      <vt:lpstr>Beware!! If you forget to include WHERE clause all record in the table would be update.</vt:lpstr>
      <vt:lpstr>DELETE Statment</vt:lpstr>
      <vt:lpstr>LIMIT Clause</vt:lpstr>
      <vt:lpstr>LIMIT EXAMPLE</vt:lpstr>
      <vt:lpstr>MIN(), MAX() Functions</vt:lpstr>
      <vt:lpstr>Example</vt:lpstr>
      <vt:lpstr>COUNT(), AVG() and SUM() </vt:lpstr>
      <vt:lpstr>Count() Function </vt:lpstr>
      <vt:lpstr>AVG() Function</vt:lpstr>
      <vt:lpstr>SUM() Function</vt:lpstr>
      <vt:lpstr>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211</cp:revision>
  <dcterms:created xsi:type="dcterms:W3CDTF">2013-01-27T09:14:16Z</dcterms:created>
  <dcterms:modified xsi:type="dcterms:W3CDTF">2024-11-21T07:22:52Z</dcterms:modified>
  <cp:category/>
</cp:coreProperties>
</file>