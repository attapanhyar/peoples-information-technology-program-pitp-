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8" r:id="rId31"/>
    <p:sldId id="329" r:id="rId32"/>
    <p:sldId id="330" r:id="rId33"/>
    <p:sldId id="299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06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164FF2-CC23-4FAF-B739-3F7660CEFE7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CE1441F-F184-4A21-971C-F149D858E147}">
      <dgm:prSet/>
      <dgm:spPr/>
      <dgm:t>
        <a:bodyPr/>
        <a:lstStyle/>
        <a:p>
          <a:r>
            <a:rPr lang="en-GB"/>
            <a:t>Aliases are used to give a table, or a column in a table, a temporary name.</a:t>
          </a:r>
          <a:endParaRPr lang="en-US"/>
        </a:p>
      </dgm:t>
    </dgm:pt>
    <dgm:pt modelId="{527EAAC6-5031-41C9-92ED-9D3FE595E8BB}" type="parTrans" cxnId="{3B62C7BB-7989-4EA1-A258-2B5D00631046}">
      <dgm:prSet/>
      <dgm:spPr/>
      <dgm:t>
        <a:bodyPr/>
        <a:lstStyle/>
        <a:p>
          <a:endParaRPr lang="en-US"/>
        </a:p>
      </dgm:t>
    </dgm:pt>
    <dgm:pt modelId="{C9AA90C1-B0A0-4ABB-818F-59FCAC8BFA53}" type="sibTrans" cxnId="{3B62C7BB-7989-4EA1-A258-2B5D00631046}">
      <dgm:prSet/>
      <dgm:spPr/>
      <dgm:t>
        <a:bodyPr/>
        <a:lstStyle/>
        <a:p>
          <a:endParaRPr lang="en-US"/>
        </a:p>
      </dgm:t>
    </dgm:pt>
    <dgm:pt modelId="{58A84E3A-F49A-4F90-8629-40157A76A785}">
      <dgm:prSet/>
      <dgm:spPr/>
      <dgm:t>
        <a:bodyPr/>
        <a:lstStyle/>
        <a:p>
          <a:r>
            <a:rPr lang="en-GB"/>
            <a:t>Aliases are often used to make column names more readable.</a:t>
          </a:r>
          <a:endParaRPr lang="en-US"/>
        </a:p>
      </dgm:t>
    </dgm:pt>
    <dgm:pt modelId="{C8FFAA46-6812-4C7B-BBE2-00604798979C}" type="parTrans" cxnId="{1CC48DF1-2A8D-4798-A75A-32139BEAB173}">
      <dgm:prSet/>
      <dgm:spPr/>
      <dgm:t>
        <a:bodyPr/>
        <a:lstStyle/>
        <a:p>
          <a:endParaRPr lang="en-US"/>
        </a:p>
      </dgm:t>
    </dgm:pt>
    <dgm:pt modelId="{8906A46A-6DCB-40E6-BE60-51A18821E3EC}" type="sibTrans" cxnId="{1CC48DF1-2A8D-4798-A75A-32139BEAB173}">
      <dgm:prSet/>
      <dgm:spPr/>
      <dgm:t>
        <a:bodyPr/>
        <a:lstStyle/>
        <a:p>
          <a:endParaRPr lang="en-US"/>
        </a:p>
      </dgm:t>
    </dgm:pt>
    <dgm:pt modelId="{E4E63636-9DBB-4FBB-8CBF-90EE9FCD5AF8}">
      <dgm:prSet/>
      <dgm:spPr/>
      <dgm:t>
        <a:bodyPr/>
        <a:lstStyle/>
        <a:p>
          <a:r>
            <a:rPr lang="en-GB"/>
            <a:t>An alias only exists for the duration of that query.</a:t>
          </a:r>
          <a:endParaRPr lang="en-US"/>
        </a:p>
      </dgm:t>
    </dgm:pt>
    <dgm:pt modelId="{272C0549-B9A2-4EFB-A042-0C932087ABCB}" type="parTrans" cxnId="{11E0F0C3-A7A7-4ED0-9000-BAAD95B318E3}">
      <dgm:prSet/>
      <dgm:spPr/>
      <dgm:t>
        <a:bodyPr/>
        <a:lstStyle/>
        <a:p>
          <a:endParaRPr lang="en-US"/>
        </a:p>
      </dgm:t>
    </dgm:pt>
    <dgm:pt modelId="{F0567AD7-9F33-480E-A23A-B392AA1D636C}" type="sibTrans" cxnId="{11E0F0C3-A7A7-4ED0-9000-BAAD95B318E3}">
      <dgm:prSet/>
      <dgm:spPr/>
      <dgm:t>
        <a:bodyPr/>
        <a:lstStyle/>
        <a:p>
          <a:endParaRPr lang="en-US"/>
        </a:p>
      </dgm:t>
    </dgm:pt>
    <dgm:pt modelId="{7499DD23-298C-4F12-B458-F5CDF49E9AA9}">
      <dgm:prSet/>
      <dgm:spPr/>
      <dgm:t>
        <a:bodyPr/>
        <a:lstStyle/>
        <a:p>
          <a:r>
            <a:rPr lang="en-GB"/>
            <a:t>An alias is created with the AS keyword.</a:t>
          </a:r>
          <a:endParaRPr lang="en-US"/>
        </a:p>
      </dgm:t>
    </dgm:pt>
    <dgm:pt modelId="{04F1BEC2-2A37-4277-B5FC-4639B16E8A44}" type="parTrans" cxnId="{30C7EE2A-F2D6-4827-B3BD-C5B1FD0E50DA}">
      <dgm:prSet/>
      <dgm:spPr/>
      <dgm:t>
        <a:bodyPr/>
        <a:lstStyle/>
        <a:p>
          <a:endParaRPr lang="en-US"/>
        </a:p>
      </dgm:t>
    </dgm:pt>
    <dgm:pt modelId="{32565AEB-01CA-4FB5-95F5-530905C0B2F7}" type="sibTrans" cxnId="{30C7EE2A-F2D6-4827-B3BD-C5B1FD0E50DA}">
      <dgm:prSet/>
      <dgm:spPr/>
      <dgm:t>
        <a:bodyPr/>
        <a:lstStyle/>
        <a:p>
          <a:endParaRPr lang="en-US"/>
        </a:p>
      </dgm:t>
    </dgm:pt>
    <dgm:pt modelId="{CDB34EB4-1572-4987-BF5E-5348800B7C6E}" type="pres">
      <dgm:prSet presAssocID="{E0164FF2-CC23-4FAF-B739-3F7660CEFE70}" presName="vert0" presStyleCnt="0">
        <dgm:presLayoutVars>
          <dgm:dir/>
          <dgm:animOne val="branch"/>
          <dgm:animLvl val="lvl"/>
        </dgm:presLayoutVars>
      </dgm:prSet>
      <dgm:spPr/>
    </dgm:pt>
    <dgm:pt modelId="{FCB9E156-4B9C-4257-860E-F46B6239CD21}" type="pres">
      <dgm:prSet presAssocID="{ACE1441F-F184-4A21-971C-F149D858E147}" presName="thickLine" presStyleLbl="alignNode1" presStyleIdx="0" presStyleCnt="4"/>
      <dgm:spPr/>
    </dgm:pt>
    <dgm:pt modelId="{56BDCEB4-6721-40E0-AC6E-B458D161E073}" type="pres">
      <dgm:prSet presAssocID="{ACE1441F-F184-4A21-971C-F149D858E147}" presName="horz1" presStyleCnt="0"/>
      <dgm:spPr/>
    </dgm:pt>
    <dgm:pt modelId="{21752BDA-7370-4762-A6E4-14FDCD128E23}" type="pres">
      <dgm:prSet presAssocID="{ACE1441F-F184-4A21-971C-F149D858E147}" presName="tx1" presStyleLbl="revTx" presStyleIdx="0" presStyleCnt="4"/>
      <dgm:spPr/>
    </dgm:pt>
    <dgm:pt modelId="{F4C82741-F3EB-4EAF-A8E4-8B71978043F8}" type="pres">
      <dgm:prSet presAssocID="{ACE1441F-F184-4A21-971C-F149D858E147}" presName="vert1" presStyleCnt="0"/>
      <dgm:spPr/>
    </dgm:pt>
    <dgm:pt modelId="{7EE5AAE5-5D1A-4229-99C7-15D53FEDBA02}" type="pres">
      <dgm:prSet presAssocID="{58A84E3A-F49A-4F90-8629-40157A76A785}" presName="thickLine" presStyleLbl="alignNode1" presStyleIdx="1" presStyleCnt="4"/>
      <dgm:spPr/>
    </dgm:pt>
    <dgm:pt modelId="{0AB345F3-CD35-4A92-B4B7-7A06B39F0286}" type="pres">
      <dgm:prSet presAssocID="{58A84E3A-F49A-4F90-8629-40157A76A785}" presName="horz1" presStyleCnt="0"/>
      <dgm:spPr/>
    </dgm:pt>
    <dgm:pt modelId="{97174A59-B618-42E6-BCB8-11DB6CD49FDA}" type="pres">
      <dgm:prSet presAssocID="{58A84E3A-F49A-4F90-8629-40157A76A785}" presName="tx1" presStyleLbl="revTx" presStyleIdx="1" presStyleCnt="4"/>
      <dgm:spPr/>
    </dgm:pt>
    <dgm:pt modelId="{5D69E4A4-8664-44DD-BD82-B0A6B6863F31}" type="pres">
      <dgm:prSet presAssocID="{58A84E3A-F49A-4F90-8629-40157A76A785}" presName="vert1" presStyleCnt="0"/>
      <dgm:spPr/>
    </dgm:pt>
    <dgm:pt modelId="{347125A9-56E4-4311-BF79-4D4D8D7A1345}" type="pres">
      <dgm:prSet presAssocID="{E4E63636-9DBB-4FBB-8CBF-90EE9FCD5AF8}" presName="thickLine" presStyleLbl="alignNode1" presStyleIdx="2" presStyleCnt="4"/>
      <dgm:spPr/>
    </dgm:pt>
    <dgm:pt modelId="{70F2FC23-91EA-42E8-9C35-5C4E95550BAB}" type="pres">
      <dgm:prSet presAssocID="{E4E63636-9DBB-4FBB-8CBF-90EE9FCD5AF8}" presName="horz1" presStyleCnt="0"/>
      <dgm:spPr/>
    </dgm:pt>
    <dgm:pt modelId="{CD2B9F06-4C9B-4156-98D5-879E87379F14}" type="pres">
      <dgm:prSet presAssocID="{E4E63636-9DBB-4FBB-8CBF-90EE9FCD5AF8}" presName="tx1" presStyleLbl="revTx" presStyleIdx="2" presStyleCnt="4"/>
      <dgm:spPr/>
    </dgm:pt>
    <dgm:pt modelId="{F8BF2011-80E8-4097-B494-82B302B2124D}" type="pres">
      <dgm:prSet presAssocID="{E4E63636-9DBB-4FBB-8CBF-90EE9FCD5AF8}" presName="vert1" presStyleCnt="0"/>
      <dgm:spPr/>
    </dgm:pt>
    <dgm:pt modelId="{D6D4F0F5-A6D4-4172-9BA6-F58568703F8A}" type="pres">
      <dgm:prSet presAssocID="{7499DD23-298C-4F12-B458-F5CDF49E9AA9}" presName="thickLine" presStyleLbl="alignNode1" presStyleIdx="3" presStyleCnt="4"/>
      <dgm:spPr/>
    </dgm:pt>
    <dgm:pt modelId="{2757ECDF-7FCC-456E-AFFF-275EA892F985}" type="pres">
      <dgm:prSet presAssocID="{7499DD23-298C-4F12-B458-F5CDF49E9AA9}" presName="horz1" presStyleCnt="0"/>
      <dgm:spPr/>
    </dgm:pt>
    <dgm:pt modelId="{D9EA7621-04EF-475A-ABEB-8003F77FBE27}" type="pres">
      <dgm:prSet presAssocID="{7499DD23-298C-4F12-B458-F5CDF49E9AA9}" presName="tx1" presStyleLbl="revTx" presStyleIdx="3" presStyleCnt="4"/>
      <dgm:spPr/>
    </dgm:pt>
    <dgm:pt modelId="{AE1373BA-B6AB-4BD4-9FDB-216C66D4F5E5}" type="pres">
      <dgm:prSet presAssocID="{7499DD23-298C-4F12-B458-F5CDF49E9AA9}" presName="vert1" presStyleCnt="0"/>
      <dgm:spPr/>
    </dgm:pt>
  </dgm:ptLst>
  <dgm:cxnLst>
    <dgm:cxn modelId="{30C7EE2A-F2D6-4827-B3BD-C5B1FD0E50DA}" srcId="{E0164FF2-CC23-4FAF-B739-3F7660CEFE70}" destId="{7499DD23-298C-4F12-B458-F5CDF49E9AA9}" srcOrd="3" destOrd="0" parTransId="{04F1BEC2-2A37-4277-B5FC-4639B16E8A44}" sibTransId="{32565AEB-01CA-4FB5-95F5-530905C0B2F7}"/>
    <dgm:cxn modelId="{CE87673F-66C6-4F65-85C2-6A39CC0E81A5}" type="presOf" srcId="{58A84E3A-F49A-4F90-8629-40157A76A785}" destId="{97174A59-B618-42E6-BCB8-11DB6CD49FDA}" srcOrd="0" destOrd="0" presId="urn:microsoft.com/office/officeart/2008/layout/LinedList"/>
    <dgm:cxn modelId="{33B42361-6BEA-4E8A-B48F-F7BB8CDD9FAA}" type="presOf" srcId="{ACE1441F-F184-4A21-971C-F149D858E147}" destId="{21752BDA-7370-4762-A6E4-14FDCD128E23}" srcOrd="0" destOrd="0" presId="urn:microsoft.com/office/officeart/2008/layout/LinedList"/>
    <dgm:cxn modelId="{08B5E56F-F542-43CF-9A58-D6854C67F09A}" type="presOf" srcId="{7499DD23-298C-4F12-B458-F5CDF49E9AA9}" destId="{D9EA7621-04EF-475A-ABEB-8003F77FBE27}" srcOrd="0" destOrd="0" presId="urn:microsoft.com/office/officeart/2008/layout/LinedList"/>
    <dgm:cxn modelId="{EC673CAE-F09F-4079-9C05-91B649C1A8A5}" type="presOf" srcId="{E0164FF2-CC23-4FAF-B739-3F7660CEFE70}" destId="{CDB34EB4-1572-4987-BF5E-5348800B7C6E}" srcOrd="0" destOrd="0" presId="urn:microsoft.com/office/officeart/2008/layout/LinedList"/>
    <dgm:cxn modelId="{3B62C7BB-7989-4EA1-A258-2B5D00631046}" srcId="{E0164FF2-CC23-4FAF-B739-3F7660CEFE70}" destId="{ACE1441F-F184-4A21-971C-F149D858E147}" srcOrd="0" destOrd="0" parTransId="{527EAAC6-5031-41C9-92ED-9D3FE595E8BB}" sibTransId="{C9AA90C1-B0A0-4ABB-818F-59FCAC8BFA53}"/>
    <dgm:cxn modelId="{11E0F0C3-A7A7-4ED0-9000-BAAD95B318E3}" srcId="{E0164FF2-CC23-4FAF-B739-3F7660CEFE70}" destId="{E4E63636-9DBB-4FBB-8CBF-90EE9FCD5AF8}" srcOrd="2" destOrd="0" parTransId="{272C0549-B9A2-4EFB-A042-0C932087ABCB}" sibTransId="{F0567AD7-9F33-480E-A23A-B392AA1D636C}"/>
    <dgm:cxn modelId="{A1A2F7D9-AE11-4C5C-9E4B-7880B3F89247}" type="presOf" srcId="{E4E63636-9DBB-4FBB-8CBF-90EE9FCD5AF8}" destId="{CD2B9F06-4C9B-4156-98D5-879E87379F14}" srcOrd="0" destOrd="0" presId="urn:microsoft.com/office/officeart/2008/layout/LinedList"/>
    <dgm:cxn modelId="{1CC48DF1-2A8D-4798-A75A-32139BEAB173}" srcId="{E0164FF2-CC23-4FAF-B739-3F7660CEFE70}" destId="{58A84E3A-F49A-4F90-8629-40157A76A785}" srcOrd="1" destOrd="0" parTransId="{C8FFAA46-6812-4C7B-BBE2-00604798979C}" sibTransId="{8906A46A-6DCB-40E6-BE60-51A18821E3EC}"/>
    <dgm:cxn modelId="{11A8402F-9109-4127-93CE-C044E829378F}" type="presParOf" srcId="{CDB34EB4-1572-4987-BF5E-5348800B7C6E}" destId="{FCB9E156-4B9C-4257-860E-F46B6239CD21}" srcOrd="0" destOrd="0" presId="urn:microsoft.com/office/officeart/2008/layout/LinedList"/>
    <dgm:cxn modelId="{57A05D0A-B1F6-47B1-8CB4-645756F7A175}" type="presParOf" srcId="{CDB34EB4-1572-4987-BF5E-5348800B7C6E}" destId="{56BDCEB4-6721-40E0-AC6E-B458D161E073}" srcOrd="1" destOrd="0" presId="urn:microsoft.com/office/officeart/2008/layout/LinedList"/>
    <dgm:cxn modelId="{FB32DE3C-A9DD-4B9F-926C-DC45BA05AD29}" type="presParOf" srcId="{56BDCEB4-6721-40E0-AC6E-B458D161E073}" destId="{21752BDA-7370-4762-A6E4-14FDCD128E23}" srcOrd="0" destOrd="0" presId="urn:microsoft.com/office/officeart/2008/layout/LinedList"/>
    <dgm:cxn modelId="{BDED60C5-1E63-4AA0-A14E-1AD3679E805A}" type="presParOf" srcId="{56BDCEB4-6721-40E0-AC6E-B458D161E073}" destId="{F4C82741-F3EB-4EAF-A8E4-8B71978043F8}" srcOrd="1" destOrd="0" presId="urn:microsoft.com/office/officeart/2008/layout/LinedList"/>
    <dgm:cxn modelId="{7CD3D9E7-34BA-406A-84D2-BF0E1EAB03CB}" type="presParOf" srcId="{CDB34EB4-1572-4987-BF5E-5348800B7C6E}" destId="{7EE5AAE5-5D1A-4229-99C7-15D53FEDBA02}" srcOrd="2" destOrd="0" presId="urn:microsoft.com/office/officeart/2008/layout/LinedList"/>
    <dgm:cxn modelId="{42E26A29-BCC0-44CA-81B6-8C371024B608}" type="presParOf" srcId="{CDB34EB4-1572-4987-BF5E-5348800B7C6E}" destId="{0AB345F3-CD35-4A92-B4B7-7A06B39F0286}" srcOrd="3" destOrd="0" presId="urn:microsoft.com/office/officeart/2008/layout/LinedList"/>
    <dgm:cxn modelId="{388A162E-BB6D-47AA-810F-98C5487EAE8C}" type="presParOf" srcId="{0AB345F3-CD35-4A92-B4B7-7A06B39F0286}" destId="{97174A59-B618-42E6-BCB8-11DB6CD49FDA}" srcOrd="0" destOrd="0" presId="urn:microsoft.com/office/officeart/2008/layout/LinedList"/>
    <dgm:cxn modelId="{6A6C8E99-DF53-49DB-9F48-B6D97C26E073}" type="presParOf" srcId="{0AB345F3-CD35-4A92-B4B7-7A06B39F0286}" destId="{5D69E4A4-8664-44DD-BD82-B0A6B6863F31}" srcOrd="1" destOrd="0" presId="urn:microsoft.com/office/officeart/2008/layout/LinedList"/>
    <dgm:cxn modelId="{C1ACA02C-EEA1-4E98-9E0C-F117E8DA016F}" type="presParOf" srcId="{CDB34EB4-1572-4987-BF5E-5348800B7C6E}" destId="{347125A9-56E4-4311-BF79-4D4D8D7A1345}" srcOrd="4" destOrd="0" presId="urn:microsoft.com/office/officeart/2008/layout/LinedList"/>
    <dgm:cxn modelId="{8337E2C9-A551-4F69-9745-CDA5A12D7727}" type="presParOf" srcId="{CDB34EB4-1572-4987-BF5E-5348800B7C6E}" destId="{70F2FC23-91EA-42E8-9C35-5C4E95550BAB}" srcOrd="5" destOrd="0" presId="urn:microsoft.com/office/officeart/2008/layout/LinedList"/>
    <dgm:cxn modelId="{9D7993D3-B540-4A59-96BF-BF9355B35502}" type="presParOf" srcId="{70F2FC23-91EA-42E8-9C35-5C4E95550BAB}" destId="{CD2B9F06-4C9B-4156-98D5-879E87379F14}" srcOrd="0" destOrd="0" presId="urn:microsoft.com/office/officeart/2008/layout/LinedList"/>
    <dgm:cxn modelId="{1CD22B27-0A1B-49D7-917B-787DCCA4CE98}" type="presParOf" srcId="{70F2FC23-91EA-42E8-9C35-5C4E95550BAB}" destId="{F8BF2011-80E8-4097-B494-82B302B2124D}" srcOrd="1" destOrd="0" presId="urn:microsoft.com/office/officeart/2008/layout/LinedList"/>
    <dgm:cxn modelId="{475A974F-02AA-4916-B985-69FB4B840E80}" type="presParOf" srcId="{CDB34EB4-1572-4987-BF5E-5348800B7C6E}" destId="{D6D4F0F5-A6D4-4172-9BA6-F58568703F8A}" srcOrd="6" destOrd="0" presId="urn:microsoft.com/office/officeart/2008/layout/LinedList"/>
    <dgm:cxn modelId="{F816085B-52DA-48E4-8DC4-A4EC219C416B}" type="presParOf" srcId="{CDB34EB4-1572-4987-BF5E-5348800B7C6E}" destId="{2757ECDF-7FCC-456E-AFFF-275EA892F985}" srcOrd="7" destOrd="0" presId="urn:microsoft.com/office/officeart/2008/layout/LinedList"/>
    <dgm:cxn modelId="{3968638C-B60D-4EC9-9137-09C22DA16B52}" type="presParOf" srcId="{2757ECDF-7FCC-456E-AFFF-275EA892F985}" destId="{D9EA7621-04EF-475A-ABEB-8003F77FBE27}" srcOrd="0" destOrd="0" presId="urn:microsoft.com/office/officeart/2008/layout/LinedList"/>
    <dgm:cxn modelId="{07A68B49-4EED-4E9A-B118-FD296017F775}" type="presParOf" srcId="{2757ECDF-7FCC-456E-AFFF-275EA892F985}" destId="{AE1373BA-B6AB-4BD4-9FDB-216C66D4F5E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9E156-4B9C-4257-860E-F46B6239CD21}">
      <dsp:nvSpPr>
        <dsp:cNvPr id="0" name=""/>
        <dsp:cNvSpPr/>
      </dsp:nvSpPr>
      <dsp:spPr>
        <a:xfrm>
          <a:off x="0" y="0"/>
          <a:ext cx="4591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52BDA-7370-4762-A6E4-14FDCD128E23}">
      <dsp:nvSpPr>
        <dsp:cNvPr id="0" name=""/>
        <dsp:cNvSpPr/>
      </dsp:nvSpPr>
      <dsp:spPr>
        <a:xfrm>
          <a:off x="0" y="0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Aliases are used to give a table, or a column in a table, a temporary name.</a:t>
          </a:r>
          <a:endParaRPr lang="en-US" sz="2600" kern="1200"/>
        </a:p>
      </dsp:txBody>
      <dsp:txXfrm>
        <a:off x="0" y="0"/>
        <a:ext cx="4591050" cy="1296141"/>
      </dsp:txXfrm>
    </dsp:sp>
    <dsp:sp modelId="{7EE5AAE5-5D1A-4229-99C7-15D53FEDBA02}">
      <dsp:nvSpPr>
        <dsp:cNvPr id="0" name=""/>
        <dsp:cNvSpPr/>
      </dsp:nvSpPr>
      <dsp:spPr>
        <a:xfrm>
          <a:off x="0" y="1296141"/>
          <a:ext cx="4591050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74A59-B618-42E6-BCB8-11DB6CD49FDA}">
      <dsp:nvSpPr>
        <dsp:cNvPr id="0" name=""/>
        <dsp:cNvSpPr/>
      </dsp:nvSpPr>
      <dsp:spPr>
        <a:xfrm>
          <a:off x="0" y="1296141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Aliases are often used to make column names more readable.</a:t>
          </a:r>
          <a:endParaRPr lang="en-US" sz="2600" kern="1200"/>
        </a:p>
      </dsp:txBody>
      <dsp:txXfrm>
        <a:off x="0" y="1296141"/>
        <a:ext cx="4591050" cy="1296141"/>
      </dsp:txXfrm>
    </dsp:sp>
    <dsp:sp modelId="{347125A9-56E4-4311-BF79-4D4D8D7A1345}">
      <dsp:nvSpPr>
        <dsp:cNvPr id="0" name=""/>
        <dsp:cNvSpPr/>
      </dsp:nvSpPr>
      <dsp:spPr>
        <a:xfrm>
          <a:off x="0" y="2592282"/>
          <a:ext cx="4591050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B9F06-4C9B-4156-98D5-879E87379F14}">
      <dsp:nvSpPr>
        <dsp:cNvPr id="0" name=""/>
        <dsp:cNvSpPr/>
      </dsp:nvSpPr>
      <dsp:spPr>
        <a:xfrm>
          <a:off x="0" y="2592282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An alias only exists for the duration of that query.</a:t>
          </a:r>
          <a:endParaRPr lang="en-US" sz="2600" kern="1200"/>
        </a:p>
      </dsp:txBody>
      <dsp:txXfrm>
        <a:off x="0" y="2592282"/>
        <a:ext cx="4591050" cy="1296141"/>
      </dsp:txXfrm>
    </dsp:sp>
    <dsp:sp modelId="{D6D4F0F5-A6D4-4172-9BA6-F58568703F8A}">
      <dsp:nvSpPr>
        <dsp:cNvPr id="0" name=""/>
        <dsp:cNvSpPr/>
      </dsp:nvSpPr>
      <dsp:spPr>
        <a:xfrm>
          <a:off x="0" y="3888423"/>
          <a:ext cx="459105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A7621-04EF-475A-ABEB-8003F77FBE27}">
      <dsp:nvSpPr>
        <dsp:cNvPr id="0" name=""/>
        <dsp:cNvSpPr/>
      </dsp:nvSpPr>
      <dsp:spPr>
        <a:xfrm>
          <a:off x="0" y="3888423"/>
          <a:ext cx="4591050" cy="129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An alias is created with the AS keyword.</a:t>
          </a:r>
          <a:endParaRPr lang="en-US" sz="2600" kern="1200"/>
        </a:p>
      </dsp:txBody>
      <dsp:txXfrm>
        <a:off x="0" y="3888423"/>
        <a:ext cx="4591050" cy="1296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22/11/2024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1, Day 5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MySQL—A RDBMS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9080C-E487-09C7-B925-E7803579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RECAP</a:t>
            </a:r>
            <a:endParaRPr lang="en-PK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C71C5-A101-D27E-BE05-22CAB4A4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Order by</a:t>
            </a:r>
          </a:p>
          <a:p>
            <a:r>
              <a:rPr lang="en-US" sz="2000" dirty="0"/>
              <a:t>Insert into</a:t>
            </a:r>
          </a:p>
          <a:p>
            <a:r>
              <a:rPr lang="en-US" sz="2000" dirty="0"/>
              <a:t>Update …set</a:t>
            </a:r>
          </a:p>
          <a:p>
            <a:r>
              <a:rPr lang="en-US" sz="2000" dirty="0"/>
              <a:t>Delete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4FC8-8FAD-422C-5CC2-BF8B86A5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51" y="6356350"/>
            <a:ext cx="21146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11/22/2024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Blue push pin surrounded by circle of red push pins">
            <a:extLst>
              <a:ext uri="{FF2B5EF4-FFF2-40B4-BE49-F238E27FC236}">
                <a16:creationId xmlns:a16="http://schemas.microsoft.com/office/drawing/2014/main" id="{C5D235F2-4B8F-ABCE-14EF-0FF50B20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6" r="27763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8ED24-8B7D-EDF2-25B9-242C4222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8554" y="6356350"/>
            <a:ext cx="247757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A6DE6-5289-5190-0FDF-362DFE43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1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5AD4-A6F5-25D0-65D5-94F61395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LIKE Operator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764A-0A72-5D94-4068-87088438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LIKE</a:t>
            </a:r>
            <a:r>
              <a:rPr lang="en-GB" dirty="0"/>
              <a:t> operator is used in a WHERE clause to search for a specified pattern in a column.</a:t>
            </a:r>
          </a:p>
          <a:p>
            <a:r>
              <a:rPr lang="en-GB" dirty="0"/>
              <a:t>The percent sign (%) represents zero, one, or multiple characters</a:t>
            </a:r>
          </a:p>
          <a:p>
            <a:r>
              <a:rPr lang="en-GB" dirty="0"/>
              <a:t>The underscore sign (_) represents one, single character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A1CC-6C8A-320B-8994-1D13A72F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AF48-6BE8-57F6-66F2-F9A97FD7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5A8C2-8936-0191-EAA4-77E0CEF6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63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9494-3E1B-3B60-01F6-14B4435A7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operator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9BDC-DE8D-214A-560B-5CC9E129E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117F-B8F9-D291-8991-443A8566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869FA-13CD-8CCA-484F-1559460A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8D15F-3E75-EDD0-43EB-20DB7781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C781E7-2940-F1E2-0AA9-527F4F518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517"/>
            <a:ext cx="9144000" cy="32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80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76CAB2-16C4-BE97-475F-9CC9CE1B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Like operator 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26056B-B67B-B3F8-DB24-4AA4AEA80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315" y="824088"/>
            <a:ext cx="8209369" cy="37352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2900-65CC-9FA4-BD61-32B25DFE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11/22/2024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73D7-311B-BB0F-C5F3-9C9221C6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4284-157E-0DC6-EB9C-59B0E9D22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041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CA1B-AA93-B547-88E7-4CCAB8B0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IN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Operator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3585D-9CB2-70D2-9B42-FBAE4B63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IN</a:t>
            </a:r>
            <a:r>
              <a:rPr lang="en-GB" dirty="0"/>
              <a:t> operator allows you to specify multiple values in a </a:t>
            </a:r>
            <a:r>
              <a:rPr lang="en-GB" dirty="0">
                <a:solidFill>
                  <a:srgbClr val="FF0000"/>
                </a:solidFill>
              </a:rPr>
              <a:t>WHERE</a:t>
            </a:r>
            <a:r>
              <a:rPr lang="en-GB" dirty="0"/>
              <a:t> clause.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IN</a:t>
            </a:r>
            <a:r>
              <a:rPr lang="en-GB" dirty="0"/>
              <a:t> operator is a shorthand for multiple </a:t>
            </a:r>
            <a:r>
              <a:rPr lang="en-GB" dirty="0">
                <a:solidFill>
                  <a:srgbClr val="FF0000"/>
                </a:solidFill>
              </a:rPr>
              <a:t>OR</a:t>
            </a:r>
            <a:r>
              <a:rPr lang="en-GB" dirty="0"/>
              <a:t> conditions.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BBC56-EA87-01B0-AEAA-ED06F88B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A69D-DB00-DF45-3312-0A1166B7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74534-1AD1-49F0-4929-A4FDA145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61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CB6EB-2EB4-659B-2A05-3EA82535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 Operator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9AC490-63A2-433A-B96E-BFBB5A5D2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315" y="608592"/>
            <a:ext cx="8209369" cy="41662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42AF9-299A-5CF9-4513-B20919FD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11/22/2024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C14CA-5287-6B27-E591-6CAF4564E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8B9F8-5C62-1CA4-91E1-ED16D37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438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2E6AA4D-EC17-45B5-B621-DF0FD91FD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5D264A-145C-6DAB-14CD-69F54CB9A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0" y="1641752"/>
            <a:ext cx="1991915" cy="4384188"/>
          </a:xfrm>
        </p:spPr>
        <p:txBody>
          <a:bodyPr anchor="t">
            <a:normAutofit/>
          </a:bodyPr>
          <a:lstStyle/>
          <a:p>
            <a:r>
              <a:rPr lang="it-IT" sz="35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Aliases</a:t>
            </a:r>
            <a:endParaRPr lang="en-PK" sz="35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ACE26-93B4-CF90-A594-47F7628B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2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>
                <a:solidFill>
                  <a:schemeClr val="bg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11/22/2024</a:t>
            </a:fld>
            <a:endParaRPr lang="en-US" sz="9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63CF-9148-F91D-1837-1F75F230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66933"/>
            <a:ext cx="1976437" cy="7078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FF6DA9-008F-8B48-92A6-B652298478BF}" type="slidenum">
              <a:rPr lang="en-US" sz="4200">
                <a:solidFill>
                  <a:schemeClr val="tx1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420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D6609-14A0-C2F9-B793-26032723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94784" y="6025942"/>
            <a:ext cx="262294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60000"/>
                  </a:schemeClr>
                </a:solidFill>
              </a:rPr>
              <a:t>Atta Muhamamd Panhyar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83E4430-DDA6-7785-FF88-02C1955EA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709265"/>
              </p:ext>
            </p:extLst>
          </p:nvPr>
        </p:nvGraphicFramePr>
        <p:xfrm>
          <a:off x="3924300" y="841375"/>
          <a:ext cx="4591050" cy="518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7985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EB833-3E55-0644-67B4-E440FE75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Example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D8E2C5-AA86-510C-FF86-3ABFFE37A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257014"/>
            <a:ext cx="8178799" cy="32306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F493C-F01A-AC23-F2C7-E77B3AB9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98CA6-C313-835E-7BDD-B1E8D8D6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65C58-3FA5-7B59-CBB5-826ABFF3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38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7D32-1AA5-0DD5-728D-9B154B9E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3181FFF-DB43-53FC-2BB8-4BF97B97E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600" y="2424706"/>
            <a:ext cx="7344800" cy="287695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F92C0-DD14-436C-F455-EA0C7D14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35194-8627-6D67-4F2F-50E21218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8267-874B-7CD7-6BF8-A4876716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6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C545-7AC9-8ED5-AC16-3A68C357A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7EF645D-9E69-E74A-FBBA-82DE54798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66889"/>
            <a:ext cx="8229600" cy="219258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6BCF-E343-C8AA-78D9-00134AD5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7CE8-E292-6A6E-3823-A1B81C2B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FBFCD-A249-1623-F2C6-CE687E44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2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50BA45B-1BB9-9D7F-C05E-5724DDCF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4A1B4-3489-C933-3AB6-1A539EBE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11/22/2024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C20FE-4201-BF6F-8357-5623A7BE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9BD77-3BAD-06C2-8834-987E7B07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008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D9509-A682-99B1-F9A0-1EF37BF2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it-IT" sz="35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INNER JOIN</a:t>
            </a:r>
            <a:endParaRPr lang="en-PK" sz="35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7079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diagram of a table&#10;&#10;Description automatically generated">
            <a:extLst>
              <a:ext uri="{FF2B5EF4-FFF2-40B4-BE49-F238E27FC236}">
                <a16:creationId xmlns:a16="http://schemas.microsoft.com/office/drawing/2014/main" id="{EB504CEE-C2AF-8033-7930-4C8E6B662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4" r="13375" b="-2"/>
          <a:stretch/>
        </p:blipFill>
        <p:spPr>
          <a:xfrm>
            <a:off x="681228" y="2478024"/>
            <a:ext cx="4507391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53F6-5701-7C5A-95C7-2C481B8DB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589" y="2478024"/>
            <a:ext cx="2904183" cy="3694176"/>
          </a:xfrm>
        </p:spPr>
        <p:txBody>
          <a:bodyPr anchor="ctr">
            <a:normAutofit/>
          </a:bodyPr>
          <a:lstStyle/>
          <a:p>
            <a:r>
              <a:rPr lang="en-GB" sz="1600" dirty="0"/>
              <a:t>The </a:t>
            </a:r>
            <a:r>
              <a:rPr lang="en-GB" sz="1600" b="1" dirty="0">
                <a:solidFill>
                  <a:srgbClr val="FF0000"/>
                </a:solidFill>
              </a:rPr>
              <a:t>INNER JOIN </a:t>
            </a:r>
            <a:r>
              <a:rPr lang="en-GB" sz="1600" dirty="0"/>
              <a:t>keyword selects records that have matching values in both tables.</a:t>
            </a:r>
            <a:endParaRPr lang="en-PK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481C-5B62-2777-AFD6-B34A1442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11/22/2024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F586D-8075-D31E-D14F-161195BA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71F7D-6814-9C3E-55DB-02842E6F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65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CA7EB-AC2D-95A6-5EAF-D5EFE0E5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rgbClr val="FF0000"/>
                </a:solidFill>
              </a:rPr>
              <a:t>INNER JOIN </a:t>
            </a:r>
            <a:r>
              <a:rPr lang="en-US" sz="3900" dirty="0"/>
              <a:t>–Example</a:t>
            </a:r>
            <a:endParaRPr lang="en-PK" sz="39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Hands forming circle">
            <a:extLst>
              <a:ext uri="{FF2B5EF4-FFF2-40B4-BE49-F238E27FC236}">
                <a16:creationId xmlns:a16="http://schemas.microsoft.com/office/drawing/2014/main" id="{4F5C2AAE-E56A-7DA4-917E-DB8E21FB7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521" y="503238"/>
            <a:ext cx="4559557" cy="146208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13C596-DB0B-EB4D-E3F2-DB17C0D4A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" y="2970695"/>
            <a:ext cx="8188452" cy="259983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CFCB-ED76-F298-6FE3-DC34F9C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1393-342C-AEFE-767A-38FC0A1A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6BB1-7C5B-34DE-3F4D-7926E36E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73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8D89-2DFE-106B-B470-F06149E0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5B508F-12CC-2FEC-CC56-32A20F0A9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442" y="2110337"/>
            <a:ext cx="7097115" cy="350568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C455-5F89-1E7E-0368-AD40FB9B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A889-B1F5-BEC0-C409-5A3CD03D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9E1AE-E5CD-5707-A9BF-8C7C8F83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71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6CC4F-87D7-04FA-6425-00DBDF06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it-IT" sz="47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LEFT JOIN</a:t>
            </a:r>
            <a:endParaRPr lang="en-PK" sz="4700" dirty="0">
              <a:solidFill>
                <a:srgbClr val="FF0000"/>
              </a:solidFill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onnsiteX0" fmla="*/ 0 w 13716"/>
              <a:gd name="connsiteY0" fmla="*/ 0 h 5590381"/>
              <a:gd name="connsiteX1" fmla="*/ 13716 w 13716"/>
              <a:gd name="connsiteY1" fmla="*/ 0 h 5590381"/>
              <a:gd name="connsiteX2" fmla="*/ 13716 w 13716"/>
              <a:gd name="connsiteY2" fmla="*/ 754701 h 5590381"/>
              <a:gd name="connsiteX3" fmla="*/ 13716 w 13716"/>
              <a:gd name="connsiteY3" fmla="*/ 1565307 h 5590381"/>
              <a:gd name="connsiteX4" fmla="*/ 13716 w 13716"/>
              <a:gd name="connsiteY4" fmla="*/ 2152297 h 5590381"/>
              <a:gd name="connsiteX5" fmla="*/ 13716 w 13716"/>
              <a:gd name="connsiteY5" fmla="*/ 2906998 h 5590381"/>
              <a:gd name="connsiteX6" fmla="*/ 13716 w 13716"/>
              <a:gd name="connsiteY6" fmla="*/ 3549892 h 5590381"/>
              <a:gd name="connsiteX7" fmla="*/ 13716 w 13716"/>
              <a:gd name="connsiteY7" fmla="*/ 4080978 h 5590381"/>
              <a:gd name="connsiteX8" fmla="*/ 13716 w 13716"/>
              <a:gd name="connsiteY8" fmla="*/ 4835680 h 5590381"/>
              <a:gd name="connsiteX9" fmla="*/ 13716 w 13716"/>
              <a:gd name="connsiteY9" fmla="*/ 5590381 h 5590381"/>
              <a:gd name="connsiteX10" fmla="*/ 0 w 13716"/>
              <a:gd name="connsiteY10" fmla="*/ 5590381 h 5590381"/>
              <a:gd name="connsiteX11" fmla="*/ 0 w 13716"/>
              <a:gd name="connsiteY11" fmla="*/ 4835680 h 5590381"/>
              <a:gd name="connsiteX12" fmla="*/ 0 w 13716"/>
              <a:gd name="connsiteY12" fmla="*/ 4304593 h 5590381"/>
              <a:gd name="connsiteX13" fmla="*/ 0 w 13716"/>
              <a:gd name="connsiteY13" fmla="*/ 3773507 h 5590381"/>
              <a:gd name="connsiteX14" fmla="*/ 0 w 13716"/>
              <a:gd name="connsiteY14" fmla="*/ 3186517 h 5590381"/>
              <a:gd name="connsiteX15" fmla="*/ 0 w 13716"/>
              <a:gd name="connsiteY15" fmla="*/ 2487720 h 5590381"/>
              <a:gd name="connsiteX16" fmla="*/ 0 w 13716"/>
              <a:gd name="connsiteY16" fmla="*/ 1956633 h 5590381"/>
              <a:gd name="connsiteX17" fmla="*/ 0 w 13716"/>
              <a:gd name="connsiteY17" fmla="*/ 1425547 h 5590381"/>
              <a:gd name="connsiteX18" fmla="*/ 0 w 13716"/>
              <a:gd name="connsiteY18" fmla="*/ 614942 h 5590381"/>
              <a:gd name="connsiteX19" fmla="*/ 0 w 13716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een and white circles with black text&#10;&#10;Description automatically generated">
            <a:extLst>
              <a:ext uri="{FF2B5EF4-FFF2-40B4-BE49-F238E27FC236}">
                <a16:creationId xmlns:a16="http://schemas.microsoft.com/office/drawing/2014/main" id="{44A54D40-4863-16E7-93A8-4B501AF9B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777926"/>
            <a:ext cx="5170932" cy="36196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99F36-CE97-220F-2634-163B2680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2" y="4798577"/>
            <a:ext cx="5170932" cy="1428487"/>
          </a:xfrm>
        </p:spPr>
        <p:txBody>
          <a:bodyPr anchor="t">
            <a:normAutofit/>
          </a:bodyPr>
          <a:lstStyle/>
          <a:p>
            <a:r>
              <a:rPr lang="en-GB" sz="1900" dirty="0"/>
              <a:t>The </a:t>
            </a:r>
            <a:r>
              <a:rPr lang="en-GB" sz="1900" dirty="0">
                <a:solidFill>
                  <a:srgbClr val="FF0000"/>
                </a:solidFill>
              </a:rPr>
              <a:t>LEFT JOIN </a:t>
            </a:r>
            <a:r>
              <a:rPr lang="en-GB" sz="1900" dirty="0"/>
              <a:t>keyword returns all records from the left table (table1), and the matching records (if any) from the right table (table2)</a:t>
            </a:r>
            <a:endParaRPr lang="en-PK" sz="1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9E30-5587-2034-DCFB-788041DF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/>
              <a:pPr>
                <a:spcAft>
                  <a:spcPts val="600"/>
                </a:spcAft>
              </a:pPr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02DE-3A17-AF2F-3D28-1251F66D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12EB-CB00-9B72-117B-13C6B6AD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5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A516-6A40-8B91-3018-8F9D295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LEFT JOIN </a:t>
            </a:r>
            <a:r>
              <a:rPr lang="en-US" dirty="0"/>
              <a:t>–Example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8AB123-07CF-6EAB-10C0-6D63D45CB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942" y="2581890"/>
            <a:ext cx="7640116" cy="256258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AA6C7-DF15-8CFE-7314-C27CE919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EA903-EFDD-EE9C-605F-F14ED938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CAC1-F104-91F7-52BD-6EC83FE1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1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B343-3AE2-3178-8B01-3B72BBD8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RIGHT JOIN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DFC2-AEF9-BEF4-0B49-E1B4B70A6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RIGHT JOIN </a:t>
            </a:r>
            <a:r>
              <a:rPr lang="en-GB" dirty="0"/>
              <a:t>keyword returns all records from the right table (table2), and the matching records (if any) from the left table (table1).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30921-4C2B-7F1F-C581-F822864E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5CE51-DA2C-71A7-69AB-DAFD67DE4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F42ED-DD24-EBC8-25F5-D7F28F55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105573-3C84-B6FC-10F9-2B2D45D9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43" y="3632711"/>
            <a:ext cx="273405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36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82C6-8E0C-872E-0113-16F0410D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RIGHT JOIN </a:t>
            </a:r>
            <a:r>
              <a:rPr lang="en-US" dirty="0"/>
              <a:t>–Example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2A6B85-BB08-1E3B-1A80-2CE63A5F1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52" y="2577127"/>
            <a:ext cx="8211696" cy="257210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EAE07-2BD5-3B17-D7FC-74047FBA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A4A6-F263-FEEE-6C67-794D5617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41002-A24B-0326-B356-4CBEA6C7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25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30CD5-F782-87FC-2E0B-12EDF524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b="0" i="0" kern="1200" dirty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CROSS JOIN</a:t>
            </a:r>
            <a:endParaRPr lang="en-US" sz="57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E1A1-1215-669D-3856-F0F765E5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1" y="4631161"/>
            <a:ext cx="2678858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0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CROSS JOIN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keyword returns all records from both tables (table1 and table2).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een circles with black text&#10;&#10;Description automatically generated">
            <a:extLst>
              <a:ext uri="{FF2B5EF4-FFF2-40B4-BE49-F238E27FC236}">
                <a16:creationId xmlns:a16="http://schemas.microsoft.com/office/drawing/2014/main" id="{E641DAD3-8C21-3C71-5F6E-6A1B0666F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451305"/>
            <a:ext cx="5410962" cy="39279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7C09C-0EC7-9D5F-4681-241DD78D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B1BA5-11F8-80A2-ED6C-8D445EB4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33EC7-7D74-16B0-F1E1-7AE69568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4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FCA5-5749-BA60-4B03-F756475D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CROSS JOIN </a:t>
            </a:r>
            <a:r>
              <a:rPr lang="en-US" dirty="0"/>
              <a:t>–Example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02E09-1914-9787-FB0A-2B3BDB0F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E0818-D020-9C73-280A-7F5B0E0E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0A02-BF47-4211-71E4-26CFB4C6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BCAF8-460D-B6A2-ABED-24238686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01821B-8B80-62F3-1DC1-FBB088DE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70" y="2085532"/>
            <a:ext cx="594443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1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EB29-485A-FBA1-2379-1E995B2A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UNION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3DDF-5691-B584-95DA-530C2B7DB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UNION</a:t>
            </a:r>
            <a:r>
              <a:rPr lang="en-GB" dirty="0"/>
              <a:t> operator is used to combine the result-set of two or more </a:t>
            </a:r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statements.</a:t>
            </a:r>
          </a:p>
          <a:p>
            <a:pPr lvl="1"/>
            <a:r>
              <a:rPr lang="en-GB" dirty="0"/>
              <a:t>Every </a:t>
            </a:r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statement within </a:t>
            </a:r>
            <a:r>
              <a:rPr lang="en-GB" dirty="0">
                <a:solidFill>
                  <a:srgbClr val="FF0000"/>
                </a:solidFill>
              </a:rPr>
              <a:t>UNION</a:t>
            </a:r>
            <a:r>
              <a:rPr lang="en-GB" dirty="0"/>
              <a:t> must have the same number of columns</a:t>
            </a:r>
          </a:p>
          <a:p>
            <a:pPr lvl="1"/>
            <a:r>
              <a:rPr lang="en-GB" dirty="0"/>
              <a:t>The columns must also have similar data types</a:t>
            </a:r>
          </a:p>
          <a:p>
            <a:pPr lvl="1"/>
            <a:r>
              <a:rPr lang="en-GB" dirty="0"/>
              <a:t>The columns in every </a:t>
            </a:r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statement must also be in the same order.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287E2-4AC1-1FD6-6740-1843EDC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8E54B-FC66-ED4A-9770-239AFDC0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0E33A-4F39-F19B-3C08-2CB48533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17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DF8C4-3678-CE9F-5B84-C9C19A56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2" y="5279509"/>
            <a:ext cx="7280934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/>
              <a:t>UNION</a:t>
            </a:r>
          </a:p>
        </p:txBody>
      </p:sp>
      <p:pic>
        <p:nvPicPr>
          <p:cNvPr id="10" name="Content Placeholder 9" descr="Hands forming circle">
            <a:extLst>
              <a:ext uri="{FF2B5EF4-FFF2-40B4-BE49-F238E27FC236}">
                <a16:creationId xmlns:a16="http://schemas.microsoft.com/office/drawing/2014/main" id="{3F5F16BE-35E0-16F4-5E9D-CAD07C269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069" y="1388210"/>
            <a:ext cx="3400323" cy="249073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289CA3-BBEE-3AE9-986A-53C92C6A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88" y="1502409"/>
            <a:ext cx="3400323" cy="226233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4E92-EAB5-8DF5-6BA5-6F1B326DC6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11/22/2024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186D-097B-26E1-7731-3E5A24F4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084AD-83DF-8A1B-683B-617FD596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24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84005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FFE2-05AD-22D2-B811-C7DF0996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GROUP BY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9E101-3A0A-2126-D396-C6263A9CF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GROUP BY </a:t>
            </a:r>
            <a:r>
              <a:rPr lang="en-GB" dirty="0"/>
              <a:t>statement groups rows that have the same values into summary rows, like "find the number of customers in each country".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GROUP BY </a:t>
            </a:r>
            <a:r>
              <a:rPr lang="en-GB" dirty="0"/>
              <a:t>statement is often used with aggregate functions (</a:t>
            </a:r>
            <a:r>
              <a:rPr lang="en-GB" dirty="0">
                <a:solidFill>
                  <a:srgbClr val="FF0000"/>
                </a:solidFill>
              </a:rPr>
              <a:t>COUNT(), MAX(), MIN(), SUM(), AVG()</a:t>
            </a:r>
            <a:r>
              <a:rPr lang="en-GB" dirty="0"/>
              <a:t>) to group the result-set by one or more columns.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64428-8AC9-6467-486D-F466AE57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D9718-8911-28C3-136D-835E12B4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73FAC-0184-0959-3B12-82CCFC37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0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1329-5410-9545-D57C-2D00B339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GROUP BY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5C506B-E31C-67A0-7420-5240BA46A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1521" y="2434232"/>
            <a:ext cx="7220958" cy="28578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BD6C-B713-F8E5-8544-238E72C7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CA70-BF62-A0B6-5248-20AD1D60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0ACC0-0CF0-24EF-457D-A1CC8FF2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37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102D-FF68-1D48-39B7-FE6B89A1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COMPLEX QUERY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4B9F36-DD44-234B-3A55-F104C6F94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85657"/>
            <a:ext cx="8229600" cy="275504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B66C-4AE9-EB6A-EEE8-C4E32DA2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D3277-D176-E900-3A74-5B2C828D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B6F6-8D5C-D5C3-37F9-A3FC3228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95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6C7D-85DC-92AF-63A3-B85CEA62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HAVING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Clause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670D6-9CF8-40BC-7489-928A0A543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HAVING</a:t>
            </a:r>
            <a:r>
              <a:rPr lang="en-GB" dirty="0"/>
              <a:t> clause was added to </a:t>
            </a:r>
            <a:r>
              <a:rPr lang="en-GB" dirty="0">
                <a:solidFill>
                  <a:srgbClr val="FF0000"/>
                </a:solidFill>
              </a:rPr>
              <a:t>SQL</a:t>
            </a:r>
            <a:r>
              <a:rPr lang="en-GB" dirty="0"/>
              <a:t> because the </a:t>
            </a:r>
            <a:r>
              <a:rPr lang="en-GB" dirty="0">
                <a:solidFill>
                  <a:srgbClr val="FF0000"/>
                </a:solidFill>
              </a:rPr>
              <a:t>WHERE</a:t>
            </a:r>
            <a:r>
              <a:rPr lang="en-GB" dirty="0"/>
              <a:t> keyword cannot be used with aggregate functions.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ABD0C-DDC1-5AD7-004F-35F5CBCB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4F6D-B07D-EB1A-4A7E-09710E77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22A63-95AE-CF8D-8AC6-25554939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7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154E7-0313-9AE2-72B9-06D290418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HAVING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Clause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70F69D91-C61E-AD48-EC8D-E023174F2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434616"/>
            <a:ext cx="8058150" cy="37873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DF6D-DD93-34EF-9572-35E3A877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11/22/2024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FB13F-CDD1-EBB6-AFF0-A8C22067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EDD0E-3EB3-37C1-2375-16E585B9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29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473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52E98-5E4F-9C89-C75E-A35D014B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08DDA-B828-0457-82F7-E30D56A5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HAVING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Clause</a:t>
            </a:r>
          </a:p>
        </p:txBody>
      </p:sp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3C25568E-C73C-0FAB-D740-17FC5C633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505125"/>
            <a:ext cx="8058150" cy="36463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D04C7-7731-6F6C-D3F6-F1250D32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11/22/2024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59EB-60BA-7B63-4A52-B876CE81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90D5B-050C-3B66-0EB0-7FD0912D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30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9046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50E6A-82F4-C4F5-3909-89E7D0CF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HAVING 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CLAUSE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F32F51CB-4C47-EC2E-FDC8-7E4B64867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807306"/>
            <a:ext cx="8058150" cy="304195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9A9D4-E137-60C9-A6BC-E6EDED90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11/22/2024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90154-0EE3-A9B5-FC22-717883CA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02EF2-513A-E57B-5EC4-F8B84E47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31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21633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06581-F1AB-9913-B24C-DE136D1C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93C0F0-243F-8CBE-7831-B1025D4C7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248585-F022-72DA-08D8-696921289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03A61-5DF2-2F9F-E01D-63333DFF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HAVING </a:t>
            </a:r>
            <a:r>
              <a:rPr lang="en-US" sz="3100" dirty="0"/>
              <a:t>–One more 💎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5F90D-48DF-1622-43A3-F36B6CBD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11/22/2024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E46FB-6A5F-A2EE-7D69-06610FC0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0A5B3-28E8-B2FA-7353-B1A989BA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32</a:t>
            </a:fld>
            <a:endParaRPr lang="en-US" sz="9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4500A6-14B9-CC50-71DC-E3F837602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1F80BD-F6C3-6023-E3FC-C292167A0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4" y="1923840"/>
            <a:ext cx="8354591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02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11/22/2024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6D5-9753-F2C5-F571-AA7B12A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587</Words>
  <Application>Microsoft Office PowerPoint</Application>
  <PresentationFormat>On-screen Show (4:3)</PresentationFormat>
  <Paragraphs>157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Segoe UI</vt:lpstr>
      <vt:lpstr>Office Theme</vt:lpstr>
      <vt:lpstr>PowerPoint Presentation</vt:lpstr>
      <vt:lpstr>Database Management Systems</vt:lpstr>
      <vt:lpstr>RECAP</vt:lpstr>
      <vt:lpstr>LIKE Operator</vt:lpstr>
      <vt:lpstr>Like operator</vt:lpstr>
      <vt:lpstr>Like operator …</vt:lpstr>
      <vt:lpstr>IN Operator</vt:lpstr>
      <vt:lpstr>IN Operator </vt:lpstr>
      <vt:lpstr>Aliases</vt:lpstr>
      <vt:lpstr>Example 1</vt:lpstr>
      <vt:lpstr>Example 2</vt:lpstr>
      <vt:lpstr>Example 3</vt:lpstr>
      <vt:lpstr>JOINS</vt:lpstr>
      <vt:lpstr>INNER JOIN</vt:lpstr>
      <vt:lpstr>INNER JOIN –Example</vt:lpstr>
      <vt:lpstr>Example 2</vt:lpstr>
      <vt:lpstr>LEFT JOIN</vt:lpstr>
      <vt:lpstr>LEFT JOIN –Example</vt:lpstr>
      <vt:lpstr>RIGHT JOIN</vt:lpstr>
      <vt:lpstr>RIGHT JOIN –Example</vt:lpstr>
      <vt:lpstr>CROSS JOIN</vt:lpstr>
      <vt:lpstr>CROSS JOIN –Example</vt:lpstr>
      <vt:lpstr>UNION</vt:lpstr>
      <vt:lpstr>UNION</vt:lpstr>
      <vt:lpstr>GROUP BY</vt:lpstr>
      <vt:lpstr>GROUP BY</vt:lpstr>
      <vt:lpstr>COMPLEX QUERY</vt:lpstr>
      <vt:lpstr>HAVING Clause</vt:lpstr>
      <vt:lpstr>HAVING Clause</vt:lpstr>
      <vt:lpstr>HAVING Clause</vt:lpstr>
      <vt:lpstr>HAVING CLAUSE</vt:lpstr>
      <vt:lpstr>HAVING –One more 💎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284</cp:revision>
  <dcterms:created xsi:type="dcterms:W3CDTF">2013-01-27T09:14:16Z</dcterms:created>
  <dcterms:modified xsi:type="dcterms:W3CDTF">2024-11-22T07:25:29Z</dcterms:modified>
  <cp:category/>
</cp:coreProperties>
</file>