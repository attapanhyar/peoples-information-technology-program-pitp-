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87" r:id="rId2"/>
    <p:sldId id="256" r:id="rId3"/>
    <p:sldId id="300" r:id="rId4"/>
    <p:sldId id="304" r:id="rId5"/>
    <p:sldId id="305" r:id="rId6"/>
    <p:sldId id="306" r:id="rId7"/>
    <p:sldId id="307" r:id="rId8"/>
    <p:sldId id="302" r:id="rId9"/>
    <p:sldId id="308" r:id="rId10"/>
    <p:sldId id="309" r:id="rId11"/>
    <p:sldId id="310" r:id="rId12"/>
    <p:sldId id="311" r:id="rId13"/>
    <p:sldId id="312" r:id="rId14"/>
    <p:sldId id="301" r:id="rId15"/>
    <p:sldId id="313" r:id="rId16"/>
    <p:sldId id="29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12/12/2024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JSON stands for </a:t>
            </a:r>
            <a:r>
              <a:rPr lang="it-IT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</a:t>
            </a:r>
            <a:r>
              <a:rPr lang="it-IT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ava</a:t>
            </a:r>
            <a:r>
              <a:rPr lang="it-IT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</a:t>
            </a:r>
            <a:r>
              <a:rPr lang="it-IT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cript </a:t>
            </a:r>
            <a:r>
              <a:rPr lang="it-IT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</a:t>
            </a:r>
            <a:r>
              <a:rPr lang="it-IT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bject </a:t>
            </a:r>
            <a:r>
              <a:rPr lang="it-IT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otation</a:t>
            </a:r>
            <a:endParaRPr lang="it-IT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000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4, Day 4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 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37201-575F-E33F-5D69-60027545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it-IT" sz="3500" b="0" i="0">
                <a:effectLst/>
                <a:latin typeface="Segoe UI" panose="020B0502040204020203" pitchFamily="34" charset="0"/>
              </a:rPr>
              <a:t>MongoDB </a:t>
            </a:r>
            <a:br>
              <a:rPr lang="it-IT" sz="3500" b="0" i="0">
                <a:effectLst/>
                <a:latin typeface="Segoe UI" panose="020B0502040204020203" pitchFamily="34" charset="0"/>
              </a:rPr>
            </a:br>
            <a:endParaRPr lang="en-GB" sz="35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1E45-173B-1958-B542-6A7191FCD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GB" sz="1700"/>
              <a:t>MongoDB is a document database. </a:t>
            </a:r>
          </a:p>
          <a:p>
            <a:r>
              <a:rPr lang="en-GB" sz="1700"/>
              <a:t>It stores data in a type of JSON format called </a:t>
            </a:r>
            <a:r>
              <a:rPr lang="en-GB" sz="1700" b="1"/>
              <a:t>BSON</a:t>
            </a:r>
          </a:p>
          <a:p>
            <a:r>
              <a:rPr lang="en-GB" sz="1700"/>
              <a:t>A record in MongoDB is a document, which is a data structure composed of </a:t>
            </a:r>
            <a:r>
              <a:rPr lang="en-GB" sz="1700" b="1"/>
              <a:t>key value </a:t>
            </a:r>
            <a:r>
              <a:rPr lang="en-GB" sz="1700"/>
              <a:t>pairs like the structure of JSON objects.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194E-C3DF-9285-D8D5-A018393287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51" y="6356350"/>
            <a:ext cx="211469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12/12/2024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FD5754-6FB1-EB70-F116-734C8BAAD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86" r="4297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5CBB1-6F22-8A46-15AE-FBCD8A65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8554" y="6356350"/>
            <a:ext cx="247757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C407A-932C-FB4E-0173-CF97CDE5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84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CD1B-D148-E9E6-544F-F8AE31BE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SQL vs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Document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Databases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52EB2-8209-D7CC-91D5-298EE5B0A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SQL</a:t>
            </a:r>
          </a:p>
          <a:p>
            <a:pPr lvl="1"/>
            <a:r>
              <a:rPr lang="en-GB" dirty="0">
                <a:solidFill>
                  <a:srgbClr val="00B050"/>
                </a:solidFill>
              </a:rPr>
              <a:t>SQL</a:t>
            </a:r>
            <a:r>
              <a:rPr lang="en-GB" dirty="0"/>
              <a:t> databases are considered </a:t>
            </a:r>
            <a:r>
              <a:rPr lang="en-GB" dirty="0">
                <a:solidFill>
                  <a:srgbClr val="00B050"/>
                </a:solidFill>
              </a:rPr>
              <a:t>relational databases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They store related data in separate tables. When data is needed, it is queried from multiple tables to join the data back together.</a:t>
            </a:r>
          </a:p>
          <a:p>
            <a:r>
              <a:rPr lang="en-GB" dirty="0"/>
              <a:t>MongoDB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 is a </a:t>
            </a:r>
            <a:r>
              <a:rPr lang="en-GB" dirty="0">
                <a:solidFill>
                  <a:srgbClr val="FF0000"/>
                </a:solidFill>
              </a:rPr>
              <a:t>document database </a:t>
            </a:r>
            <a:r>
              <a:rPr lang="en-GB" dirty="0"/>
              <a:t>which is often referred to as a non-relational database. </a:t>
            </a:r>
          </a:p>
          <a:p>
            <a:pPr lvl="1"/>
            <a:r>
              <a:rPr lang="en-GB" dirty="0"/>
              <a:t>This does not mean that relational data cannot be stored in document databases. </a:t>
            </a:r>
          </a:p>
          <a:p>
            <a:pPr lvl="1"/>
            <a:r>
              <a:rPr lang="en-GB" dirty="0"/>
              <a:t>It means that relational data is stored differently. A better way to refer to it is as a non-tabular database.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48DA2-AF6F-42BE-8CEA-2A1698C1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95F53-2EE5-9F75-1084-322FA597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3A7C-213A-425A-F640-18786D08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A153-CFBB-A942-AC33-C289BB44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CB5D2-2E7C-B4C1-BD73-A37D6A184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 stores data in flexible documents.</a:t>
            </a:r>
          </a:p>
          <a:p>
            <a:pPr algn="just"/>
            <a:r>
              <a:rPr lang="en-GB" dirty="0"/>
              <a:t> Instead of having multiple tables you can simply keep all your related data together.</a:t>
            </a:r>
          </a:p>
          <a:p>
            <a:pPr algn="just"/>
            <a:r>
              <a:rPr lang="en-GB" dirty="0"/>
              <a:t> This makes reading your data very fast.</a:t>
            </a:r>
          </a:p>
          <a:p>
            <a:pPr algn="just"/>
            <a:r>
              <a:rPr lang="en-GB" dirty="0"/>
              <a:t>In </a:t>
            </a:r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, instead of tables these are called </a:t>
            </a:r>
            <a:r>
              <a:rPr lang="en-GB" dirty="0">
                <a:solidFill>
                  <a:srgbClr val="FF0000"/>
                </a:solidFill>
              </a:rPr>
              <a:t>collections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1DBF7-61AD-8F61-1EC8-8FC85694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40BA-1F74-3369-FAE6-E3E06828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77365-07E8-B009-073B-C7FF4E18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2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D8BF-E502-FF8A-1EAC-7F8D5B9A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vs Cloud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769D-08C8-C4EE-04FD-1A6CD6EFE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 can be installed locally, which will allow you to host your own </a:t>
            </a:r>
            <a:r>
              <a:rPr lang="en-GB" dirty="0">
                <a:solidFill>
                  <a:srgbClr val="FF0000"/>
                </a:solidFill>
              </a:rPr>
              <a:t>MongoDB server </a:t>
            </a:r>
            <a:r>
              <a:rPr lang="en-GB" dirty="0"/>
              <a:t>on your hardware. </a:t>
            </a:r>
          </a:p>
          <a:p>
            <a:pPr algn="just"/>
            <a:r>
              <a:rPr lang="en-GB" dirty="0"/>
              <a:t>This requires you to manage your </a:t>
            </a:r>
            <a:r>
              <a:rPr lang="en-GB" dirty="0">
                <a:solidFill>
                  <a:srgbClr val="FF0000"/>
                </a:solidFill>
              </a:rPr>
              <a:t>server</a:t>
            </a:r>
            <a:r>
              <a:rPr lang="en-GB" dirty="0"/>
              <a:t>, upgrades, and any other maintenance.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C35E4-8B8D-5EED-E1DC-A1F806C8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2455-E23B-377C-03E0-6136F930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E18DC-0189-378A-3D09-4142542F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1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0F878-93B5-DDC6-E784-307D76F5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GB" sz="4300"/>
              <a:t>Creating a Database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91E8EA3-06CF-8C7C-E469-C9BED0E7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endParaRPr lang="en-US" sz="19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AC9E5F-243E-74C6-ED80-2E249EC31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409662"/>
            <a:ext cx="5177790" cy="40386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ED67-78A0-C0C1-9F3F-C583329C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633CA-2D06-A7DE-8193-88824849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DAF0-780B-4EE6-DE48-0F977088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6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3988-97A9-F44C-3470-A4BC5A42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rPr lang="it-IT" b="0" i="0" err="1">
                <a:effectLst/>
                <a:latin typeface="Segoe UI" panose="020B0502040204020203" pitchFamily="34" charset="0"/>
              </a:rPr>
              <a:t>MongoDB</a:t>
            </a:r>
            <a:r>
              <a:rPr lang="it-IT" b="0" i="0">
                <a:effectLst/>
                <a:latin typeface="Segoe UI" panose="020B0502040204020203" pitchFamily="34" charset="0"/>
              </a:rPr>
              <a:t> </a:t>
            </a:r>
            <a:r>
              <a:rPr lang="it-IT" b="0" i="0" err="1">
                <a:effectLst/>
                <a:latin typeface="Segoe UI" panose="020B0502040204020203" pitchFamily="34" charset="0"/>
              </a:rPr>
              <a:t>Document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AACEA-FB82-35E7-2667-B70348F0A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r>
              <a:rPr lang="en-GB" sz="2000" dirty="0"/>
              <a:t>Records in a MongoDB database are called documents</a:t>
            </a:r>
          </a:p>
          <a:p>
            <a:pPr lvl="1"/>
            <a:r>
              <a:rPr lang="en-GB" sz="2000" dirty="0"/>
              <a:t>and the field values may include numbers, strings, </a:t>
            </a:r>
            <a:r>
              <a:rPr lang="en-GB" sz="2000" dirty="0" err="1"/>
              <a:t>booleans</a:t>
            </a:r>
            <a:r>
              <a:rPr lang="en-GB" sz="2000" dirty="0"/>
              <a:t>, arrays, or even nested documents.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5CA92E-4C4F-5FAE-44CF-C9F58D8E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25" y="3186624"/>
            <a:ext cx="3591379" cy="17524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8A591-CE03-0F16-7114-DE2E5FE4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900"/>
              <a:pPr>
                <a:spcAft>
                  <a:spcPts val="600"/>
                </a:spcAft>
              </a:pPr>
              <a:t>12/12/2024</a:t>
            </a:fld>
            <a:endParaRPr lang="en-US" sz="900"/>
          </a:p>
        </p:txBody>
      </p:sp>
      <p:sp>
        <p:nvSpPr>
          <p:cNvPr id="31" name="Freeform: Shape 1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C0195-A83A-DAD8-B3DC-9933909EC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C6B0A-BB90-9A74-4FB3-193E0B28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900"/>
              <a:pPr>
                <a:spcAft>
                  <a:spcPts val="600"/>
                </a:spcAft>
              </a:pPr>
              <a:t>8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9205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961BC-C86C-8952-1E90-7C219F9D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Inserting a document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9BB5-10C8-A6F3-7D65-1E394678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1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C9A01C-A885-A5E1-C72C-AFFA94BD9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058052"/>
            <a:ext cx="5419311" cy="474189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89C6-B331-85F5-96FE-4FDA54B7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698" y="6455664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12/12/2024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9DA1-AB57-1E9B-7930-CAF1D71F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515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03E29-89CC-E6C5-A173-EA1B17AE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GB" sz="4200"/>
              <a:t>Collection Status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B2F21999-3CF3-6FA8-CEFE-408A576B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16" y="2290936"/>
            <a:ext cx="7541623" cy="39593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A4D96-A54C-CBE4-08E0-83C6C42A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E74FB-99D3-CA16-45F1-4039B5D6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B95C4-FDFE-37FC-2CFB-617A390D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7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4686-2118-BF12-8981-5342C9FB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Navigating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Filtering</a:t>
            </a:r>
            <a:r>
              <a:rPr lang="en-GB" dirty="0"/>
              <a:t>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7A755-31C1-98E4-97F1-F9BB53F5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 Compass is a convenient tool for browsing through the data stored in a </a:t>
            </a:r>
            <a:r>
              <a:rPr lang="en-GB" dirty="0">
                <a:solidFill>
                  <a:srgbClr val="FF0000"/>
                </a:solidFill>
              </a:rPr>
              <a:t>MongoDB</a:t>
            </a:r>
            <a:r>
              <a:rPr lang="en-GB" dirty="0"/>
              <a:t> database through a </a:t>
            </a:r>
            <a:r>
              <a:rPr lang="en-GB" dirty="0">
                <a:solidFill>
                  <a:srgbClr val="FF0000"/>
                </a:solidFill>
              </a:rPr>
              <a:t>graphical interface</a:t>
            </a:r>
            <a:r>
              <a:rPr lang="en-GB" dirty="0"/>
              <a:t>. </a:t>
            </a:r>
          </a:p>
          <a:p>
            <a:pPr algn="just"/>
            <a:r>
              <a:rPr lang="en-GB" dirty="0"/>
              <a:t>It removes the burden of having to remember the names of obscure databases or collections, and you can navigate to any database or collection on your MongoDB server with just a few clicks.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6AB9-2F35-77DC-D9F2-888D4200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1E2DF-8DA8-4722-DAD9-BEC79444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120D-F7D5-4E37-C124-2F6E1D6C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075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CF220-FE88-E5BB-070A-3CA55AD0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View data in collection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80ACE-1BAD-7118-A37A-A95F9B5F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1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64AC89-8FCD-BB18-5506-87CEBD79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238370"/>
            <a:ext cx="8495662" cy="39080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E4E6-C1A7-EFCF-F844-5A49B3C4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698" y="6455664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12/12/2024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74FDD-D941-6402-D7AF-4D4CF2D4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39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92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1FFD0-41CA-2068-EDF6-BFD7728A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Find()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BF4E2-5DD5-F06A-2603-91BB0721B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5" y="1296127"/>
            <a:ext cx="8209369" cy="27911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F172D-7F17-7858-4F26-06053B1F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12/12/2024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8CFFB-FF8D-A71F-0BD8-449682EE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394A8-1714-0005-2B6C-355FF2CF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 sz="9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729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BC12-CCF1-90B5-566C-96E8ABA6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 Pipeline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BC6B-09A9-1B1C-049A-FC4CBBE3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Compass’s aggregation pipeline builder is a graphical tool aiding with the creation of multi-step aggregation pipelines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425A0-E1D7-E36F-CFFC-9A6E62D3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A657D-B86D-667A-1B75-A75B8EF8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70CF1-69E8-281B-08D7-D84A46A4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19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800A7B-4659-4828-8FFE-7FF60965A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320" b="1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C06D-6509-FB29-DC29-CEA07658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12/12/2024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3B3B6-F891-0958-9A5D-0F60693E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9DEF-B32A-D529-4174-B243FFB2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56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12/12/2024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439</Words>
  <Application>Microsoft Office PowerPoint</Application>
  <PresentationFormat>On-screen Show (4:3)</PresentationFormat>
  <Paragraphs>84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Segoe UI</vt:lpstr>
      <vt:lpstr>Verdana</vt:lpstr>
      <vt:lpstr>Office Theme</vt:lpstr>
      <vt:lpstr>PowerPoint Presentation</vt:lpstr>
      <vt:lpstr>Database Management Systems</vt:lpstr>
      <vt:lpstr>MongoDB  </vt:lpstr>
      <vt:lpstr>SQL vs Document Databases</vt:lpstr>
      <vt:lpstr>MongoDB</vt:lpstr>
      <vt:lpstr>Local vs Cloud Database</vt:lpstr>
      <vt:lpstr>Creating a Database</vt:lpstr>
      <vt:lpstr>MongoDB Document</vt:lpstr>
      <vt:lpstr>Inserting a document</vt:lpstr>
      <vt:lpstr>Collection Status</vt:lpstr>
      <vt:lpstr>Navigating and Filtering the Data</vt:lpstr>
      <vt:lpstr>View data in collection</vt:lpstr>
      <vt:lpstr>Find()</vt:lpstr>
      <vt:lpstr>Aggregation Pipeline Builder</vt:lpstr>
      <vt:lpstr>PowerPoint Presentation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412</cp:revision>
  <dcterms:created xsi:type="dcterms:W3CDTF">2013-01-27T09:14:16Z</dcterms:created>
  <dcterms:modified xsi:type="dcterms:W3CDTF">2024-12-12T06:53:23Z</dcterms:modified>
  <cp:category/>
</cp:coreProperties>
</file>