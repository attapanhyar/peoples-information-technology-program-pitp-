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27"/>
  </p:notesMasterIdLst>
  <p:sldIdLst>
    <p:sldId id="276" r:id="rId5"/>
    <p:sldId id="25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92" r:id="rId15"/>
    <p:sldId id="293" r:id="rId16"/>
    <p:sldId id="294" r:id="rId17"/>
    <p:sldId id="295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7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B8A-C9F4-45A9-946A-0C2A265149BA}" type="datetimeFigureOut">
              <a:rPr lang="en-PK" smtClean="0"/>
              <a:t>15/10/2024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9182C-4EB3-44EA-9D91-AE666E2C70B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7173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FFC5-F979-4BDB-AB3F-09CD0BB94893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E612-C65F-E86B-C033-C74E10C5F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EDE2-8534-48BF-9CA6-D54B64FC3663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3816A04-1E1A-A37B-B73F-D58381522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1838-1DAD-4964-A8D2-EDEBDDADA2BA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3B481-ACD9-3F79-2DD1-4E69317CA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5A583B43-2D19-41E3-ADB6-6E49D8A9C652}" type="datetime1">
              <a:rPr lang="en-US" smtClean="0"/>
              <a:t>10/15/2024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62F6-9A6B-F123-7BA4-D26132F13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769D5-36F8-AEAA-973C-3B0AA9495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10/15/2024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303414-A318-B16A-813B-5FE0C2A9B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9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5DEB-5D91-49B1-B35D-D9EF8CFD3798}" type="datetime1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57B711-A0E5-3E59-6F6F-EC8B7DFCA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3221-1A1D-4D6B-BF82-669EAF0E1547}" type="datetime1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6E5774-C41A-3566-565A-6CC03B744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9002-3737-4861-8D92-764E24EAAD04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E428-415A-1F91-83CF-9AB56205C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16911-A92B-4B7F-93FD-47BD9A1E4D48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53FAEC-333B-D11A-6998-5FB685BFB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1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34E7-6DA0-4AC7-AC94-EDF665FC0F13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attapanhyar@quest.edu.pk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C102AE-2C87-45D1-8671-2DB35F5D4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4F2B13-634E-4981-8787-53C36848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4A2770F-EC37-4C6D-AF2E-4C627D590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F23D8E-4428-4843-9AED-EB6F21188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2EF4188-48A8-4B39-ABE7-0BB04E010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0A877F-1F7D-4FF1-A9FC-E241322BD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098F9C-4191-478C-BA3F-F91330FA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1B8C79F-AE9B-4C98-80BA-22D6CB7996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BB4B37A-4DA6-4751-8A4F-BDD49DE826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BDE79CE-1525-4410-9E5E-943FFF3FB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A66FA12-7AC6-45DB-851F-C05B980B4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8F6784E-F83E-4CE8-A535-394503ABE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46C37B5-5333-46F6-A306-A5DA69EA4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ED81EBC-F02B-4676-BD19-32CE34494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12D4645-1213-45DD-9C45-EF3DB6320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BE23053-C167-49AA-8930-08DD2C0BA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2A32F82-F4F6-4868-9657-99747918F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5ED0F55-FDB0-4995-8333-D9231BDC7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1BEC92D-46AB-4AA4-A94B-88496BE48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32E4197-8221-4F7C-92CE-CD83D0A9D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BDB4C14-DE46-4F94-B655-80B6ACCF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6515E4D-1037-431C-BCD9-3E724CBFF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CBF35AE-07C8-48AF-9CD0-62C0F8908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B698526-9971-4674-81FD-285F4E558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200789B-A8DE-41E5-B0F0-8FE0EE357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3EDEFF-CCCD-45BA-AC62-3D5E672037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D9B8D6D-E48B-49A5-A953-D4E530AB6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AFFBE7D-6816-492B-A638-798A78CDD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45F3BEE-01E6-4031-A09D-B2408B62B5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376FC9D-3995-440A-9BAA-4EBA06719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7593D24-05C3-486E-B1EE-7E8DE3A7E3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A541A72-3242-4354-B1FF-3FB97487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" y="1552"/>
            <a:ext cx="11973596" cy="6856448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0FB4F-D193-F2D2-C316-683F1D0B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8" y="6215870"/>
            <a:ext cx="3503528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10/15/2024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235C8-5A81-0035-FC42-AD669000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8024" y="6215870"/>
            <a:ext cx="4114800" cy="417126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GB">
                <a:solidFill>
                  <a:srgbClr val="FFFFFF"/>
                </a:solidFill>
              </a:rPr>
              <a:t>Atta Muhammad Panhyar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5A698-334B-D067-8439-BFEB7877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4891" y="737893"/>
            <a:ext cx="6118703" cy="2706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600" dirty="0"/>
              <a:t>Python Programming Bootcamp - Week 4, Day 01</a:t>
            </a:r>
            <a:endParaRPr lang="en-PK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FEA0F-305F-C5D2-1BA5-3770746BC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Mastering Object-Oriented Programming in Python</a:t>
            </a:r>
          </a:p>
          <a:p>
            <a:r>
              <a:rPr lang="en-GB" dirty="0"/>
              <a:t>Atta Muhammad</a:t>
            </a:r>
          </a:p>
          <a:p>
            <a:r>
              <a:rPr lang="en-GB" dirty="0">
                <a:hlinkClick r:id="rId2"/>
              </a:rPr>
              <a:t>attapanhyar@quest.edu.pk</a:t>
            </a:r>
            <a:endParaRPr lang="en-GB" dirty="0"/>
          </a:p>
          <a:p>
            <a:r>
              <a:rPr lang="en-US" dirty="0"/>
              <a:t>+923331971110</a:t>
            </a:r>
          </a:p>
          <a:p>
            <a:r>
              <a:rPr lang="en-US" dirty="0"/>
              <a:t>Quaid-e-</a:t>
            </a:r>
            <a:r>
              <a:rPr lang="en-US" dirty="0" err="1"/>
              <a:t>Awam</a:t>
            </a:r>
            <a:r>
              <a:rPr lang="en-US" dirty="0"/>
              <a:t> University of Engineering, Science and Technology</a:t>
            </a:r>
            <a:endParaRPr lang="en-PK" dirty="0"/>
          </a:p>
        </p:txBody>
      </p:sp>
      <p:pic>
        <p:nvPicPr>
          <p:cNvPr id="46" name="Picture 45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D466624D-CA7F-85D0-CF1C-623C442A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14" r="33800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7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2994B64-78F1-40B4-638D-13BE48E7B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653" y="725951"/>
            <a:ext cx="4927425" cy="1938525"/>
          </a:xfrm>
        </p:spPr>
        <p:txBody>
          <a:bodyPr>
            <a:normAutofit/>
          </a:bodyPr>
          <a:lstStyle/>
          <a:p>
            <a:r>
              <a:rPr lang="en-US" dirty="0"/>
              <a:t>Today's objective</a:t>
            </a:r>
            <a:endParaRPr lang="en-PK" dirty="0"/>
          </a:p>
        </p:txBody>
      </p:sp>
      <p:pic>
        <p:nvPicPr>
          <p:cNvPr id="8" name="Picture 7" descr="Wooden hand holding pencil">
            <a:extLst>
              <a:ext uri="{FF2B5EF4-FFF2-40B4-BE49-F238E27FC236}">
                <a16:creationId xmlns:a16="http://schemas.microsoft.com/office/drawing/2014/main" id="{27BB6ED1-3805-2F1D-A993-19EBB0C07D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08" r="31705" b="-1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58CBF-053F-1F40-A0CF-C5BCB982F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>
                <a:solidFill>
                  <a:srgbClr val="FFFFFF"/>
                </a:solidFill>
              </a:rPr>
              <a:t>Atta Muhammad Panhyar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47" name="Right Triangle 46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39" y="-29262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62626-CB0D-38B4-A25B-2AB418FC7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8653" y="2886116"/>
            <a:ext cx="4927425" cy="3245931"/>
          </a:xfrm>
        </p:spPr>
        <p:txBody>
          <a:bodyPr>
            <a:normAutofit/>
          </a:bodyPr>
          <a:lstStyle/>
          <a:p>
            <a:r>
              <a:rPr lang="it-IT" dirty="0"/>
              <a:t>OOP Basics</a:t>
            </a:r>
          </a:p>
          <a:p>
            <a:r>
              <a:rPr lang="it-IT" dirty="0"/>
              <a:t>Classes and Objects</a:t>
            </a:r>
          </a:p>
          <a:p>
            <a:r>
              <a:rPr lang="it-IT" dirty="0"/>
              <a:t>Inheritance</a:t>
            </a:r>
          </a:p>
          <a:p>
            <a:r>
              <a:rPr lang="it-IT" dirty="0"/>
              <a:t>Encapsulation</a:t>
            </a:r>
          </a:p>
          <a:p>
            <a:r>
              <a:rPr lang="it-IT" dirty="0"/>
              <a:t>Polymorphism</a:t>
            </a:r>
          </a:p>
          <a:p>
            <a:r>
              <a:rPr lang="it-IT" dirty="0"/>
              <a:t>Hands-on Exercises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59491-D95B-AC72-933A-ADB1BA695A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10/15/2024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EE091-6E3B-7F4E-EB43-19C457B1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83073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EC0DC-3EC7-4223-63C0-21C50B47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What is Object-Oriented Programming?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66759-6E7D-5AAB-67FE-4BF546103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Object-oriented programming (OOP) is a programming paradigm based on the concept of objects which can contain data and code</a:t>
            </a:r>
          </a:p>
          <a:p>
            <a:endParaRPr lang="en-GB" dirty="0"/>
          </a:p>
          <a:p>
            <a:r>
              <a:rPr lang="it-IT" dirty="0"/>
              <a:t>Benefits of using OOP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it-IT" dirty="0"/>
              <a:t>Key principles: </a:t>
            </a:r>
            <a:r>
              <a:rPr lang="it-IT" b="1" dirty="0"/>
              <a:t>Abstraction</a:t>
            </a:r>
            <a:r>
              <a:rPr lang="it-IT" dirty="0"/>
              <a:t>, </a:t>
            </a:r>
            <a:r>
              <a:rPr lang="it-IT" b="1" dirty="0"/>
              <a:t>Encapsulation</a:t>
            </a:r>
            <a:r>
              <a:rPr lang="it-IT" dirty="0"/>
              <a:t>, </a:t>
            </a:r>
            <a:r>
              <a:rPr lang="it-IT" b="1" dirty="0"/>
              <a:t>Inheritance</a:t>
            </a:r>
            <a:r>
              <a:rPr lang="it-IT" dirty="0"/>
              <a:t>, </a:t>
            </a:r>
            <a:r>
              <a:rPr lang="it-IT" b="1" dirty="0"/>
              <a:t>Polymorphism</a:t>
            </a:r>
            <a:r>
              <a:rPr lang="it-IT" dirty="0"/>
              <a:t>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FD2A8-1692-BAEE-E803-8D130A43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81499-CBFF-3EDB-203E-E6B41F11A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B63D5-6DA5-6779-DAB8-36043642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3027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55" name="Freeform: Shape 54">
            <a:extLst>
              <a:ext uri="{FF2B5EF4-FFF2-40B4-BE49-F238E27FC236}">
                <a16:creationId xmlns:a16="http://schemas.microsoft.com/office/drawing/2014/main" id="{1517B3A5-1BB5-4C60-B65A-E4D6CA02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79" y="2882524"/>
            <a:ext cx="12184765" cy="3975477"/>
          </a:xfrm>
          <a:custGeom>
            <a:avLst/>
            <a:gdLst>
              <a:gd name="connsiteX0" fmla="*/ 8942254 w 12188952"/>
              <a:gd name="connsiteY0" fmla="*/ 34 h 3975477"/>
              <a:gd name="connsiteX1" fmla="*/ 11642906 w 12188952"/>
              <a:gd name="connsiteY1" fmla="*/ 225257 h 3975477"/>
              <a:gd name="connsiteX2" fmla="*/ 12188952 w 12188952"/>
              <a:gd name="connsiteY2" fmla="*/ 311174 h 3975477"/>
              <a:gd name="connsiteX3" fmla="*/ 12188952 w 12188952"/>
              <a:gd name="connsiteY3" fmla="*/ 3975477 h 3975477"/>
              <a:gd name="connsiteX4" fmla="*/ 0 w 12188952"/>
              <a:gd name="connsiteY4" fmla="*/ 3975477 h 3975477"/>
              <a:gd name="connsiteX5" fmla="*/ 0 w 12188952"/>
              <a:gd name="connsiteY5" fmla="*/ 1085061 h 3975477"/>
              <a:gd name="connsiteX6" fmla="*/ 552141 w 12188952"/>
              <a:gd name="connsiteY6" fmla="*/ 1079980 h 3975477"/>
              <a:gd name="connsiteX7" fmla="*/ 8942254 w 12188952"/>
              <a:gd name="connsiteY7" fmla="*/ 34 h 3975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3975477">
                <a:moveTo>
                  <a:pt x="8942254" y="34"/>
                </a:moveTo>
                <a:cubicBezTo>
                  <a:pt x="9695041" y="1709"/>
                  <a:pt x="10568453" y="66687"/>
                  <a:pt x="11642906" y="225257"/>
                </a:cubicBezTo>
                <a:lnTo>
                  <a:pt x="12188952" y="311174"/>
                </a:lnTo>
                <a:lnTo>
                  <a:pt x="12188952" y="3975477"/>
                </a:lnTo>
                <a:lnTo>
                  <a:pt x="0" y="3975477"/>
                </a:lnTo>
                <a:lnTo>
                  <a:pt x="0" y="1085061"/>
                </a:lnTo>
                <a:lnTo>
                  <a:pt x="552141" y="1079980"/>
                </a:lnTo>
                <a:cubicBezTo>
                  <a:pt x="4849952" y="999477"/>
                  <a:pt x="5931106" y="-6667"/>
                  <a:pt x="8942254" y="34"/>
                </a:cubicBez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B74A58D-C788-4F75-B5D1-921E78FF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27BC05A-659D-4294-B1DB-0412C6A1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2A8233F-A451-46B4-BED4-27DD64582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8A4F6C4-FDB0-4115-ABAE-9A5A8CED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1C99737-F794-494E-8C0C-76B75CC9D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8F02DA6-DBA7-462E-82AD-42EEDC280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DE71D6B-949D-4D9E-9EEA-56A8D498A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4EFD95D-F204-41B7-9C56-DBF1155EC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53D25B4-D3D4-4B6C-A740-E8FD4409B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3FB8D2F-FC2D-463E-A588-218B5ED1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21BB6B9-EAEA-43A1-9449-A10294E4F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0C62509-6F9A-4A66-AE78-EF71FE7D4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F0D677E-8866-4D5C-91F9-90001EBE8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6C1C222-FB70-4063-9BF6-25E539454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48C3B78-3424-4DF2-AE25-BC08956E2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89169EC-7A8F-439B-BDD2-669CDE6D9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625A96E-5FA1-467F-8929-E9F3A4D42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4167E38-35D8-4680-8EF9-67045C8AA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B9E9F9CA-B0D2-4D5B-BA3E-D9F5817AF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1909765-556E-4AA4-8CA8-34ABA30EB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D9E7D9C-D2A0-4C04-AC8C-CC796A575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513C351-6AD8-4CC8-85E6-1382AA235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190FC97-7BCE-42C2-9768-14559A44A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32B857D-BE14-48CD-8F4D-0E882D328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F2E92CD-7175-484E-B557-CF29951C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B179EA7-0CFA-4FE9-BEF1-462C0ED39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66676B7-1322-4E27-9218-6D5E8B0EC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026F347-76EB-45F8-9B81-653E64A00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1E93AAC-F0A9-4B35-A413-A322DB9F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145F376-7C0E-4F7E-816B-48D485A8C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5F4E9A3-2521-4838-9AA2-A5D5020D4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9D0F8335-C6C7-4994-9ECB-54F0EB8C5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Right Triangle 89">
            <a:extLst>
              <a:ext uri="{FF2B5EF4-FFF2-40B4-BE49-F238E27FC236}">
                <a16:creationId xmlns:a16="http://schemas.microsoft.com/office/drawing/2014/main" id="{17D11638-D7E0-4D85-B1A6-AF57358C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89" y="15123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CA33CA-C3E0-05C8-AC77-D7C765068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3" y="968990"/>
            <a:ext cx="10611627" cy="1651379"/>
          </a:xfrm>
        </p:spPr>
        <p:txBody>
          <a:bodyPr anchor="ctr">
            <a:normAutofit/>
          </a:bodyPr>
          <a:lstStyle/>
          <a:p>
            <a:r>
              <a:rPr lang="en-GB"/>
              <a:t>Why Use OOP in Python?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268AE-DEA4-9077-1BC4-0030639AF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738" y="2206023"/>
            <a:ext cx="4914058" cy="3930030"/>
          </a:xfrm>
        </p:spPr>
        <p:txBody>
          <a:bodyPr anchor="ctr">
            <a:normAutofit/>
          </a:bodyPr>
          <a:lstStyle/>
          <a:p>
            <a:r>
              <a:rPr lang="en-GB" b="1" dirty="0"/>
              <a:t>Modular</a:t>
            </a:r>
            <a:r>
              <a:rPr lang="en-GB" dirty="0"/>
              <a:t> and </a:t>
            </a:r>
            <a:r>
              <a:rPr lang="en-GB" b="1" dirty="0"/>
              <a:t>reusable</a:t>
            </a:r>
            <a:r>
              <a:rPr lang="en-GB" dirty="0"/>
              <a:t> code.</a:t>
            </a:r>
          </a:p>
          <a:p>
            <a:endParaRPr lang="en-GB" dirty="0"/>
          </a:p>
          <a:p>
            <a:r>
              <a:rPr lang="en-GB" dirty="0"/>
              <a:t>Easier to manage complexity.</a:t>
            </a:r>
          </a:p>
          <a:p>
            <a:endParaRPr lang="en-GB" dirty="0"/>
          </a:p>
          <a:p>
            <a:r>
              <a:rPr lang="en-GB" dirty="0"/>
              <a:t>Widely used in real-world applications like </a:t>
            </a:r>
            <a:r>
              <a:rPr lang="en-GB" b="1" dirty="0"/>
              <a:t>GUI development</a:t>
            </a:r>
            <a:r>
              <a:rPr lang="en-GB" dirty="0"/>
              <a:t>, game development, etc.</a:t>
            </a:r>
            <a:endParaRPr lang="en-PK" dirty="0"/>
          </a:p>
        </p:txBody>
      </p:sp>
      <p:pic>
        <p:nvPicPr>
          <p:cNvPr id="10" name="Graphic 9" descr="Code">
            <a:extLst>
              <a:ext uri="{FF2B5EF4-FFF2-40B4-BE49-F238E27FC236}">
                <a16:creationId xmlns:a16="http://schemas.microsoft.com/office/drawing/2014/main" id="{A351D306-FCB7-1F24-3EB6-D072F4F2D3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1474" y="2884572"/>
            <a:ext cx="3251482" cy="325148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D7A0C-F79B-A68A-AF04-01F2D66612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 smtClean="0"/>
              <a:pPr>
                <a:spcAft>
                  <a:spcPts val="600"/>
                </a:spcAft>
              </a:pPr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3845D-E347-F74D-F1FD-19AA4AAF9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Atta Muhammad Panhyar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42C79-1068-A7EB-BE83-CF60A146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2051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FF825-33CE-CCE3-17CB-57AFF15EC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Classes and Objects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B2FF5-F40C-A132-8D07-EF65408B0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Class</a:t>
            </a:r>
            <a:r>
              <a:rPr lang="en-GB" dirty="0"/>
              <a:t>: A blueprint for creating objects.</a:t>
            </a:r>
          </a:p>
          <a:p>
            <a:endParaRPr lang="en-GB" dirty="0"/>
          </a:p>
          <a:p>
            <a:r>
              <a:rPr lang="en-GB" b="1" dirty="0"/>
              <a:t>Object</a:t>
            </a:r>
            <a:r>
              <a:rPr lang="en-GB" dirty="0"/>
              <a:t>: An instance of a class.</a:t>
            </a:r>
          </a:p>
          <a:p>
            <a:endParaRPr lang="en-GB" dirty="0"/>
          </a:p>
          <a:p>
            <a:r>
              <a:rPr lang="en-GB" dirty="0"/>
              <a:t>Syntax for defining a class and creating an object.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D0167-488D-399F-C0EE-A8B7B9431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ECE2A-951E-14D3-3B53-8F093AE6E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E9555-917C-0509-D10E-08AC40002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6009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07151F-18FF-2C81-5931-5F1922E82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1A4A5-C00F-4B45-9735-FD2841BF3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A16FDB6-C8B8-4BB9-B5F6-C9E7D1549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5D67BC-2831-45D1-804D-2B848B7FF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254059-39EC-48CC-B948-9EE6B0551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F3E0572-7D5E-4FAA-B67C-23A9C6D71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C5F1231-CF22-4258-B764-592B6CB8D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2C5387-42A2-4464-BF18-E70B0227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926F39D-AFC8-4FF6-9211-84AA77717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D812696-9AF7-4D2B-A041-80C015F3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E6CB557-1E5B-4D2D-9330-8EB4AF730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03A4B30-3A15-4294-9BED-E7317857F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E7B8343-CDF9-4023-9FBF-F4ADE601B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BB30BD5-639D-4F53-BC6C-2A8D0FFFE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D7E1947-04B8-4F0B-9E3C-FC4E26D6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3EDB6D6-D309-48D4-87F4-AAED7C57C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F2E163F-B043-43B7-85CE-36F2136B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F6CB03C-E3B1-4D22-ABA3-986CC09FB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9B41E31-EE5F-423F-8B88-3B56009A3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9D4FE6-B271-4427-8273-0B80EF136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F7D26D0-83A1-41B0-82E3-FB5D3E9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7C02-EBB8-4368-815C-FEDA23368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E61DA55-8618-4048-A65A-41E072D9F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DFC058B-6608-4509-92E1-D4D0D5BD5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E3652A3-36D6-4E0C-B7FB-52CD69E9C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BF82BE6-B2D5-4FA1-98B4-1E0072C39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ECA553C-C7B8-4353-BC4C-D622087D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F802227-5CA9-40B4-870E-495C7899C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1A19F9E-BB49-4808-8481-77F848C2F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3A57BE-F139-4C31-8201-477E20DD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9F800EC-2D85-47C7-BFB8-B146DD929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478BA6D-3F48-40B1-8227-830029B62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21E6C45-0A76-456E-BDD6-3DCB66126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3C541D4F-11C2-4F36-B2A3-AB9028F2A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0590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13984E-2F10-E3CC-0E3A-DCA48F25D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4038652" cy="1881178"/>
          </a:xfrm>
        </p:spPr>
        <p:txBody>
          <a:bodyPr>
            <a:normAutofit/>
          </a:bodyPr>
          <a:lstStyle/>
          <a:p>
            <a:r>
              <a:rPr lang="it-IT" dirty="0"/>
              <a:t>Classes and Objects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4EEE9-A89B-6064-EC59-D5ABDF163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7"/>
            <a:ext cx="4038652" cy="3276824"/>
          </a:xfrm>
        </p:spPr>
        <p:txBody>
          <a:bodyPr>
            <a:normAutofit/>
          </a:bodyPr>
          <a:lstStyle/>
          <a:p>
            <a:r>
              <a:rPr lang="en-GB" b="1" dirty="0"/>
              <a:t>Syntax for defining a class and creating an object.</a:t>
            </a:r>
            <a:endParaRPr lang="en-PK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AB797A-8F45-E8CC-F086-7C4751755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33" y="1802439"/>
            <a:ext cx="6401443" cy="326786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313A8-A31F-A1DE-8007-360F8DB9E7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 smtClean="0"/>
              <a:pPr>
                <a:spcAft>
                  <a:spcPts val="600"/>
                </a:spcAft>
              </a:pPr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50F4B-A500-F146-61AA-69CE033B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Atta Muhammad Panhyar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E15AB-659C-2753-1A4C-25FF20A86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1629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2C08E-E9A3-AD8B-6C22-60CAB6707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Attributes and Methods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BCBF8-581F-4E3B-7862-622CB52E2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Attributes</a:t>
            </a:r>
            <a:r>
              <a:rPr lang="en-GB" dirty="0"/>
              <a:t>: Variables that belong to the object or class.</a:t>
            </a:r>
          </a:p>
          <a:p>
            <a:endParaRPr lang="en-GB" dirty="0"/>
          </a:p>
          <a:p>
            <a:r>
              <a:rPr lang="en-GB" b="1" dirty="0"/>
              <a:t>Methods</a:t>
            </a:r>
            <a:r>
              <a:rPr lang="en-GB" dirty="0"/>
              <a:t>: Functions that belong to the class.</a:t>
            </a:r>
          </a:p>
          <a:p>
            <a:endParaRPr lang="en-GB" dirty="0"/>
          </a:p>
          <a:p>
            <a:r>
              <a:rPr lang="en-GB" b="1" dirty="0"/>
              <a:t>Instance Attributes </a:t>
            </a:r>
            <a:r>
              <a:rPr lang="en-GB" dirty="0"/>
              <a:t>vs. </a:t>
            </a:r>
            <a:r>
              <a:rPr lang="en-GB" b="1" dirty="0"/>
              <a:t>Class Attributes </a:t>
            </a:r>
            <a:r>
              <a:rPr lang="en-GB" dirty="0"/>
              <a:t>with examples.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592F9-CC98-18D3-16D7-F82F5C1A3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39C88-9BC9-8F8A-1D7D-0C3F7436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0E355-A5CC-4A95-70A9-250A7EACA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9509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29966-8C4D-FABE-5C0F-517FB4C2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3930417" cy="24797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 b="1" dirty="0"/>
              <a:t>Instance Attributes</a:t>
            </a:r>
            <a:r>
              <a:rPr lang="en-US" sz="4200" dirty="0"/>
              <a:t> vs. </a:t>
            </a:r>
            <a:r>
              <a:rPr lang="en-US" sz="4200" b="1" dirty="0"/>
              <a:t>Class Attributes</a:t>
            </a:r>
            <a:endParaRPr lang="en-US" sz="4200" dirty="0"/>
          </a:p>
        </p:txBody>
      </p:sp>
      <p:pic>
        <p:nvPicPr>
          <p:cNvPr id="8" name="Content Placeholder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DC32715-CFC6-D01C-0DF4-2777106DF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6340" y="1318648"/>
            <a:ext cx="6382411" cy="42123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6FEEC-CD07-37E1-2362-982105E8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D4C0E-A4BF-841E-1C66-5DF9196B1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62484-1E6E-4E20-6F61-7D17763B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5838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C289-7EC0-1674-DA2D-51F7B0292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Exercise: Creating Your First Class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7E105-A7D6-52F1-B43B-AC3EFA6B7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Create a </a:t>
            </a:r>
            <a:r>
              <a:rPr lang="en-GB" sz="2400" b="1" dirty="0"/>
              <a:t>Car</a:t>
            </a:r>
            <a:r>
              <a:rPr lang="en-GB" sz="2400" dirty="0"/>
              <a:t> class with attributes like </a:t>
            </a:r>
            <a:r>
              <a:rPr lang="en-GB" sz="2400" b="1" dirty="0"/>
              <a:t>make, model</a:t>
            </a:r>
            <a:r>
              <a:rPr lang="en-GB" sz="2400" dirty="0"/>
              <a:t>, and </a:t>
            </a:r>
            <a:r>
              <a:rPr lang="en-GB" sz="2400" b="1" dirty="0"/>
              <a:t>year</a:t>
            </a:r>
            <a:r>
              <a:rPr lang="en-GB" sz="2400" dirty="0"/>
              <a:t>.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Add a method </a:t>
            </a:r>
            <a:r>
              <a:rPr lang="en-GB" sz="2400" b="1" dirty="0" err="1"/>
              <a:t>start_engine</a:t>
            </a:r>
            <a:r>
              <a:rPr lang="en-GB" sz="2400" dirty="0"/>
              <a:t> that prints "</a:t>
            </a:r>
            <a:r>
              <a:rPr lang="en-GB" sz="2400" b="1" dirty="0"/>
              <a:t>Engine started</a:t>
            </a:r>
            <a:r>
              <a:rPr lang="en-GB" sz="2400" dirty="0"/>
              <a:t>."</a:t>
            </a:r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6B448-E4A6-3C18-C55C-BFFE95F5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B217A-B923-894A-6DA1-C32A26275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7844F-BAEF-490B-3F8B-8CEA65A8C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1790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6395D-474E-5EB8-E674-6C93A105F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Object Representation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D42B2-F71E-36C8-0E6C-33C3B70E4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__</a:t>
            </a:r>
            <a:r>
              <a:rPr lang="en-GB" b="1" dirty="0" err="1"/>
              <a:t>repr</a:t>
            </a:r>
            <a:r>
              <a:rPr lang="en-GB" b="1" dirty="0"/>
              <a:t>__</a:t>
            </a:r>
            <a:r>
              <a:rPr lang="en-GB" dirty="0"/>
              <a:t>(self): Should return an unambiguous string representation of the object, ideally one that could be used to recreate the object.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__str__(self): </a:t>
            </a:r>
            <a:r>
              <a:rPr lang="en-GB" dirty="0"/>
              <a:t>Returns a user-friendly string representation of the object.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EB0E6-FC5E-9498-FF01-2795ED319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6C3AA-6E1E-FB35-4E42-4590DB9A4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C23A3-812C-D3B2-877A-4807F805D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2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F4A32-6727-53CF-0622-62E0A9F9A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6D091-2D27-163C-4667-B78758768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Object Representation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6FAA3-F3EE-EC34-3F21-C0E766485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D2966-E96F-1A2D-909E-25D74B77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71BF2-5D4F-166E-B1E0-3C170AF45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520543-7E76-8CE3-9DB6-3B921F2AC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201" y="2363086"/>
            <a:ext cx="5534797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249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E4CC-65E6-B166-6D20-60E213E1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Comparison Magic Methods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FC6A1-51E1-ACF4-A4D9-EF0870F51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__</a:t>
            </a:r>
            <a:r>
              <a:rPr lang="en-GB" b="1" dirty="0" err="1"/>
              <a:t>eq</a:t>
            </a:r>
            <a:r>
              <a:rPr lang="en-GB" b="1" dirty="0"/>
              <a:t>__(</a:t>
            </a:r>
            <a:r>
              <a:rPr lang="en-GB" dirty="0"/>
              <a:t>self, other): Equality (==).</a:t>
            </a:r>
          </a:p>
          <a:p>
            <a:r>
              <a:rPr lang="en-GB" b="1" dirty="0"/>
              <a:t>__ne__(</a:t>
            </a:r>
            <a:r>
              <a:rPr lang="en-GB" dirty="0"/>
              <a:t>self, other): Inequality (!=).</a:t>
            </a:r>
          </a:p>
          <a:p>
            <a:r>
              <a:rPr lang="en-GB" b="1" dirty="0"/>
              <a:t>__</a:t>
            </a:r>
            <a:r>
              <a:rPr lang="en-GB" b="1" dirty="0" err="1"/>
              <a:t>lt</a:t>
            </a:r>
            <a:r>
              <a:rPr lang="en-GB" b="1" dirty="0"/>
              <a:t>__(</a:t>
            </a:r>
            <a:r>
              <a:rPr lang="en-GB" dirty="0"/>
              <a:t>self, other): Less than (&lt;).</a:t>
            </a:r>
          </a:p>
          <a:p>
            <a:r>
              <a:rPr lang="en-GB" b="1" dirty="0"/>
              <a:t>__le__(</a:t>
            </a:r>
            <a:r>
              <a:rPr lang="en-GB" dirty="0"/>
              <a:t>self, other): Less than or equal to (&lt;=).</a:t>
            </a:r>
          </a:p>
          <a:p>
            <a:r>
              <a:rPr lang="en-GB" b="1" dirty="0"/>
              <a:t>__</a:t>
            </a:r>
            <a:r>
              <a:rPr lang="en-GB" b="1" dirty="0" err="1"/>
              <a:t>gt</a:t>
            </a:r>
            <a:r>
              <a:rPr lang="en-GB" b="1" dirty="0"/>
              <a:t>__(</a:t>
            </a:r>
            <a:r>
              <a:rPr lang="en-GB" dirty="0"/>
              <a:t>self, other): Greater than (&gt;).</a:t>
            </a:r>
          </a:p>
          <a:p>
            <a:r>
              <a:rPr lang="en-GB" b="1" dirty="0"/>
              <a:t>__</a:t>
            </a:r>
            <a:r>
              <a:rPr lang="en-GB" b="1" dirty="0" err="1"/>
              <a:t>ge</a:t>
            </a:r>
            <a:r>
              <a:rPr lang="en-GB" b="1" dirty="0"/>
              <a:t>__(</a:t>
            </a:r>
            <a:r>
              <a:rPr lang="en-GB" dirty="0"/>
              <a:t>self, other): Greater than or equal to (&gt;=)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93EC7-4B76-2E33-E04C-CC0D8481A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23604-298D-94E8-C51B-38F78D4E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B67FB-8B3F-7CAC-D3B2-7D67C1BF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20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7663D-5D27-9EFA-E755-B6D199FC4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2AFA-7053-2508-7284-39A53B16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Comparison Magic Methods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FFACB-7ECC-1551-0A80-23A7394A7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87D6E-A096-6D65-AE91-EFB59064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A85B3-07A1-8FA3-E72B-D8DBE1E3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F1BE94-8ED1-2C80-A2EC-B97895FF4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264" y="2586704"/>
            <a:ext cx="8549290" cy="307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71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A4B2C-9C4A-0302-95AF-D9D2D471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A9CBF-1CDD-7763-98D5-8FEBAEE46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What is inheritance?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Benefits of code reusability.</a:t>
            </a:r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E8A60-A8CB-817B-28B4-1189F3B0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143FB-D4AE-4BB0-A11B-3259C28D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53488-2C8D-5608-4C5C-DC16C5629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0863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AF922B-FFD1-C66B-000C-B896CA71C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Right Triangle 8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EC7A2BB-E03E-436B-ABA5-3EBC8FB40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6DC0849-A033-4B02-97FE-B41AD9A86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3ADCA7D-864A-49AD-B820-102F220EA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957E947-1347-4EB3-89EB-DF85D94E2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8B5FAB9-675C-4906-A39C-BCFD68929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C524971-DA3C-4B74-A99D-95CECD50C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DBDB683-BC6A-4522-82A5-C7457201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41560A9-0B55-472F-8261-6951E27C5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D874A14-7926-47E8-947C-904C98B0E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3E5598F-2EAC-49C0-B77B-95438A8ED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C8993AC-196C-48AC-BCE3-3E71814D9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517F3CA-CF3E-4CD8-B001-2BDF09D76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5237402-E5C4-470B-955F-F3A886776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315EAA5-98ED-4276-880E-4E3789CEA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7F94794-653E-45B6-811B-8081788A0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82DE38F-FC85-4274-8C84-8E75162E6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4AF14C3-798E-4C02-A6B4-165D003D7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53D4C15-2F93-446B-AF2D-82072EC01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09026E7-4EC6-47AE-A989-318A5CA6B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6DEDA5A-47AA-4ED0-897C-C0B1873B6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061821F-242E-4E40-B305-9048634C0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0734AE8-EEDD-4DCB-9723-087DC2EC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6DB511B-1563-4336-AFBB-D561A7C0B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5CEC4A9-4067-4D92-A28E-EE8152717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783B25-A3A3-45C4-B04C-A11644250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31178CD-3DE0-4C42-811C-7BC881FBF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926C508-8BE5-4ACF-A219-09B5D995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B58DEC2-3409-477A-84B4-A5D297FB0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EE3E226-6EDA-4FC4-B670-9590DD5CE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BC874A8-EE7F-4F92-AAEA-40B18D939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23D647B-0C43-4C02-9BD2-A01859FD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C6DE01B-DD35-4B52-A72E-57E60E226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03BAB8-E0B6-96A0-C66C-5300FC25E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5" y="746840"/>
            <a:ext cx="5402454" cy="25104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Inheritance – Example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340E1-800C-8E97-E3ED-FF9C2E9EA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89" name="Right Triangle 88">
            <a:extLst>
              <a:ext uri="{FF2B5EF4-FFF2-40B4-BE49-F238E27FC236}">
                <a16:creationId xmlns:a16="http://schemas.microsoft.com/office/drawing/2014/main" id="{218D3B53-4071-48E8-9CB1-4566DAFA0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260044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1C1AB-B497-D2E5-CE51-2F4BD344F1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10/15/2024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0AE68C-68B3-A647-BF9D-72C243961A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38" b="3"/>
          <a:stretch/>
        </p:blipFill>
        <p:spPr>
          <a:xfrm>
            <a:off x="6062050" y="-1554"/>
            <a:ext cx="6120571" cy="685799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520DB-773C-7BC3-31E9-601CDF5C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237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FC98-20C2-C0EA-6508-EB5D43DD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Hands-on Exercise: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099EA-AE79-4386-410C-236E8FD02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Extend the </a:t>
            </a:r>
            <a:r>
              <a:rPr lang="en-GB" sz="2400" b="1" dirty="0"/>
              <a:t>Car</a:t>
            </a:r>
            <a:r>
              <a:rPr lang="en-GB" sz="2400" dirty="0"/>
              <a:t> class to create a </a:t>
            </a:r>
            <a:r>
              <a:rPr lang="en-GB" sz="2400" b="1" dirty="0" err="1"/>
              <a:t>ElectricCar</a:t>
            </a:r>
            <a:r>
              <a:rPr lang="en-GB" sz="2400" dirty="0"/>
              <a:t> class that adds battery-specific attributes</a:t>
            </a:r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AEA8E-CF31-FF31-65DD-45ECDBBD7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47996-3022-FAEC-D9D3-BA8F4BD99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690B0-BCFB-9D06-62A8-DD11DF91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62836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F3DFB-90F4-FE16-58C7-D3635289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Encapsulation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00088-E608-63B0-29FF-3954741C2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Protecting data by limiting access to methods.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Use of private (_ or __) attributes.</a:t>
            </a:r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041EE-435F-DB70-FD88-42DC97300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BCA23-3862-CF7B-5768-B9D6C3D46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92183-C6EE-8EEB-24C1-FE1D77D8E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70304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C3E690-8DC0-8160-7F7C-AED9A6226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Right Triangle 84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F60AD7-8BB0-65EF-9C9D-89999DDF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Encapsulation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3F5D1EF-CA98-1FFC-2783-0C2D7889A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1056" y="2884564"/>
            <a:ext cx="6803624" cy="325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0A643-110E-CE78-0580-FA8748EB10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2A6E1-D551-CBE7-88A4-9FF7CAFF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EC390-9388-D738-5EFC-57F09BB5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484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1A4A5-C00F-4B45-9735-FD2841BF3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A16FDB6-C8B8-4BB9-B5F6-C9E7D1549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5D67BC-2831-45D1-804D-2B848B7FF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254059-39EC-48CC-B948-9EE6B0551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F3E0572-7D5E-4FAA-B67C-23A9C6D71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C5F1231-CF22-4258-B764-592B6CB8D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2C5387-42A2-4464-BF18-E70B0227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926F39D-AFC8-4FF6-9211-84AA77717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D812696-9AF7-4D2B-A041-80C015F3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E6CB557-1E5B-4D2D-9330-8EB4AF730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03A4B30-3A15-4294-9BED-E7317857F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E7B8343-CDF9-4023-9FBF-F4ADE601B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BB30BD5-639D-4F53-BC6C-2A8D0FFFE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D7E1947-04B8-4F0B-9E3C-FC4E26D6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3EDB6D6-D309-48D4-87F4-AAED7C57C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F2E163F-B043-43B7-85CE-36F2136B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F6CB03C-E3B1-4D22-ABA3-986CC09FB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9B41E31-EE5F-423F-8B88-3B56009A3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9D4FE6-B271-4427-8273-0B80EF136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F7D26D0-83A1-41B0-82E3-FB5D3E9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7C02-EBB8-4368-815C-FEDA23368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E61DA55-8618-4048-A65A-41E072D9F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DFC058B-6608-4509-92E1-D4D0D5BD5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E3652A3-36D6-4E0C-B7FB-52CD69E9C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BF82BE6-B2D5-4FA1-98B4-1E0072C39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ECA553C-C7B8-4353-BC4C-D622087D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F802227-5CA9-40B4-870E-495C7899C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1A19F9E-BB49-4808-8481-77F848C2F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3A57BE-F139-4C31-8201-477E20DD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9F800EC-2D85-47C7-BFB8-B146DD929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478BA6D-3F48-40B1-8227-830029B62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21E6C45-0A76-456E-BDD6-3DCB66126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Right Triangle 86">
            <a:extLst>
              <a:ext uri="{FF2B5EF4-FFF2-40B4-BE49-F238E27FC236}">
                <a16:creationId xmlns:a16="http://schemas.microsoft.com/office/drawing/2014/main" id="{3C541D4F-11C2-4F36-B2A3-AB9028F2A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0590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68C901-BF2E-8BF8-9670-69AD1BEA4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4038652" cy="1881178"/>
          </a:xfrm>
        </p:spPr>
        <p:txBody>
          <a:bodyPr>
            <a:normAutofit/>
          </a:bodyPr>
          <a:lstStyle/>
          <a:p>
            <a:r>
              <a:rPr lang="it-IT"/>
              <a:t>Polymorphism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5E4F-AFDF-AFC2-E734-1C92D6FCB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7"/>
            <a:ext cx="4038652" cy="3276824"/>
          </a:xfrm>
        </p:spPr>
        <p:txBody>
          <a:bodyPr>
            <a:normAutofit/>
          </a:bodyPr>
          <a:lstStyle/>
          <a:p>
            <a:r>
              <a:rPr lang="en-GB"/>
              <a:t>Ability to use a common interface for multiple types.</a:t>
            </a:r>
            <a:endParaRPr lang="en-P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CFF7D8-DDB1-C02A-E356-BB7A02665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477" y="729344"/>
            <a:ext cx="5601154" cy="541406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C7B20-DAD5-8116-7D6E-BFDAA7ABEC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 smtClean="0"/>
              <a:pPr>
                <a:spcAft>
                  <a:spcPts val="600"/>
                </a:spcAft>
              </a:pPr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6ED11-AA67-4B47-F00A-0E6CFD06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Atta Muhammad Panhyar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466ED-8B1F-1E74-1C37-CC40FC44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64238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DDBFC-639C-76AA-BED7-F1F1887D0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Hands-on Exercise: Polymorphism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438EF-0566-16A6-5706-E16EEA4DA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Create a parent class </a:t>
            </a:r>
            <a:r>
              <a:rPr lang="en-GB" sz="2400" b="1" dirty="0"/>
              <a:t>Shape </a:t>
            </a:r>
            <a:r>
              <a:rPr lang="en-GB" sz="2400" dirty="0"/>
              <a:t>and derived classes </a:t>
            </a:r>
            <a:r>
              <a:rPr lang="en-GB" sz="2400" b="1" dirty="0"/>
              <a:t>Rectangle </a:t>
            </a:r>
            <a:r>
              <a:rPr lang="en-GB" sz="2400" dirty="0"/>
              <a:t>and </a:t>
            </a:r>
            <a:r>
              <a:rPr lang="en-GB" sz="2400" b="1" dirty="0"/>
              <a:t>Triangle </a:t>
            </a:r>
            <a:r>
              <a:rPr lang="en-GB" sz="2400" dirty="0"/>
              <a:t>with their own </a:t>
            </a:r>
            <a:r>
              <a:rPr lang="en-GB" sz="2400" b="1" dirty="0"/>
              <a:t>area()</a:t>
            </a:r>
            <a:r>
              <a:rPr lang="en-GB" sz="2400" dirty="0"/>
              <a:t> method.</a:t>
            </a:r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8CD50-3FFD-9982-7DCB-F58ED0810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717A4-98DA-DF01-1A24-EC59D0266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A6DF0-7B79-8275-16DE-0E4B6891C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70080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805421D-23CB-40F5-9098-D716667E5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BEDFB19-5DE1-4CA8-842F-CF9657C9B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B04A073-94DC-4578-A9E2-F2E11D914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7F7BBB2-E3AC-457B-807F-64236CF30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0853883-33B5-4C34-9FBE-49F74C507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3148E7B-B5D6-4263-9D85-5D3DFB617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967EC22-EFE1-454E-8FD1-12FFCD9D2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49EB4AF-9931-410A-9F68-C24B6C39E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4941F79-4D72-496E-AE99-73B9E1F72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D4E79B3-CB64-439D-B1FC-FC4BF47CD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92598D1-4713-4DC0-BD6B-7CC594357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5EB19DC-1DB5-4675-A6DE-6360F0AD7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05E56D6-1D38-4913-B543-41ECE2C46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F6ACC1A-6B97-4B0B-A036-F81890623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2197E3E-AC71-447A-A5F1-AC337FD73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37D0DA4-9FA9-4502-8296-6DD8842C3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A94CC6E-AA45-4AFF-8EC6-17FE42173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330A0C5-0C67-4AC8-9F75-D63277BFF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10410FE-F829-4EB2-98EE-397D51FC5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E2C1BE1-F256-4B52-BB5D-50C84668F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E104CCA-10BA-45D1-A504-EF3AD7334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6E7DBD2-8DAE-45A0-9A8C-331329107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AD51F90-1778-4825-87B9-E04A473A43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8B4C11C-68F4-4AAA-B3C6-99B339FD5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F65B701-4451-455A-A72C-968591A58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8E9A4D7-E804-4F7D-B46F-9182BE11D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522ECDE-9CC3-4260-A85A-1575376E7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940BF09-5C37-4ABA-919D-A22281C3A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ECA37BD-68D3-427B-9FDA-2ADAFCF5DC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C5F91D5-B215-42B0-81E5-7CE4263BD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C21ED72-60A2-439D-8DD2-85900BA4C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853A371-AB64-4677-9E5A-FE61C0E04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B3093A12-B759-4321-96FD-060689E3A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7291541" y="-28737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DAB1A-AF34-38F9-C88E-3ADE80454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3120" y="722903"/>
            <a:ext cx="4415630" cy="24607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Questions ?</a:t>
            </a:r>
          </a:p>
        </p:txBody>
      </p:sp>
      <p:pic>
        <p:nvPicPr>
          <p:cNvPr id="10" name="Graphic 9" descr="Question mark">
            <a:extLst>
              <a:ext uri="{FF2B5EF4-FFF2-40B4-BE49-F238E27FC236}">
                <a16:creationId xmlns:a16="http://schemas.microsoft.com/office/drawing/2014/main" id="{6C25BCF6-A152-1AEF-8446-E5BCF792A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212" y="724157"/>
            <a:ext cx="5414891" cy="54148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F8198-83E7-3DA8-D7A9-18BE676C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DD13B-FD75-F739-7C5C-EBA288F82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8B2F6-A30B-7E20-5CE1-E6B2401AE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6054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osine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83B841CBE624CBD6CA6C23B585E86" ma:contentTypeVersion="4" ma:contentTypeDescription="Create a new document." ma:contentTypeScope="" ma:versionID="df8140b7ff1f38641146e502cd7017ce">
  <xsd:schema xmlns:xsd="http://www.w3.org/2001/XMLSchema" xmlns:xs="http://www.w3.org/2001/XMLSchema" xmlns:p="http://schemas.microsoft.com/office/2006/metadata/properties" xmlns:ns3="5e1f2001-7a2a-475f-99ed-f287c302d85e" targetNamespace="http://schemas.microsoft.com/office/2006/metadata/properties" ma:root="true" ma:fieldsID="4ef91abf136de239640819636eae1c09" ns3:_="">
    <xsd:import namespace="5e1f2001-7a2a-475f-99ed-f287c302d8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2001-7a2a-475f-99ed-f287c302d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403B38-2017-46CB-BAFD-34E91D55F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f2001-7a2a-475f-99ed-f287c302d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028091-2C71-4358-873E-63FAA6926BD7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5e1f2001-7a2a-475f-99ed-f287c302d85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3882337-F9FF-4386-BC46-5C61B288A5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2724</TotalTime>
  <Words>531</Words>
  <Application>Microsoft Office PowerPoint</Application>
  <PresentationFormat>Widescreen</PresentationFormat>
  <Paragraphs>144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Grandview</vt:lpstr>
      <vt:lpstr>Wingdings</vt:lpstr>
      <vt:lpstr>CosineVTI</vt:lpstr>
      <vt:lpstr>PowerPoint Presentation</vt:lpstr>
      <vt:lpstr>Python Programming Bootcamp - Week 4, Day 01</vt:lpstr>
      <vt:lpstr>Today's objective</vt:lpstr>
      <vt:lpstr>What is Object-Oriented Programming?</vt:lpstr>
      <vt:lpstr>Why Use OOP in Python?</vt:lpstr>
      <vt:lpstr>Classes and Objects</vt:lpstr>
      <vt:lpstr>Classes and Objects</vt:lpstr>
      <vt:lpstr>Attributes and Methods</vt:lpstr>
      <vt:lpstr>Instance Attributes vs. Class Attributes</vt:lpstr>
      <vt:lpstr>Hands-on Exercise: Creating Your First Class</vt:lpstr>
      <vt:lpstr>Object Representation</vt:lpstr>
      <vt:lpstr>Object Representation</vt:lpstr>
      <vt:lpstr>Comparison Magic Methods</vt:lpstr>
      <vt:lpstr>Comparison Magic Methods</vt:lpstr>
      <vt:lpstr>Inheritance</vt:lpstr>
      <vt:lpstr>Inheritance – Example</vt:lpstr>
      <vt:lpstr>Hands-on Exercise: Inheritance</vt:lpstr>
      <vt:lpstr>Encapsulation</vt:lpstr>
      <vt:lpstr>Encapsulation</vt:lpstr>
      <vt:lpstr>Polymorphism</vt:lpstr>
      <vt:lpstr>Hands-on Exercise: Polymorphism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538</cp:revision>
  <dcterms:created xsi:type="dcterms:W3CDTF">2024-09-22T16:39:41Z</dcterms:created>
  <dcterms:modified xsi:type="dcterms:W3CDTF">2024-10-15T10:45:26Z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0x01010045B83B841CBE624CBD6CA6C23B585E86</vt:lpwstr>
  </property>
</Properties>
</file>