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31"/>
  </p:notesMasterIdLst>
  <p:sldIdLst>
    <p:sldId id="256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302" r:id="rId26"/>
    <p:sldId id="301" r:id="rId27"/>
    <p:sldId id="300" r:id="rId28"/>
    <p:sldId id="299" r:id="rId29"/>
    <p:sldId id="27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30/09/2024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/>
              <a:t>Peoples Information Technology Program (PITP)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9/30/2024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Peoples Information Technology Program (PITP)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/>
              <a:t>Peoples Information Technology Program (PITP)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9/30/2024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Peoples Information Technology Program (PITP)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4891" y="722903"/>
            <a:ext cx="6118703" cy="2706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600" dirty="0"/>
              <a:t>Python Programming Bootcamp - Day 1 (Week 2)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Loops – Introduction to While Loop</a:t>
            </a:r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 e 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8D31A-4EEC-F351-0958-7F93B8EB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CC7E2-BD7F-D557-89B9-09963BB12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what loops are and why they are used in programming.</a:t>
            </a:r>
          </a:p>
          <a:p>
            <a:endParaRPr lang="en-GB" dirty="0"/>
          </a:p>
          <a:p>
            <a:r>
              <a:rPr lang="en-GB" dirty="0"/>
              <a:t>Learn the syntax and functionality of the while loop in Python.</a:t>
            </a:r>
          </a:p>
          <a:p>
            <a:endParaRPr lang="en-GB" dirty="0"/>
          </a:p>
          <a:p>
            <a:r>
              <a:rPr lang="en-GB" dirty="0"/>
              <a:t>Explore how to use loops to solve real-world problems.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Apply control flow and while loops together to automate repetitive tasks.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2AC4B-80A5-51FA-94F4-2BC1FB333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6F3E8-E0F5-ACE3-C85F-D834F24E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1BC09-1900-70BB-34F8-10E21E90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9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B569-90D1-940D-D43C-9CC3861F0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Loop?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1A391-6F8B-0261-6135-36BD3416D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</a:t>
            </a:r>
            <a:r>
              <a:rPr lang="en-GB" dirty="0"/>
              <a:t>: A loop is a control flow structure that repeats a block of code as long as a condition is true.</a:t>
            </a:r>
          </a:p>
          <a:p>
            <a:endParaRPr lang="en-GB" dirty="0"/>
          </a:p>
          <a:p>
            <a:r>
              <a:rPr lang="en-GB" b="1" dirty="0"/>
              <a:t>Why Use Loops</a:t>
            </a:r>
            <a:r>
              <a:rPr lang="en-GB" dirty="0"/>
              <a:t>?</a:t>
            </a:r>
          </a:p>
          <a:p>
            <a:pPr lvl="1"/>
            <a:r>
              <a:rPr lang="en-GB" sz="2000" dirty="0"/>
              <a:t>Automate repetitive tasks.</a:t>
            </a:r>
          </a:p>
          <a:p>
            <a:pPr lvl="1"/>
            <a:r>
              <a:rPr lang="en-GB" sz="2000" dirty="0"/>
              <a:t>Process data multiple times.</a:t>
            </a:r>
          </a:p>
          <a:p>
            <a:pPr lvl="1"/>
            <a:r>
              <a:rPr lang="en-GB" sz="2000" dirty="0"/>
              <a:t>Reduce redundancy in code.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3977A-9AF0-7987-4749-5EE6E7A86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F4DDD-3BC2-FFE9-B642-A04B87978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D74DE-7281-84DE-1D70-71895EE0D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32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1D3D5-86DD-5EB1-92B5-06E0AF9BF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While Loop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63997-0280-224A-6DD3-C1F4EF6AE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Syntax</a:t>
            </a:r>
          </a:p>
          <a:p>
            <a:r>
              <a:rPr lang="en-GB" dirty="0"/>
              <a:t>The loop runs </a:t>
            </a:r>
            <a:r>
              <a:rPr lang="en-GB" b="1" dirty="0"/>
              <a:t>if </a:t>
            </a:r>
            <a:r>
              <a:rPr lang="en-GB" dirty="0"/>
              <a:t>the condition is </a:t>
            </a:r>
            <a:r>
              <a:rPr lang="en-GB" b="1" dirty="0"/>
              <a:t>True</a:t>
            </a:r>
            <a:r>
              <a:rPr lang="en-GB" dirty="0"/>
              <a:t>. If the condition is </a:t>
            </a:r>
            <a:r>
              <a:rPr lang="en-GB" b="1" dirty="0"/>
              <a:t>False</a:t>
            </a:r>
            <a:r>
              <a:rPr lang="en-GB" dirty="0"/>
              <a:t>, the loop exits.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00BFB-9A19-9BC5-5444-F46031188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D5582-9715-11E0-C70D-BBC02268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4071E-BE66-B6C4-0AAF-6A1DC7FC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85AFFF-9957-04C9-EE63-6999F2835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392" y="3857866"/>
            <a:ext cx="3210373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70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roup 110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1041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Connector 1042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4" name="Right Triangle 1103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105" name="Rectangle 1104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06" name="Group 1105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1069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1075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1082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Straight Connector 1084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Straight Connector 1085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Connector 1088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Straight Connector 1089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Straight Connector 1091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Straight Connector 1092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Straight Connector 1094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Straight Connector 1095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7" name="Right Triangle 1106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AC364-CB1A-F3D9-0BC3-02F45AE6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4"/>
            <a:ext cx="5408713" cy="141037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Flowchart of a While Loop</a:t>
            </a:r>
          </a:p>
        </p:txBody>
      </p:sp>
      <p:pic>
        <p:nvPicPr>
          <p:cNvPr id="1026" name="Picture 2" descr="Python While Loop - GeeksforGeeks">
            <a:extLst>
              <a:ext uri="{FF2B5EF4-FFF2-40B4-BE49-F238E27FC236}">
                <a16:creationId xmlns:a16="http://schemas.microsoft.com/office/drawing/2014/main" id="{403F6F47-4D04-E09F-C184-7002CDE11F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49346" y="2340144"/>
            <a:ext cx="6181645" cy="380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4A351-F955-094A-B1A4-D9F496E6E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6917-335D-9452-FF5C-3FC49E054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Peoples Information Technology Program (PITP)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54D4A-C527-DBBE-CA6B-2762BB78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53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1CF4E-9F8B-7BFC-612E-C4DFAB78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Infinite Loops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33941-0C1F-2DC2-2256-56307DA83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an Infinite Loop?</a:t>
            </a:r>
          </a:p>
          <a:p>
            <a:pPr lvl="1"/>
            <a:r>
              <a:rPr lang="en-GB" dirty="0"/>
              <a:t>Occurs when the condition in the while loop never becomes False.</a:t>
            </a:r>
          </a:p>
          <a:p>
            <a:pPr lvl="1"/>
            <a:r>
              <a:rPr lang="en-GB" b="1" dirty="0"/>
              <a:t>Danger:</a:t>
            </a:r>
            <a:r>
              <a:rPr lang="en-GB" dirty="0"/>
              <a:t> Can cause the program to crash or freeze.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EAC61-3185-7A42-D3B3-7E654B5A2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D8958-4230-5174-6219-B30FC792A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E187B-B2AC-22BA-192F-33215297A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9A5447-0853-2C70-F5D8-98B0B401F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112" y="3880255"/>
            <a:ext cx="3048425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020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C0B69-EEA4-FE5F-CD22-D3D423030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Controlling While Loops with a Counter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387B5-B99A-07EB-1ABB-AA9141648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Using a Counter:</a:t>
            </a:r>
            <a:r>
              <a:rPr lang="en-GB" dirty="0"/>
              <a:t> Often, you will increment or decrement a variable to control the number of loop iterations.</a:t>
            </a:r>
          </a:p>
          <a:p>
            <a:r>
              <a:rPr lang="en-GB" b="1" dirty="0"/>
              <a:t>Example: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996C7-24AB-58C5-65E4-3829B5169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43988-5164-7071-A089-A879A6FB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B3107-778D-61E4-45B6-FC734BF29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D16D2E-58DE-0402-37FC-B05F56D61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616" y="3573847"/>
            <a:ext cx="6401693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04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C890-5A2F-D6BE-0B30-5DCE5A602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1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A6DB1-934E-1572-E91F-AC28F5223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prints the numbers from 1 to 10 using a while loop.</a:t>
            </a:r>
          </a:p>
          <a:p>
            <a:pPr lvl="1"/>
            <a:r>
              <a:rPr lang="en-GB" sz="2400" b="1" dirty="0"/>
              <a:t>Hint</a:t>
            </a:r>
            <a:r>
              <a:rPr lang="en-GB" sz="2400" dirty="0"/>
              <a:t>: Start with </a:t>
            </a:r>
            <a:r>
              <a:rPr lang="en-GB" sz="2400" dirty="0" err="1"/>
              <a:t>num</a:t>
            </a:r>
            <a:r>
              <a:rPr lang="en-GB" sz="2400" dirty="0"/>
              <a:t> = 1 and increment it until 10.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F23D1-94EF-5221-8513-9218C7A62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3D88A-A706-8FF3-259E-1E103B3B5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41EF2-2C0B-9432-4600-07C95F51B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70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FDF70F4-97B6-40D8-B1FA-9580DBD23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2244" y="224448"/>
            <a:ext cx="6857996" cy="6409096"/>
          </a:xfrm>
          <a:custGeom>
            <a:avLst/>
            <a:gdLst>
              <a:gd name="connsiteX0" fmla="*/ 0 w 6857996"/>
              <a:gd name="connsiteY0" fmla="*/ 2827344 h 6142577"/>
              <a:gd name="connsiteX1" fmla="*/ 0 w 6857996"/>
              <a:gd name="connsiteY1" fmla="*/ 5080510 h 6142577"/>
              <a:gd name="connsiteX2" fmla="*/ 3 w 6857996"/>
              <a:gd name="connsiteY2" fmla="*/ 5080510 h 6142577"/>
              <a:gd name="connsiteX3" fmla="*/ 3 w 6857996"/>
              <a:gd name="connsiteY3" fmla="*/ 6142577 h 6142577"/>
              <a:gd name="connsiteX4" fmla="*/ 6857996 w 6857996"/>
              <a:gd name="connsiteY4" fmla="*/ 6142577 h 6142577"/>
              <a:gd name="connsiteX5" fmla="*/ 6857996 w 6857996"/>
              <a:gd name="connsiteY5" fmla="*/ 3928749 h 6142577"/>
              <a:gd name="connsiteX6" fmla="*/ 6857996 w 6857996"/>
              <a:gd name="connsiteY6" fmla="*/ 2572597 h 6142577"/>
              <a:gd name="connsiteX7" fmla="*/ 6857996 w 6857996"/>
              <a:gd name="connsiteY7" fmla="*/ 307516 h 6142577"/>
              <a:gd name="connsiteX8" fmla="*/ 6550769 w 6857996"/>
              <a:gd name="connsiteY8" fmla="*/ 222609 h 6142577"/>
              <a:gd name="connsiteX9" fmla="*/ 5031274 w 6857996"/>
              <a:gd name="connsiteY9" fmla="*/ 33 h 6142577"/>
              <a:gd name="connsiteX10" fmla="*/ 310659 w 6857996"/>
              <a:gd name="connsiteY10" fmla="*/ 1067285 h 6142577"/>
              <a:gd name="connsiteX11" fmla="*/ 2 w 6857996"/>
              <a:gd name="connsiteY11" fmla="*/ 1072307 h 6142577"/>
              <a:gd name="connsiteX12" fmla="*/ 2 w 6857996"/>
              <a:gd name="connsiteY12" fmla="*/ 2827344 h 614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6" h="6142577">
                <a:moveTo>
                  <a:pt x="0" y="2827344"/>
                </a:moveTo>
                <a:lnTo>
                  <a:pt x="0" y="5080510"/>
                </a:lnTo>
                <a:lnTo>
                  <a:pt x="3" y="5080510"/>
                </a:lnTo>
                <a:lnTo>
                  <a:pt x="3" y="6142577"/>
                </a:lnTo>
                <a:lnTo>
                  <a:pt x="6857996" y="6142577"/>
                </a:lnTo>
                <a:lnTo>
                  <a:pt x="6857996" y="3928749"/>
                </a:lnTo>
                <a:lnTo>
                  <a:pt x="6857996" y="2572597"/>
                </a:lnTo>
                <a:lnTo>
                  <a:pt x="6857996" y="307516"/>
                </a:lnTo>
                <a:lnTo>
                  <a:pt x="6550769" y="222609"/>
                </a:lnTo>
                <a:cubicBezTo>
                  <a:pt x="5946238" y="65902"/>
                  <a:pt x="5454822" y="1688"/>
                  <a:pt x="5031274" y="33"/>
                </a:cubicBezTo>
                <a:cubicBezTo>
                  <a:pt x="3337081" y="-6590"/>
                  <a:pt x="2728780" y="987729"/>
                  <a:pt x="310659" y="1067285"/>
                </a:cubicBezTo>
                <a:lnTo>
                  <a:pt x="2" y="1072307"/>
                </a:lnTo>
                <a:lnTo>
                  <a:pt x="2" y="2827344"/>
                </a:ln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ight Triangle 49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1C352-E5DC-BC3F-C494-01DB8B34D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5408027" cy="1442463"/>
          </a:xfrm>
        </p:spPr>
        <p:txBody>
          <a:bodyPr>
            <a:normAutofit/>
          </a:bodyPr>
          <a:lstStyle/>
          <a:p>
            <a:r>
              <a:rPr lang="en-GB" dirty="0"/>
              <a:t>Breaking Out of a Loop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250A2-423E-40C8-3904-514518BB3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4424633" cy="3791918"/>
          </a:xfrm>
        </p:spPr>
        <p:txBody>
          <a:bodyPr>
            <a:normAutofit/>
          </a:bodyPr>
          <a:lstStyle/>
          <a:p>
            <a:r>
              <a:rPr lang="en-GB" b="1" dirty="0"/>
              <a:t>break Statemen</a:t>
            </a:r>
            <a:r>
              <a:rPr lang="en-GB" dirty="0"/>
              <a:t>t: Used to exit the loop even if the condition is still true.</a:t>
            </a:r>
            <a:endParaRPr lang="en-US" b="1" dirty="0"/>
          </a:p>
          <a:p>
            <a:r>
              <a:rPr lang="en-GB" b="1" dirty="0"/>
              <a:t>Explanation</a:t>
            </a:r>
            <a:r>
              <a:rPr lang="en-GB" dirty="0"/>
              <a:t>: The loop continues indefinitely until the break statement is encountered.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10F07A-0614-3464-6D1B-975577348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094" y="1887372"/>
            <a:ext cx="4401655" cy="308974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91715-CEF0-4123-2DB7-74D2288E3C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 smtClean="0"/>
              <a:pPr>
                <a:spcAft>
                  <a:spcPts val="600"/>
                </a:spcAft>
              </a:pPr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5D6CA-8227-236A-9716-850DE19FB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259FD-E8CA-6D03-415D-388CF0F45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833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F49F-DFC4-04DF-5F24-805E14A2C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2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90DB7-FBC0-E1F4-F298-FA104F9D2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asks the user for numbers and prints them. </a:t>
            </a:r>
          </a:p>
          <a:p>
            <a:pPr lvl="1"/>
            <a:r>
              <a:rPr lang="en-GB" sz="2000" dirty="0"/>
              <a:t>Stop the loop when the user enters 0.</a:t>
            </a:r>
          </a:p>
          <a:p>
            <a:pPr lvl="1"/>
            <a:endParaRPr lang="en-GB" sz="2000" dirty="0"/>
          </a:p>
          <a:p>
            <a:pPr lvl="1"/>
            <a:r>
              <a:rPr lang="en-GB" sz="2000" b="1" dirty="0"/>
              <a:t>Hint</a:t>
            </a:r>
            <a:r>
              <a:rPr lang="en-GB" sz="2000" dirty="0"/>
              <a:t>: Use a while True: loop and break when the user enters 0.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BC02B-768C-5C86-67A1-828317A2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9452B-6AA0-B82F-552E-132630422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9C59E-B22A-E203-BAFC-6CC2A3FD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22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99D5-F49D-BBF2-5286-D98126305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 Statement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38107-E489-8994-8EF1-998145CDA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continue Statement</a:t>
            </a:r>
            <a:r>
              <a:rPr lang="en-GB" dirty="0"/>
              <a:t>: Skips the rest of the code inside the loop for the current iteration and moves to the next iteration.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B1282-CECE-1C67-090B-BB4F8C0A5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98B80-22F1-3E42-1356-A1113F03C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68C21-7AB2-61AC-907D-47858AAC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D38348-A743-01D2-0EAA-35BFF5D3D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31" y="3314839"/>
            <a:ext cx="7792537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00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BD2B-0767-2FB0-5072-082E082F0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3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11AC0-EA15-DF07-61DE-F0BDD0029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prints all numbers from 1 to 10, except multiples of 3.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Hint</a:t>
            </a:r>
            <a:r>
              <a:rPr lang="en-GB" dirty="0"/>
              <a:t>: Use continue to skip numbers divisible by 3.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80AF1-5534-8CDD-A7C1-2569B85B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D5C04-4901-5C69-DD36-765D39D5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FCBCD-9D95-D3C3-7523-6072EBDF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07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7FDB5-7B10-28E8-72A6-218B4CF65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Flags in While Loops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D1825-AF34-FF13-E5DE-9A5E5DC1F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What is a Flag?</a:t>
            </a:r>
          </a:p>
          <a:p>
            <a:pPr lvl="1"/>
            <a:r>
              <a:rPr lang="en-GB" dirty="0"/>
              <a:t>A variable used to control whether the loop should continue or stop.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b="1" dirty="0"/>
              <a:t>Explanation</a:t>
            </a:r>
            <a:r>
              <a:rPr lang="en-GB" dirty="0"/>
              <a:t>: The loop continues until the user types "no", at which point the flag is set to False and the loop exits.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79B4E-2BE7-9664-8055-D13D2F007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76B90-6EC5-1B7D-83C5-DFB5D6CD5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959AC-E4A6-F4E0-BE57-F1351B658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97F4DB-CD51-5C13-6364-949BA51BF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87" y="3172825"/>
            <a:ext cx="10212225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97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D4E00-65BF-E614-284C-9BB02946E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Group Activity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D278F-1378-D27F-D463-16B5A14B0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Scenario: Create a basic ATM system using while loops.</a:t>
            </a:r>
          </a:p>
          <a:p>
            <a:pPr lvl="1"/>
            <a:r>
              <a:rPr lang="en-GB" sz="2400" dirty="0"/>
              <a:t>The system should:</a:t>
            </a:r>
          </a:p>
          <a:p>
            <a:pPr lvl="2"/>
            <a:r>
              <a:rPr lang="en-GB" sz="2000" dirty="0"/>
              <a:t>Ask the user to input their balance.</a:t>
            </a:r>
          </a:p>
          <a:p>
            <a:pPr lvl="2"/>
            <a:r>
              <a:rPr lang="en-GB" sz="2000" dirty="0"/>
              <a:t>Display options to withdraw, deposit, or check balance.</a:t>
            </a:r>
          </a:p>
          <a:p>
            <a:pPr lvl="2"/>
            <a:r>
              <a:rPr lang="en-GB" sz="2000" dirty="0"/>
              <a:t>Use a flag to continue until the user chooses to exit.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D5DA8-F6A5-A656-C25A-A7ADC545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595F4-4C60-3810-6410-B8043D402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05B31-AA1E-422E-A104-D3627B18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84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56971-E901-E7D1-C78A-179AE5C6E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Nested 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499B6-71FE-22B7-9B7D-0358B3DC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9657" y="1970523"/>
            <a:ext cx="7893025" cy="6148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/>
              <a:t>Explanation</a:t>
            </a:r>
            <a:r>
              <a:rPr lang="en-US"/>
              <a:t>: A while loop can be placed inside another while loop.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C36C1D-DE13-1521-C3FD-205ACE7DB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453" y="2884564"/>
            <a:ext cx="6438830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BFB56-70D2-54A9-90CF-0B7A52CB27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0844D-31EB-4BBD-D665-7372D24CE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Peoples Information Technology Program (PITP)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2DD3A-8B25-CE35-C49B-E737D3C7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97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C721-2BD8-0A45-1774-358644B9E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Pitfalls with While Loops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53A77-4822-3583-9B08-88636A3A0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Infinite Loops</a:t>
            </a:r>
            <a:r>
              <a:rPr lang="en-GB" dirty="0"/>
              <a:t>: Forgetting to update the loop condition can cause the loop to run indefinitely.</a:t>
            </a:r>
          </a:p>
          <a:p>
            <a:endParaRPr lang="en-GB" dirty="0"/>
          </a:p>
          <a:p>
            <a:r>
              <a:rPr lang="en-GB" b="1" dirty="0"/>
              <a:t>Missing Condition Updates</a:t>
            </a:r>
            <a:r>
              <a:rPr lang="en-GB" dirty="0"/>
              <a:t>: Ensure counters or flags are updated within the loop.</a:t>
            </a:r>
          </a:p>
          <a:p>
            <a:endParaRPr lang="en-GB" dirty="0"/>
          </a:p>
          <a:p>
            <a:r>
              <a:rPr lang="en-GB" b="1" dirty="0"/>
              <a:t>Off-By-One Errors</a:t>
            </a:r>
            <a:r>
              <a:rPr lang="en-GB" dirty="0"/>
              <a:t>: Make sure loop conditions are set correctly to avoid unexpected results (e.g., stopping one iteration too early or late).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38EC9-CC12-5CC3-8A69-315A9451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37A74-6CBF-140E-BA82-673447BF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CB0B3-A962-727D-72BF-3BE38F05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56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14A8-E0FF-D5ED-17C1-5F8C1DAAE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Group Exercise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73FD1-68C8-C306-9B87-492E5A4A3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Scenario</a:t>
            </a:r>
            <a:r>
              <a:rPr lang="en-GB" dirty="0"/>
              <a:t>: Build a program that simulates a countdown timer starting from a user-specified number.</a:t>
            </a:r>
          </a:p>
          <a:p>
            <a:pPr lvl="1"/>
            <a:r>
              <a:rPr lang="en-GB" dirty="0"/>
              <a:t>The timer should count down to 0 and print "Liftoff!" at the end.</a:t>
            </a:r>
          </a:p>
          <a:p>
            <a:pPr lvl="1"/>
            <a:r>
              <a:rPr lang="en-GB" b="1" dirty="0"/>
              <a:t>Bonus</a:t>
            </a:r>
            <a:r>
              <a:rPr lang="en-GB" dirty="0"/>
              <a:t>: Add an option for the user to interrupt the countdown early by entering a specific command (use break).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2B075-5183-F498-2B4E-B06313CE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B4A57-0295-8D5D-C389-B09068FCB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2ED18-F5EF-9A5F-A801-47C6F11A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06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4915-0AC8-10B9-BD77-CDBBE8D8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Combining While Loops with If Statements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A7A8F71-8D22-6C5F-E03D-F0BBE9AC29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8631" y="2240875"/>
            <a:ext cx="5557634" cy="263454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B9318-8066-7928-6CA1-BF4F59F3B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BB7E-52AA-DD68-258C-A4E125EA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C1DAB-F71F-5861-1572-0A76A0970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74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27816-EB85-B411-9017-55AA8049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4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0331E-B93B-D753-22F4-3FC5D406F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asks the user to guess a secret number between 1 and 10. The program should keep asking until the user guesses correctly.</a:t>
            </a:r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Hint</a:t>
            </a:r>
            <a:r>
              <a:rPr lang="en-GB" dirty="0"/>
              <a:t>: Use a while loop and check the condition for whether the guessed number is correct.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354BE-6994-4E6D-E3E5-A4E4B3574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3E9B3-ECC1-CA42-E2E2-73186F48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0DAEF-031B-DE4F-419B-5BF22D4A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6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D5CF-6431-1729-0490-B93329B8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and Key Takeaways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8355D-786E-EEC8-831E-1652936C6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Recap:</a:t>
            </a:r>
          </a:p>
          <a:p>
            <a:pPr lvl="1"/>
            <a:r>
              <a:rPr lang="en-GB" dirty="0"/>
              <a:t>Loops allow repetition of code blocks.</a:t>
            </a:r>
          </a:p>
          <a:p>
            <a:pPr lvl="1"/>
            <a:r>
              <a:rPr lang="en-GB" dirty="0"/>
              <a:t>The while loop continues as long as a condition is True.</a:t>
            </a:r>
          </a:p>
          <a:p>
            <a:pPr lvl="1"/>
            <a:r>
              <a:rPr lang="en-GB" dirty="0"/>
              <a:t>Use break to exit the loop and continue to skip the current iteration.</a:t>
            </a:r>
          </a:p>
          <a:p>
            <a:pPr lvl="1"/>
            <a:r>
              <a:rPr lang="en-GB" dirty="0"/>
              <a:t>Key Takeaways: Always ensure loop conditions change to avoid infinite loops.</a:t>
            </a:r>
          </a:p>
          <a:p>
            <a:pPr lvl="1"/>
            <a:r>
              <a:rPr lang="en-GB" dirty="0"/>
              <a:t>Loops and conditionals can be combined to solve complex problems.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1E769-4115-AFBF-5AF1-4F49DE99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D90EA-374E-0A24-0DC4-60CE0B63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FD453-B888-180A-91AD-B5B15102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11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DCFB-7CEC-E8F8-45B9-85F492C7A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Q&amp;A and Wrap-Up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42C79-6B45-BB35-5024-01C9033E7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Open the floor for any questions or clarifications.</a:t>
            </a:r>
          </a:p>
          <a:p>
            <a:endParaRPr lang="en-GB" dirty="0"/>
          </a:p>
          <a:p>
            <a:r>
              <a:rPr lang="en-GB" dirty="0"/>
              <a:t>Recap the main points of the session.</a:t>
            </a:r>
          </a:p>
          <a:p>
            <a:endParaRPr lang="en-GB" dirty="0"/>
          </a:p>
          <a:p>
            <a:r>
              <a:rPr lang="en-GB" dirty="0"/>
              <a:t>Briefly mention that Day 2 will cover for loops and how they differ from while loops.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DE78-51AF-884A-B273-DC9035E2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07DD6-CDEC-A073-1FFA-F31CF4274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7C379-BAEA-409E-6A6D-AE28A207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07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4ADCEA6-5711-A829-160F-6FF828BF6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2461762"/>
            <a:ext cx="10501177" cy="140123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Match the solution </a:t>
            </a:r>
            <a:r>
              <a:rPr lang="en-US" sz="8800" dirty="0"/>
              <a:t>😒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93E54-5047-E1BF-F8A5-F8A9F8FCC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C46BB-E502-E120-17B1-ED81DD9E3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EA57D-1A60-4FD6-72D6-CD7D6653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12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2B552-E9F6-7510-0D62-7AE6197C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F999-4518-DEF6-246E-E61D53E64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85C4F-8626-C499-7582-E03344BB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6905B2-6DCF-E891-A69F-54FA9620D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87" y="1257839"/>
            <a:ext cx="7763958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241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91ED5-4496-4600-D8D0-4E88BE03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25328-3F08-CD94-17AE-18E057007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2651A-BC94-2869-E684-4CF607FF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CDD127-0E2E-9287-5FFE-2A11ABC7E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52" y="747757"/>
            <a:ext cx="10021699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39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7EE5F-7193-DA56-71A7-E44497CB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0C628-160A-A676-2AD8-E6DC1FE1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55467-4584-DE50-6D60-09A2BD63A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F9DE5A-6B40-0086-F4CB-78647EEAA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82" y="694713"/>
            <a:ext cx="9974067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49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DA9D99-A020-3877-8183-A622B1D3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BD1F7-5975-DDFE-F30B-47EA82B0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D8327-6B9A-2F58-5253-E3D7E1B4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3F30A-2B86-4ED6-AFD7-4ED418C31B34}"/>
              </a:ext>
            </a:extLst>
          </p:cNvPr>
          <p:cNvSpPr txBox="1"/>
          <p:nvPr/>
        </p:nvSpPr>
        <p:spPr>
          <a:xfrm>
            <a:off x="1738859" y="2926848"/>
            <a:ext cx="73451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dirty="0">
                <a:latin typeface="Avenir Next LT Pro Light" panose="020B0304020202020204" pitchFamily="34" charset="0"/>
              </a:rPr>
              <a:t>The End</a:t>
            </a:r>
            <a:endParaRPr lang="en-PK" sz="6000" dirty="0">
              <a:latin typeface="Avenir Next LT Pro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11703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028091-2C71-4358-873E-63FAA6926BD7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5e1f2001-7a2a-475f-99ed-f287c302d85e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1605</TotalTime>
  <Words>1012</Words>
  <Application>Microsoft Office PowerPoint</Application>
  <PresentationFormat>Widescreen</PresentationFormat>
  <Paragraphs>176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Avenir Next LT Pro Light</vt:lpstr>
      <vt:lpstr>Grandview</vt:lpstr>
      <vt:lpstr>Wingdings</vt:lpstr>
      <vt:lpstr>CosineVTI</vt:lpstr>
      <vt:lpstr>Python Programming Bootcamp - Day 1 (Week 2)</vt:lpstr>
      <vt:lpstr>Learning Objectives</vt:lpstr>
      <vt:lpstr>What is a Loop?</vt:lpstr>
      <vt:lpstr>Introduction to While Loop</vt:lpstr>
      <vt:lpstr>Flowchart of a While Loop</vt:lpstr>
      <vt:lpstr>Infinite Loops</vt:lpstr>
      <vt:lpstr>Controlling While Loops with a Counter</vt:lpstr>
      <vt:lpstr>Hands-On Exercise 1</vt:lpstr>
      <vt:lpstr>Breaking Out of a Loop</vt:lpstr>
      <vt:lpstr>Hands-On Exercise 2</vt:lpstr>
      <vt:lpstr>Continue Statement</vt:lpstr>
      <vt:lpstr>Hands-On Exercise 3</vt:lpstr>
      <vt:lpstr>Flags in While Loops</vt:lpstr>
      <vt:lpstr>Hands-On Group Activity</vt:lpstr>
      <vt:lpstr>Nested While Loops</vt:lpstr>
      <vt:lpstr>Common Pitfalls with While Loops</vt:lpstr>
      <vt:lpstr>Hands-On Group Exercise</vt:lpstr>
      <vt:lpstr>Combining While Loops with If Statements</vt:lpstr>
      <vt:lpstr>Hands-On Exercise 4</vt:lpstr>
      <vt:lpstr>Recap and Key Takeaways</vt:lpstr>
      <vt:lpstr>Q&amp;A and Wrap-Up</vt:lpstr>
      <vt:lpstr>Match the solution 😒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191</cp:revision>
  <dcterms:created xsi:type="dcterms:W3CDTF">2024-09-22T16:39:41Z</dcterms:created>
  <dcterms:modified xsi:type="dcterms:W3CDTF">2024-09-30T05:57:45Z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