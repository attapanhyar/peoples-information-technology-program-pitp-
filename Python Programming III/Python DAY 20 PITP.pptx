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32"/>
  </p:notesMasterIdLst>
  <p:sldIdLst>
    <p:sldId id="276" r:id="rId5"/>
    <p:sldId id="256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29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30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07/11/2024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11/7/2024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11/7/2024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11/7/2024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11/7/2024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11/7/2024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C102AE-2C87-45D1-8671-2DB35F5D4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4F2B13-634E-4981-8787-53C36848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A2770F-EC37-4C6D-AF2E-4C627D59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F23D8E-4428-4843-9AED-EB6F2118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EF4188-48A8-4B39-ABE7-0BB04E010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A877F-1F7D-4FF1-A9FC-E241322BD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098F9C-4191-478C-BA3F-F91330FA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B8C79F-AE9B-4C98-80BA-22D6CB799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BB4B37A-4DA6-4751-8A4F-BDD49DE82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DE79CE-1525-4410-9E5E-943FFF3FB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6FA12-7AC6-45DB-851F-C05B980B4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F6784E-F83E-4CE8-A535-394503AB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6C37B5-5333-46F6-A306-A5DA69EA4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D81EBC-F02B-4676-BD19-32CE3449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D4645-1213-45DD-9C45-EF3DB6320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BE23053-C167-49AA-8930-08DD2C0BA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A32F82-F4F6-4868-9657-99747918F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ED0F55-FDB0-4995-8333-D9231BDC7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BEC92D-46AB-4AA4-A94B-88496BE48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2E4197-8221-4F7C-92CE-CD83D0A9D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DB4C14-DE46-4F94-B655-80B6ACCF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15E4D-1037-431C-BCD9-3E724CBF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BF35AE-07C8-48AF-9CD0-62C0F8908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B698526-9971-4674-81FD-285F4E558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00789B-A8DE-41E5-B0F0-8FE0EE357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3EDEFF-CCCD-45BA-AC62-3D5E6720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B8D6D-E48B-49A5-A953-D4E530AB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FFBE7D-6816-492B-A638-798A78CDD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5F3BEE-01E6-4031-A09D-B2408B62B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76FC9D-3995-440A-9BAA-4EBA06719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593D24-05C3-486E-B1EE-7E8DE3A7E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41A72-3242-4354-B1FF-3FB97487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1552"/>
            <a:ext cx="11973596" cy="6856448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8" y="6215870"/>
            <a:ext cx="3503528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11/7/2024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8024" y="6215870"/>
            <a:ext cx="4114800" cy="41712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000" dirty="0"/>
              <a:t>Database Connectivity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97773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Week 07 - </a:t>
            </a:r>
            <a:r>
              <a:rPr lang="en-GB" b="1"/>
              <a:t>Day 04</a:t>
            </a:r>
            <a:endParaRPr lang="en-GB" b="1" dirty="0"/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473FF-3C34-414B-7B97-E2C8157E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3FCF-88B5-FCD9-35D5-11DA9FA4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</a:t>
            </a:r>
            <a:r>
              <a:rPr lang="en-GB" b="1" dirty="0"/>
              <a:t>data visualization </a:t>
            </a:r>
            <a:r>
              <a:rPr lang="en-GB" dirty="0"/>
              <a:t>basics.</a:t>
            </a:r>
          </a:p>
          <a:p>
            <a:endParaRPr lang="en-GB" dirty="0"/>
          </a:p>
          <a:p>
            <a:r>
              <a:rPr lang="en-GB" dirty="0"/>
              <a:t>Explore Python </a:t>
            </a:r>
            <a:r>
              <a:rPr lang="en-GB" b="1" dirty="0"/>
              <a:t>libraries</a:t>
            </a:r>
            <a:r>
              <a:rPr lang="en-GB" dirty="0"/>
              <a:t> for visualization.</a:t>
            </a:r>
          </a:p>
          <a:p>
            <a:endParaRPr lang="en-GB" dirty="0"/>
          </a:p>
          <a:p>
            <a:r>
              <a:rPr lang="en-GB" dirty="0"/>
              <a:t>Practice with </a:t>
            </a:r>
            <a:r>
              <a:rPr lang="en-GB" b="1" dirty="0"/>
              <a:t>Matplotlib</a:t>
            </a:r>
            <a:r>
              <a:rPr lang="en-GB" dirty="0"/>
              <a:t> and </a:t>
            </a:r>
            <a:r>
              <a:rPr lang="en-GB" b="1" dirty="0"/>
              <a:t>Seaborn</a:t>
            </a:r>
            <a:r>
              <a:rPr lang="en-GB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C18FE-EBCE-F99B-2A86-CC42E455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FB154-7217-5DE6-2F3C-BBC029768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20E0E-51A6-1139-2779-90841DF1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55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1C75-F7F7-AC3E-BEEB-0E60D790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Data Visualization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09BD2-4E9C-06F9-34CF-FECA1386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Definition and importance of data visualization in Python.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Key libraries</a:t>
            </a:r>
            <a:r>
              <a:rPr lang="en-GB" dirty="0"/>
              <a:t>: Matplotlib, Seaborn, and </a:t>
            </a:r>
            <a:r>
              <a:rPr lang="en-GB" dirty="0" err="1"/>
              <a:t>Plotly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F42CC-876E-1DF6-C7DA-8E922B815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F24FD-682E-DD1A-C3E8-B1E1FA611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617B4-858E-9272-EE39-4DC0EDC7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3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8BAD-C39F-0217-DCAF-3CF275C5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Installing Required Libraries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8265F-5C22-56D2-77CB-1190187F3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Code: </a:t>
            </a:r>
            <a:r>
              <a:rPr lang="en-GB" dirty="0">
                <a:solidFill>
                  <a:srgbClr val="00B0F0"/>
                </a:solidFill>
              </a:rPr>
              <a:t>pip install matplotlib seaborn </a:t>
            </a:r>
            <a:r>
              <a:rPr lang="en-GB" dirty="0" err="1">
                <a:solidFill>
                  <a:srgbClr val="00B0F0"/>
                </a:solidFill>
              </a:rPr>
              <a:t>plotly</a:t>
            </a:r>
            <a:endParaRPr lang="en-GB" dirty="0">
              <a:solidFill>
                <a:srgbClr val="00B0F0"/>
              </a:solidFill>
            </a:endParaRP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Explanation of each library’s primary use.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BA6E8-F2D2-9739-9F03-E6E1CFFD2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87501-CC81-14D0-ECAC-C6D9AD39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97D1-C6C3-7B86-7EFE-9903C820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35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660B-918B-3284-D6D2-0E43393CE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Getting Started with Matplotlib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CD33B-C793-B4B2-6A77-B2CBB5230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of Matplotlib’s capabilities.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Code: Basic import </a:t>
            </a:r>
          </a:p>
          <a:p>
            <a:pPr lvl="1"/>
            <a:r>
              <a:rPr lang="en-GB" dirty="0"/>
              <a:t> </a:t>
            </a:r>
            <a:r>
              <a:rPr lang="en-GB" dirty="0">
                <a:solidFill>
                  <a:srgbClr val="00B0F0"/>
                </a:solidFill>
              </a:rPr>
              <a:t>import </a:t>
            </a:r>
            <a:r>
              <a:rPr lang="en-GB" dirty="0" err="1">
                <a:solidFill>
                  <a:srgbClr val="00B0F0"/>
                </a:solidFill>
              </a:rPr>
              <a:t>matplotlib.pyplot</a:t>
            </a:r>
            <a:r>
              <a:rPr lang="en-GB" dirty="0">
                <a:solidFill>
                  <a:srgbClr val="00B0F0"/>
                </a:solidFill>
              </a:rPr>
              <a:t> as </a:t>
            </a:r>
            <a:r>
              <a:rPr lang="en-GB" dirty="0" err="1">
                <a:solidFill>
                  <a:srgbClr val="00B0F0"/>
                </a:solidFill>
              </a:rPr>
              <a:t>plt</a:t>
            </a:r>
            <a:endParaRPr lang="en-PK" dirty="0">
              <a:solidFill>
                <a:srgbClr val="00B0F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0E731-2234-A6C3-DAED-A7441EDE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A059-34E2-9D8C-5159-D882F4862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3776B-C153-3D01-3778-C28BE853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4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70E5-CDE1-BFF6-EAB4-3B0FFA627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Basic Plotting with Matplotlib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B1636-33A9-7932-DFF1-866921234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Code example for a line plot: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177C9-12F8-9D14-6F48-2E1E9B80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944E-AA80-F399-D6F9-1AD13529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3B0FE-2A62-65BD-D233-F43A7949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10D559-EBDF-D7C1-EA8E-D775E6C00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443" y="2909815"/>
            <a:ext cx="5287113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60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A5754-7D56-3E58-4ECE-2163B5A9F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200"/>
              <a:t>Customizing Plots - Titles and Labels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754A03-A663-609B-9B52-E93F3CFE27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7250" y="2884564"/>
            <a:ext cx="9651236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6D72E-30F0-D05C-0639-7648844D1F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D3B47-20A9-8FBE-8119-B573A7EE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02C98-4641-EB27-F929-8DD581642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99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D3334-B343-B46C-5B7E-C449FC4E6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Adding Legends and Grid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E04D76D-694F-8B74-EB05-6322F9252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580292"/>
            <a:ext cx="9820189" cy="18658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7D0CD-AF4E-2020-C501-342A6F36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499D-4603-1767-3269-58E382D1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E0502-9F8E-4AE0-9A8F-00DFC3DA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B1A0F-451B-C3EF-458E-C14C7F74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 Types - Scatter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C7FB00-8C0F-CCEB-E520-6C7782069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445264"/>
            <a:ext cx="9820189" cy="21358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A669C-943C-3777-CA4A-3ACFFF5E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90C4B-9997-43D7-DCE7-63BC6BE7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C3004-66C0-360D-BD1C-AFFFB437C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38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F9989-9640-ED78-D65D-A569FBB6F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 Types - Bar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A62973-63C4-4FA5-C632-11E97A1D7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224676"/>
            <a:ext cx="9820189" cy="257706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64600-869E-C006-1538-312946A4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114A-A969-3F5D-04E0-1FB1523E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067D6-088B-1815-BAD3-A3D04C32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3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D8AA1-876E-0DFE-3370-52D8428F1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Working with Histograms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747483-89E0-60B2-5D75-16C125C9D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946" y="2884564"/>
            <a:ext cx="9201845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CE583-A754-058D-8CF2-68B9C28D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13305-3062-E69B-872A-FCE72CB6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E3A18-6FD4-6C84-792C-25F2C3D54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45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670C4-6277-8CD9-E31D-F333F4C46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Pie Charts for Categorical Data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F4D3B7-CECD-8AC2-7DE7-DC3B6B48E5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649" y="2884564"/>
            <a:ext cx="8598439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B05CC-4319-227C-CAB6-D9B07FAE05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9BE42-5094-9DA5-8197-7C9F0C42B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06070-C3DC-9DF1-D161-933B832C8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50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3E783-AFF3-A87B-0DE7-31D64D69A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Seaborn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2214-22A2-F980-97C7-AAB4CC179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of Seaborn and its connection to Matplotlib.</a:t>
            </a:r>
          </a:p>
          <a:p>
            <a:r>
              <a:rPr lang="en-GB" dirty="0"/>
              <a:t>Benefits for statistical data visualization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79DB3-65B9-4E94-590C-1574CF16D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A671-D0D2-90C9-0DC1-222C99D66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38B61-C738-D0E4-B834-8FB969254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95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C3CBD-6F0F-B11A-3716-D93B9A0D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000"/>
              <a:t>Seaborn - Loading Sample Data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12D3-3452-4C71-B316-928231C9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9D4CD-B9CD-2786-61DF-1661ABBC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83C01-997D-0848-616F-E5BC0547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BBD8C0-9409-28E5-598D-54796F754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D59A54-BD0B-BB7D-2F13-D827DA096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279" y="2983423"/>
            <a:ext cx="8312925" cy="203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62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BF1D3-3B97-7992-4647-E9EB468E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400"/>
              <a:t>Seaborn - Scatter Plots with Regression Line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04A820-6C01-732D-7D38-ED0C0A115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187484"/>
            <a:ext cx="9820189" cy="265145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111AC-4C54-1BFC-2A24-547151A85A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A7598-3D67-6AA9-CD3D-6E8E4447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68EE7-8863-0E63-EC02-4E29F456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2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92A14-ABE1-5DA3-744F-52AF234EC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Seaborn - Histogram and KDE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1F612E-9138-E57B-2AD9-2820BC837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101557"/>
            <a:ext cx="9820189" cy="282330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00415-90D8-9D9A-105F-7251CF617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80B6F-05AC-6CB3-DD1D-22FF3E147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31C0E-CB7F-FC94-5297-48093A06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61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23605E-D605-F417-59FC-C12488A1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Seaborn - Pair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974760-A955-2674-B617-7732A9759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958" y="2884564"/>
            <a:ext cx="8631820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DAE01-2EC2-42DA-F098-50093999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BB814-EA23-ACCE-DE0F-B92FE2D1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13AEA-A1CE-F0F4-4CF4-CAEF8C7C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27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5CB406-537C-4FCF-83E6-98B11984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Seaborn - Box Plot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2E0ED0-BEA8-91AC-46AE-52DBAB37D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212034"/>
            <a:ext cx="9820189" cy="26023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2155-05CD-FAC0-ACBF-BEFDA05EE0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C2EEA-9333-7673-4634-EA89B132E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6C81F-DEF7-33B9-7E21-33C254B9A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35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ECE42-AB01-8E61-B139-3EDF1F160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Plotly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7F456-C438-F565-C241-9A8E08C79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Overview and benefits of interactive visualizations in </a:t>
            </a:r>
            <a:r>
              <a:rPr lang="en-GB" dirty="0" err="1"/>
              <a:t>Plotly</a:t>
            </a:r>
            <a:r>
              <a:rPr lang="en-GB" dirty="0"/>
              <a:t>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A3DF0-8013-17CF-6FA9-0894C2B9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B072E-409B-01CC-FAE2-C9E0B4FE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A477-11D8-4A01-D4D8-02A7C23F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59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5900-5E2B-996C-2E76-92D2B3A3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Plotly - Simple Line Plot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EBBBA-0B99-D620-1A4E-24B661531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6FD9E8-7298-F60F-934B-CDEC2C48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938C-4068-31F4-DFA7-A4A7CF8BF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A7146-9245-E88D-94C0-8565B2CE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129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2B915F-854C-F72D-5412-07E9F6FD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Plotly - Interactive Bar Chart</a:t>
            </a:r>
            <a:endParaRPr lang="en-US" sz="5400" b="1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4180F1-E479-F9D5-3C84-000E60112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801246"/>
            <a:ext cx="9820189" cy="14239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2860F-7944-0F94-ADD5-E033E7FD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65758-F62A-9D20-45DE-6FDBBF50F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0F2E-674F-74B3-CAEF-5DA40B6E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60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517C9-F8C7-44C7-4292-F37BA9DD6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Plotly - Interactive Bar Chart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D3F64D-5EEB-9E38-5B3D-94012ECEF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850347"/>
            <a:ext cx="9820189" cy="132572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8994-E9D7-BF98-766F-D98F6AE13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0BC66-FFE6-B4BF-22D5-94F9EB2B4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F1B01-9FF9-0C6B-09D2-B1A06C9A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531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C7911B-57FA-6627-61E4-B4231DD2C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Creating Subplots in Matplotlib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C0253C-2924-09EF-C187-A62292E836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4465" y="2884564"/>
            <a:ext cx="9136806" cy="32572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AC9C3-7012-7DCE-3C99-5721F21FB1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E62C-5DD6-BDD5-6796-07BEA636E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8A2E4-3B1C-8151-514F-790290CC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9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7594B-C320-2805-60E7-0BA894A3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Annotations in Matplotlib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2649516-66DF-9363-AF22-4C96990CA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285686"/>
            <a:ext cx="9820189" cy="24550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488-21E2-C686-82B1-619AEC0C86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0EC1E-2291-0FFD-1B8D-69CB90B4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129A6-1FB4-430E-A095-E18F6E5CC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809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BE444-DC3E-6F49-0EA9-8BC83BB3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800" b="0">
                <a:effectLst/>
              </a:rPr>
              <a:t>Advanced Plotting in Seaborn - Heatmap</a:t>
            </a:r>
            <a:endParaRPr lang="en-US" sz="38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FD961DC-01DF-97D6-2BB2-125AC5F78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089282"/>
            <a:ext cx="9820189" cy="28478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C6E1-D293-0DEA-6A67-FF0B3E5737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11/7/2024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A904C-15BC-AE3D-B078-DED93044F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7237-561F-0618-3D2F-A94B9D30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37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65794D4-DDCF-469D-A6C7-0AE18F6BB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 descr="3D black question marks with one yellow question mark">
            <a:extLst>
              <a:ext uri="{FF2B5EF4-FFF2-40B4-BE49-F238E27FC236}">
                <a16:creationId xmlns:a16="http://schemas.microsoft.com/office/drawing/2014/main" id="{94EB7ADB-230B-9184-4638-36F34093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90" r="6122" b="1"/>
          <a:stretch/>
        </p:blipFill>
        <p:spPr>
          <a:xfrm>
            <a:off x="-22827" y="-669251"/>
            <a:ext cx="12192000" cy="6857999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88D25AED-03FE-496D-84B1-6BD007300A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36474AD-D65C-406B-83FB-C99C06007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99322EB-87AA-45C9-A03C-52A874D8C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0BCB4F5-395E-4192-9EBB-E9F0255AE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B1466F-6782-407B-9C00-8DF501BC0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28CCAE2-B347-4439-A6F8-1F1C3548FA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FDDE5DC-1CFD-4141-BB8A-4E88DC95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28B0EB6-7696-43A6-802C-7F71D1BA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4C27EFB-1419-4DCF-B0FB-19DFF5558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469F2C-8E3D-4F5A-B109-74EB0C1C6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AF21893-899E-456E-B2C0-18C3B8661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249F69B-8991-410D-B2BE-29792DFF0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A3B3B6AE-A176-4E37-9DC3-693D4D4A1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8251166D-5D02-4F59-9CDD-176C32DCBA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19ECF99-A74F-4670-B781-193D17D55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78FECED-862A-4A60-A948-0B3FC1F6A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6596925-5663-4DBB-BA20-5D8E5168A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8D04049C-063B-4F59-801F-1DE9B4220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5DFD5EC-AD64-4EA0-99D4-659BE87BF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9EDC0CD-7E2B-45B9-BEDA-07058067A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2973EC6-F21A-40EB-9773-F830E2053F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0727704-3B6D-4FBC-80D0-3452A7883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06C285D-96FA-4E4C-99DD-A4537CC8BA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1A87ECD-5CEA-4CF1-B4D6-231036363D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D3432C-F58F-418C-B2A2-B675E0149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7AA6FC6-50E8-4802-946A-A1408D034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7879239-2C29-4598-89C4-DA6DE6099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B5387EF3-939F-4251-95A2-B1FD10DB7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D540311-BAC8-433E-9146-1804B5FD8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33AD0E-0DD9-49E5-B606-1269FBFEE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CD0FDA4-88B0-47B3-AD08-B58785CF0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87273F8E-C71F-44CE-9C4C-4D0231215D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406D8C29-9DDA-48D0-AF70-905FDB2C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1775"/>
            <a:ext cx="12191999" cy="5479852"/>
          </a:xfrm>
          <a:prstGeom prst="rect">
            <a:avLst/>
          </a:prstGeom>
          <a:gradFill flip="none" rotWithShape="1">
            <a:gsLst>
              <a:gs pos="50000">
                <a:srgbClr val="000000">
                  <a:alpha val="30000"/>
                </a:srgbClr>
              </a:gs>
              <a:gs pos="80000">
                <a:srgbClr val="000000">
                  <a:alpha val="15000"/>
                </a:srgbClr>
              </a:gs>
              <a:gs pos="0">
                <a:srgbClr val="000000">
                  <a:alpha val="0"/>
                </a:srgbClr>
              </a:gs>
              <a:gs pos="20000">
                <a:srgbClr val="00000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5691F3-F85D-1451-6461-8F80560D1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25" y="1800353"/>
            <a:ext cx="10325636" cy="1628647"/>
          </a:xfrm>
        </p:spPr>
        <p:txBody>
          <a:bodyPr vert="horz" lIns="91440" tIns="45720" rIns="91440" bIns="45720" rtlCol="0" anchor="b">
            <a:normAutofit/>
          </a:bodyPr>
          <a:lstStyle/>
          <a:p>
            <a:endParaRPr lang="en-US" sz="5400" dirty="0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2EE69-22C4-8BEC-500B-C1D360BB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6058-9D0A-97E5-673A-716DF7C2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11/7/2024</a:t>
            </a:fld>
            <a:endParaRPr lang="en-US">
              <a:solidFill>
                <a:srgbClr val="898989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1DE9-479D-FEEE-9C5E-0A7A3453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898989"/>
                </a:solidFill>
              </a:rPr>
              <a:pPr defTabSz="914400">
                <a:spcAft>
                  <a:spcPts val="600"/>
                </a:spcAft>
              </a:pPr>
              <a:t>27</a:t>
            </a:fld>
            <a:endParaRPr 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3848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5e1f2001-7a2a-475f-99ed-f287c302d85e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3333</TotalTime>
  <Words>354</Words>
  <Application>Microsoft Office PowerPoint</Application>
  <PresentationFormat>Widescreen</PresentationFormat>
  <Paragraphs>131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Grandview</vt:lpstr>
      <vt:lpstr>Wingdings</vt:lpstr>
      <vt:lpstr>CosineVTI</vt:lpstr>
      <vt:lpstr>PowerPoint Presentation</vt:lpstr>
      <vt:lpstr>Database Connectivity</vt:lpstr>
      <vt:lpstr>Objectives</vt:lpstr>
      <vt:lpstr>Introduction to Data Visualization</vt:lpstr>
      <vt:lpstr>Installing Required Libraries</vt:lpstr>
      <vt:lpstr>Getting Started with Matplotlib</vt:lpstr>
      <vt:lpstr>Basic Plotting with Matplotlib</vt:lpstr>
      <vt:lpstr>Customizing Plots - Titles and Labels</vt:lpstr>
      <vt:lpstr>Adding Legends and Grid</vt:lpstr>
      <vt:lpstr>Plot Types - Scatter Plot</vt:lpstr>
      <vt:lpstr>Plot Types - Bar Plot</vt:lpstr>
      <vt:lpstr>Working with Histograms</vt:lpstr>
      <vt:lpstr>Pie Charts for Categorical Data</vt:lpstr>
      <vt:lpstr>Introduction to Seaborn</vt:lpstr>
      <vt:lpstr>Seaborn - Loading Sample Data</vt:lpstr>
      <vt:lpstr>Seaborn - Scatter Plots with Regression Line</vt:lpstr>
      <vt:lpstr>Seaborn - Histogram and KDE</vt:lpstr>
      <vt:lpstr>Seaborn - Pair Plot</vt:lpstr>
      <vt:lpstr>Seaborn - Box Plot</vt:lpstr>
      <vt:lpstr>Introduction to Plotly</vt:lpstr>
      <vt:lpstr>Plotly - Simple Line Plot</vt:lpstr>
      <vt:lpstr>Plotly - Interactive Bar Chart</vt:lpstr>
      <vt:lpstr>Plotly - Interactive Bar Chart</vt:lpstr>
      <vt:lpstr>Creating Subplots in Matplotlib</vt:lpstr>
      <vt:lpstr>Annotations in Matplotlib</vt:lpstr>
      <vt:lpstr>Advanced Plotting in Seaborn - Heatmap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697</cp:revision>
  <dcterms:created xsi:type="dcterms:W3CDTF">2024-09-22T16:39:41Z</dcterms:created>
  <dcterms:modified xsi:type="dcterms:W3CDTF">2024-11-07T08:07:23Z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